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84" r:id="rId5"/>
    <p:sldId id="285" r:id="rId6"/>
    <p:sldId id="286" r:id="rId7"/>
    <p:sldId id="287" r:id="rId8"/>
    <p:sldId id="288" r:id="rId9"/>
    <p:sldId id="289" r:id="rId10"/>
    <p:sldId id="290" r:id="rId11"/>
    <p:sldId id="291" r:id="rId12"/>
    <p:sldId id="293" r:id="rId13"/>
    <p:sldId id="294" r:id="rId14"/>
    <p:sldId id="296" r:id="rId15"/>
    <p:sldId id="298" r:id="rId16"/>
    <p:sldId id="297" r:id="rId17"/>
    <p:sldId id="299" r:id="rId18"/>
    <p:sldId id="300" r:id="rId1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6577"/>
    <a:srgbClr val="61CBF4"/>
    <a:srgbClr val="E9EEF1"/>
    <a:srgbClr val="254719"/>
    <a:srgbClr val="3B7D23"/>
    <a:srgbClr val="FDFCFD"/>
    <a:srgbClr val="E8E8E8"/>
    <a:srgbClr val="0B76A0"/>
    <a:srgbClr val="156082"/>
    <a:srgbClr val="297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836"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MX"/>
          </a:p>
        </p:txBody>
      </p:sp>
      <p:sp>
        <p:nvSpPr>
          <p:cNvPr id="3" name="Notes Placeholder 2"/>
          <p:cNvSpPr>
            <a:spLocks noGrp="1"/>
          </p:cNvSpPr>
          <p:nvPr>
            <p:ph type="body" idx="1"/>
          </p:nvPr>
        </p:nvSpPr>
        <p:spPr/>
        <p:txBody>
          <a:bodyPr/>
          <a:lstStyle/>
          <a:p>
            <a:r>
              <a:rPr dirty="0"/>
              <a:t>1 </a:t>
            </a:r>
            <a:r>
              <a:rPr dirty="0" err="1"/>
              <a:t>minutos</a:t>
            </a:r>
            <a:r>
              <a:rPr dirty="0"/>
              <a:t>. Minuto 0 a 1</a:t>
            </a:r>
          </a:p>
          <a:p>
            <a:endParaRPr dirty="0"/>
          </a:p>
          <a:p>
            <a:r>
              <a:rPr dirty="0" err="1"/>
              <a:t>Abrir</a:t>
            </a:r>
            <a:r>
              <a:rPr dirty="0"/>
              <a:t> con la </a:t>
            </a:r>
            <a:r>
              <a:rPr dirty="0" err="1"/>
              <a:t>pregunta</a:t>
            </a:r>
            <a:r>
              <a:rPr dirty="0"/>
              <a:t>: ¿</a:t>
            </a:r>
            <a:r>
              <a:rPr dirty="0" err="1"/>
              <a:t>cómo</a:t>
            </a:r>
            <a:r>
              <a:rPr dirty="0"/>
              <a:t> se </a:t>
            </a:r>
            <a:r>
              <a:rPr dirty="0" err="1"/>
              <a:t>traducen</a:t>
            </a:r>
            <a:r>
              <a:rPr dirty="0"/>
              <a:t> </a:t>
            </a:r>
            <a:r>
              <a:rPr dirty="0" err="1"/>
              <a:t>los</a:t>
            </a:r>
            <a:r>
              <a:rPr dirty="0"/>
              <a:t> </a:t>
            </a:r>
            <a:r>
              <a:rPr dirty="0" err="1"/>
              <a:t>cambios</a:t>
            </a:r>
            <a:r>
              <a:rPr dirty="0"/>
              <a:t> </a:t>
            </a:r>
            <a:r>
              <a:rPr dirty="0" err="1"/>
              <a:t>en</a:t>
            </a:r>
            <a:r>
              <a:rPr dirty="0"/>
              <a:t> la </a:t>
            </a:r>
            <a:r>
              <a:rPr dirty="0" err="1"/>
              <a:t>capacidad</a:t>
            </a:r>
            <a:r>
              <a:rPr dirty="0"/>
              <a:t> </a:t>
            </a:r>
            <a:r>
              <a:rPr dirty="0" err="1"/>
              <a:t>hospitalaria</a:t>
            </a:r>
            <a:r>
              <a:rPr dirty="0"/>
              <a:t> y </a:t>
            </a:r>
            <a:r>
              <a:rPr dirty="0" err="1"/>
              <a:t>en</a:t>
            </a:r>
            <a:r>
              <a:rPr dirty="0"/>
              <a:t> la </a:t>
            </a:r>
            <a:r>
              <a:rPr dirty="0" err="1"/>
              <a:t>organización</a:t>
            </a:r>
            <a:r>
              <a:rPr dirty="0"/>
              <a:t> de </a:t>
            </a:r>
            <a:r>
              <a:rPr dirty="0" err="1"/>
              <a:t>los</a:t>
            </a:r>
            <a:r>
              <a:rPr dirty="0"/>
              <a:t> </a:t>
            </a:r>
            <a:r>
              <a:rPr dirty="0" err="1"/>
              <a:t>servicios</a:t>
            </a:r>
            <a:r>
              <a:rPr dirty="0"/>
              <a:t> </a:t>
            </a:r>
            <a:r>
              <a:rPr dirty="0" err="1"/>
              <a:t>en</a:t>
            </a:r>
            <a:r>
              <a:rPr dirty="0"/>
              <a:t> </a:t>
            </a:r>
            <a:r>
              <a:rPr dirty="0" err="1"/>
              <a:t>acceso</a:t>
            </a:r>
            <a:r>
              <a:rPr dirty="0"/>
              <a:t> </a:t>
            </a:r>
            <a:r>
              <a:rPr dirty="0" err="1"/>
              <a:t>efectivo</a:t>
            </a:r>
            <a:r>
              <a:rPr dirty="0"/>
              <a:t> y </a:t>
            </a:r>
            <a:r>
              <a:rPr dirty="0" err="1"/>
              <a:t>salud</a:t>
            </a:r>
            <a:r>
              <a:rPr dirty="0"/>
              <a:t> al </a:t>
            </a:r>
            <a:r>
              <a:rPr dirty="0" err="1"/>
              <a:t>nacer</a:t>
            </a:r>
            <a:r>
              <a:rPr dirty="0"/>
              <a:t>? La </a:t>
            </a:r>
            <a:r>
              <a:rPr dirty="0" err="1"/>
              <a:t>tesis</a:t>
            </a:r>
            <a:r>
              <a:rPr dirty="0"/>
              <a:t> </a:t>
            </a:r>
            <a:r>
              <a:rPr dirty="0" err="1"/>
              <a:t>estudia</a:t>
            </a:r>
            <a:r>
              <a:rPr dirty="0"/>
              <a:t> dos </a:t>
            </a:r>
            <a:r>
              <a:rPr dirty="0" err="1"/>
              <a:t>cambios</a:t>
            </a:r>
            <a:r>
              <a:rPr dirty="0"/>
              <a:t> </a:t>
            </a:r>
            <a:r>
              <a:rPr dirty="0" err="1"/>
              <a:t>institucionales</a:t>
            </a:r>
            <a:r>
              <a:rPr dirty="0"/>
              <a:t> </a:t>
            </a:r>
            <a:r>
              <a:rPr dirty="0" err="1"/>
              <a:t>en</a:t>
            </a:r>
            <a:r>
              <a:rPr dirty="0"/>
              <a:t> México y </a:t>
            </a:r>
            <a:r>
              <a:rPr dirty="0" err="1"/>
              <a:t>tres</a:t>
            </a:r>
            <a:r>
              <a:rPr dirty="0"/>
              <a:t> conjuntos de </a:t>
            </a:r>
            <a:r>
              <a:rPr dirty="0" err="1"/>
              <a:t>resultados</a:t>
            </a:r>
            <a:r>
              <a:rPr dirty="0"/>
              <a:t>. Primero, la </a:t>
            </a:r>
            <a:r>
              <a:rPr dirty="0" err="1"/>
              <a:t>llegada</a:t>
            </a:r>
            <a:r>
              <a:rPr dirty="0"/>
              <a:t> de </a:t>
            </a:r>
            <a:r>
              <a:rPr dirty="0" err="1"/>
              <a:t>hospitales</a:t>
            </a:r>
            <a:r>
              <a:rPr dirty="0"/>
              <a:t> </a:t>
            </a:r>
            <a:r>
              <a:rPr dirty="0" err="1"/>
              <a:t>comunitarios</a:t>
            </a:r>
            <a:r>
              <a:rPr dirty="0"/>
              <a:t>. </a:t>
            </a:r>
            <a:r>
              <a:rPr dirty="0" err="1"/>
              <a:t>Después</a:t>
            </a:r>
            <a:r>
              <a:rPr dirty="0"/>
              <a:t>, la </a:t>
            </a:r>
            <a:r>
              <a:rPr dirty="0" err="1"/>
              <a:t>eliminación</a:t>
            </a:r>
            <a:r>
              <a:rPr dirty="0"/>
              <a:t> de Seguro Popular y </a:t>
            </a:r>
            <a:r>
              <a:rPr dirty="0" err="1"/>
              <a:t>su</a:t>
            </a:r>
            <a:r>
              <a:rPr dirty="0"/>
              <a:t> </a:t>
            </a:r>
            <a:r>
              <a:rPr dirty="0" err="1"/>
              <a:t>reemplazo</a:t>
            </a:r>
            <a:r>
              <a:rPr dirty="0"/>
              <a:t> </a:t>
            </a:r>
            <a:r>
              <a:rPr dirty="0" err="1"/>
              <a:t>por</a:t>
            </a:r>
            <a:r>
              <a:rPr dirty="0"/>
              <a:t> INSABI, </a:t>
            </a:r>
            <a:r>
              <a:rPr dirty="0" err="1"/>
              <a:t>observando</a:t>
            </a:r>
            <a:r>
              <a:rPr dirty="0"/>
              <a:t> tanto </a:t>
            </a:r>
            <a:r>
              <a:rPr dirty="0" err="1"/>
              <a:t>salud</a:t>
            </a:r>
            <a:r>
              <a:rPr dirty="0"/>
              <a:t> </a:t>
            </a:r>
            <a:r>
              <a:rPr dirty="0" err="1"/>
              <a:t>como</a:t>
            </a:r>
            <a:r>
              <a:rPr dirty="0"/>
              <a:t> </a:t>
            </a:r>
            <a:r>
              <a:rPr dirty="0" err="1"/>
              <a:t>distribución</a:t>
            </a:r>
            <a:r>
              <a:rPr dirty="0"/>
              <a:t> de la </a:t>
            </a:r>
            <a:r>
              <a:rPr dirty="0" err="1"/>
              <a:t>atención</a:t>
            </a:r>
            <a:r>
              <a:rPr dirty="0"/>
              <a:t>. La idea </a:t>
            </a:r>
            <a:r>
              <a:rPr dirty="0" err="1"/>
              <a:t>que</a:t>
            </a:r>
            <a:r>
              <a:rPr dirty="0"/>
              <a:t> </a:t>
            </a:r>
            <a:r>
              <a:rPr dirty="0" err="1"/>
              <a:t>conecta</a:t>
            </a:r>
            <a:r>
              <a:rPr dirty="0"/>
              <a:t> </a:t>
            </a:r>
            <a:r>
              <a:rPr dirty="0" err="1"/>
              <a:t>los</a:t>
            </a:r>
            <a:r>
              <a:rPr dirty="0"/>
              <a:t> </a:t>
            </a:r>
            <a:r>
              <a:rPr dirty="0" err="1"/>
              <a:t>capítulos</a:t>
            </a:r>
            <a:r>
              <a:rPr dirty="0"/>
              <a:t> es </a:t>
            </a:r>
            <a:r>
              <a:rPr dirty="0" err="1"/>
              <a:t>que</a:t>
            </a:r>
            <a:r>
              <a:rPr dirty="0"/>
              <a:t> la </a:t>
            </a:r>
            <a:r>
              <a:rPr dirty="0" err="1"/>
              <a:t>cobertura</a:t>
            </a:r>
            <a:r>
              <a:rPr dirty="0"/>
              <a:t> </a:t>
            </a:r>
            <a:r>
              <a:rPr dirty="0" err="1"/>
              <a:t>financiera</a:t>
            </a:r>
            <a:r>
              <a:rPr dirty="0"/>
              <a:t> opera </a:t>
            </a:r>
            <a:r>
              <a:rPr dirty="0" err="1"/>
              <a:t>mediante</a:t>
            </a:r>
            <a:r>
              <a:rPr dirty="0"/>
              <a:t> </a:t>
            </a:r>
            <a:r>
              <a:rPr dirty="0" err="1"/>
              <a:t>proveedores</a:t>
            </a:r>
            <a:r>
              <a:rPr dirty="0"/>
              <a:t> </a:t>
            </a:r>
            <a:r>
              <a:rPr dirty="0" err="1"/>
              <a:t>concretos</a:t>
            </a:r>
            <a:r>
              <a:rPr dirty="0"/>
              <a:t>, con </a:t>
            </a:r>
            <a:r>
              <a:rPr dirty="0" err="1"/>
              <a:t>capacidades</a:t>
            </a:r>
            <a:r>
              <a:rPr dirty="0"/>
              <a:t> y barreras </a:t>
            </a:r>
            <a:r>
              <a:rPr dirty="0" err="1"/>
              <a:t>geográficas</a:t>
            </a:r>
            <a:r>
              <a:rPr dirty="0"/>
              <a:t> </a:t>
            </a:r>
            <a:r>
              <a:rPr dirty="0" err="1"/>
              <a:t>distintas</a:t>
            </a:r>
            <a:r>
              <a:rPr dirty="0"/>
              <a:t>. El </a:t>
            </a:r>
            <a:r>
              <a:rPr dirty="0" err="1"/>
              <a:t>título</a:t>
            </a:r>
            <a:r>
              <a:rPr dirty="0"/>
              <a:t> formal de la </a:t>
            </a:r>
            <a:r>
              <a:rPr dirty="0" err="1"/>
              <a:t>tesis</a:t>
            </a:r>
            <a:r>
              <a:rPr dirty="0"/>
              <a:t> es Three Essays on the Economics of Health. El </a:t>
            </a:r>
            <a:r>
              <a:rPr dirty="0" err="1"/>
              <a:t>título</a:t>
            </a:r>
            <a:r>
              <a:rPr dirty="0"/>
              <a:t> visible </a:t>
            </a:r>
            <a:r>
              <a:rPr dirty="0" err="1"/>
              <a:t>organiza</a:t>
            </a:r>
            <a:r>
              <a:rPr dirty="0"/>
              <a:t> la </a:t>
            </a:r>
            <a:r>
              <a:rPr dirty="0" err="1"/>
              <a:t>exposición</a:t>
            </a:r>
            <a:r>
              <a:rPr dirty="0"/>
              <a:t>.</a:t>
            </a:r>
          </a:p>
          <a:p>
            <a:endParaRPr dirty="0"/>
          </a:p>
          <a:p>
            <a:r>
              <a:rPr dirty="0"/>
              <a:t>FUENTE: El Colegio de México. </a:t>
            </a:r>
            <a:r>
              <a:rPr dirty="0" err="1"/>
              <a:t>Doctorado</a:t>
            </a:r>
            <a:r>
              <a:rPr dirty="0"/>
              <a:t> </a:t>
            </a:r>
            <a:r>
              <a:rPr dirty="0" err="1"/>
              <a:t>en</a:t>
            </a:r>
            <a:r>
              <a:rPr dirty="0"/>
              <a:t> Economía. </a:t>
            </a:r>
            <a:r>
              <a:rPr dirty="0" err="1"/>
              <a:t>Documentos</a:t>
            </a:r>
            <a:r>
              <a:rPr dirty="0"/>
              <a:t> </a:t>
            </a:r>
            <a:r>
              <a:rPr dirty="0" err="1"/>
              <a:t>proporcionados</a:t>
            </a:r>
            <a:r>
              <a:rPr dirty="0"/>
              <a:t> </a:t>
            </a:r>
            <a:r>
              <a:rPr dirty="0" err="1"/>
              <a:t>por</a:t>
            </a:r>
            <a:r>
              <a:rPr dirty="0"/>
              <a:t> el </a:t>
            </a:r>
            <a:r>
              <a:rPr dirty="0" err="1"/>
              <a:t>autor</a:t>
            </a:r>
            <a:r>
              <a:rPr dirty="0"/>
              <a:t>: paper03.tex (</a:t>
            </a:r>
            <a:r>
              <a:rPr dirty="0" err="1"/>
              <a:t>capítulo</a:t>
            </a:r>
            <a:r>
              <a:rPr dirty="0"/>
              <a:t> 1), paper01.tex (</a:t>
            </a:r>
            <a:r>
              <a:rPr dirty="0" err="1"/>
              <a:t>capítulo</a:t>
            </a:r>
            <a:r>
              <a:rPr dirty="0"/>
              <a:t> 2), paper02.tex (</a:t>
            </a:r>
            <a:r>
              <a:rPr dirty="0" err="1"/>
              <a:t>capítulo</a:t>
            </a:r>
            <a:r>
              <a:rPr dirty="0"/>
              <a:t> 3), thesis2_appendices(1).</a:t>
            </a:r>
            <a:r>
              <a:rPr dirty="0" err="1"/>
              <a:t>tex</a:t>
            </a:r>
            <a:r>
              <a:rPr dirty="0"/>
              <a:t> y thesis2_appendices.pdf. Los </a:t>
            </a:r>
            <a:r>
              <a:rPr dirty="0" err="1"/>
              <a:t>dictámenes</a:t>
            </a:r>
            <a:r>
              <a:rPr dirty="0"/>
              <a:t> de Adrián </a:t>
            </a:r>
            <a:r>
              <a:rPr dirty="0" err="1"/>
              <a:t>Rubli</a:t>
            </a:r>
            <a:r>
              <a:rPr dirty="0"/>
              <a:t> y Edwin van </a:t>
            </a:r>
            <a:r>
              <a:rPr dirty="0" err="1"/>
              <a:t>Gameren</a:t>
            </a:r>
            <a:r>
              <a:rPr dirty="0"/>
              <a:t> </a:t>
            </a:r>
            <a:r>
              <a:rPr dirty="0" err="1"/>
              <a:t>orientan</a:t>
            </a:r>
            <a:r>
              <a:rPr dirty="0"/>
              <a:t> la </a:t>
            </a:r>
            <a:r>
              <a:rPr dirty="0" err="1"/>
              <a:t>discusión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MX"/>
          </a:p>
        </p:txBody>
      </p:sp>
      <p:sp>
        <p:nvSpPr>
          <p:cNvPr id="3" name="Notes Placeholder 2"/>
          <p:cNvSpPr>
            <a:spLocks noGrp="1"/>
          </p:cNvSpPr>
          <p:nvPr>
            <p:ph type="body" idx="1"/>
          </p:nvPr>
        </p:nvSpPr>
        <p:spPr/>
        <p:txBody>
          <a:bodyPr/>
          <a:lstStyle/>
          <a:p>
            <a:r>
              <a:t>1.5 minutos. Minuto 1 a 2.5</a:t>
            </a:r>
          </a:p>
          <a:p>
            <a:endParaRPr/>
          </a:p>
          <a:p>
            <a:r>
              <a:t>Distinguir financiamiento, afiliación y provisión. El SP financiaba servicios para población sin seguridad social, principalmente a través de establecimientos de SSa administrados por los estados. IMSS ordinario atiende población con acceso a seguridad social laboral. La red histórica de IMSS-Bienestar atendía población rural y marginada sin ese requisito. Los proveedores privados no exigen afiliación laboral, aunque sí enfrentan barreras de pago. Es importante separar esa red histórica de la expansión institucional más reciente de IMSS-Bienestar. El SP termina en enero de 2020. INSABI se disuelve en mayo de 2023. La ventana de los capítulos 2 y 3 termina en 2023T2. Esta cronología contextualiza los resultados, pero no sustituye una verificación de la clasificación de cada establecimiento.</a:t>
            </a:r>
          </a:p>
          <a:p>
            <a:endParaRPr/>
          </a:p>
          <a:p>
            <a:r>
              <a:t>FUENTE: Introducción y contexto institucional de los capítulos 1–3. Documentos proporcionados por el autor: paper03.tex (capítulo 1), paper01.tex (capítulo 2), paper02.tex (capítulo 3), thesis2_appendices(1).tex y thesis2_appendices.pdf. Los dictámenes de Adrián Rubli y Edwin van Gameren orientan la discusión.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MX"/>
          </a:p>
        </p:txBody>
      </p:sp>
      <p:sp>
        <p:nvSpPr>
          <p:cNvPr id="3" name="Notes Placeholder 2"/>
          <p:cNvSpPr>
            <a:spLocks noGrp="1"/>
          </p:cNvSpPr>
          <p:nvPr>
            <p:ph type="body" idx="1"/>
          </p:nvPr>
        </p:nvSpPr>
        <p:spPr/>
        <p:txBody>
          <a:bodyPr/>
          <a:lstStyle/>
          <a:p>
            <a:r>
              <a:rPr dirty="0"/>
              <a:t>1.5 </a:t>
            </a:r>
            <a:r>
              <a:rPr dirty="0" err="1"/>
              <a:t>minutos</a:t>
            </a:r>
            <a:r>
              <a:rPr dirty="0"/>
              <a:t>. Minuto 2.5 a 4</a:t>
            </a:r>
          </a:p>
          <a:p>
            <a:endParaRPr dirty="0"/>
          </a:p>
          <a:p>
            <a:r>
              <a:rPr dirty="0" err="1"/>
              <a:t>Presentar</a:t>
            </a:r>
            <a:r>
              <a:rPr dirty="0"/>
              <a:t> la </a:t>
            </a:r>
            <a:r>
              <a:rPr dirty="0" err="1"/>
              <a:t>secuencia</a:t>
            </a:r>
            <a:r>
              <a:rPr dirty="0"/>
              <a:t> de </a:t>
            </a:r>
            <a:r>
              <a:rPr dirty="0" err="1"/>
              <a:t>preguntas</a:t>
            </a:r>
            <a:r>
              <a:rPr dirty="0"/>
              <a:t>. El primer </a:t>
            </a:r>
            <a:r>
              <a:rPr dirty="0" err="1"/>
              <a:t>capítulo</a:t>
            </a:r>
            <a:r>
              <a:rPr dirty="0"/>
              <a:t> </a:t>
            </a:r>
            <a:r>
              <a:rPr dirty="0" err="1"/>
              <a:t>estudia</a:t>
            </a:r>
            <a:r>
              <a:rPr dirty="0"/>
              <a:t> </a:t>
            </a:r>
            <a:r>
              <a:rPr dirty="0" err="1"/>
              <a:t>una</a:t>
            </a:r>
            <a:r>
              <a:rPr dirty="0"/>
              <a:t> </a:t>
            </a:r>
            <a:r>
              <a:rPr dirty="0" err="1"/>
              <a:t>expansión</a:t>
            </a:r>
            <a:r>
              <a:rPr dirty="0"/>
              <a:t> de </a:t>
            </a:r>
            <a:r>
              <a:rPr dirty="0" err="1"/>
              <a:t>capacidad</a:t>
            </a:r>
            <a:r>
              <a:rPr dirty="0"/>
              <a:t> local y sus </a:t>
            </a:r>
            <a:r>
              <a:rPr dirty="0" err="1"/>
              <a:t>efectos</a:t>
            </a:r>
            <a:r>
              <a:rPr dirty="0"/>
              <a:t> </a:t>
            </a:r>
            <a:r>
              <a:rPr dirty="0" err="1"/>
              <a:t>en</a:t>
            </a:r>
            <a:r>
              <a:rPr dirty="0"/>
              <a:t> </a:t>
            </a:r>
            <a:r>
              <a:rPr dirty="0" err="1"/>
              <a:t>acceso</a:t>
            </a:r>
            <a:r>
              <a:rPr dirty="0"/>
              <a:t> y </a:t>
            </a:r>
            <a:r>
              <a:rPr dirty="0" err="1"/>
              <a:t>salud</a:t>
            </a:r>
            <a:r>
              <a:rPr dirty="0"/>
              <a:t> al </a:t>
            </a:r>
            <a:r>
              <a:rPr dirty="0" err="1"/>
              <a:t>nacimiento</a:t>
            </a:r>
            <a:r>
              <a:rPr dirty="0"/>
              <a:t>. El </a:t>
            </a:r>
            <a:r>
              <a:rPr dirty="0" err="1"/>
              <a:t>segundo</a:t>
            </a:r>
            <a:r>
              <a:rPr dirty="0"/>
              <a:t> </a:t>
            </a:r>
            <a:r>
              <a:rPr dirty="0" err="1"/>
              <a:t>pregunta</a:t>
            </a:r>
            <a:r>
              <a:rPr dirty="0"/>
              <a:t> </a:t>
            </a:r>
            <a:r>
              <a:rPr dirty="0" err="1"/>
              <a:t>si</a:t>
            </a:r>
            <a:r>
              <a:rPr dirty="0"/>
              <a:t> </a:t>
            </a:r>
            <a:r>
              <a:rPr dirty="0" err="1"/>
              <a:t>una</a:t>
            </a:r>
            <a:r>
              <a:rPr dirty="0"/>
              <a:t> </a:t>
            </a:r>
            <a:r>
              <a:rPr dirty="0" err="1"/>
              <a:t>transición</a:t>
            </a:r>
            <a:r>
              <a:rPr dirty="0"/>
              <a:t> </a:t>
            </a:r>
            <a:r>
              <a:rPr dirty="0" err="1"/>
              <a:t>institucional</a:t>
            </a:r>
            <a:r>
              <a:rPr dirty="0"/>
              <a:t> </a:t>
            </a:r>
            <a:r>
              <a:rPr dirty="0" err="1"/>
              <a:t>nacional</a:t>
            </a:r>
            <a:r>
              <a:rPr dirty="0"/>
              <a:t> </a:t>
            </a:r>
            <a:r>
              <a:rPr dirty="0" err="1"/>
              <a:t>modifica</a:t>
            </a:r>
            <a:r>
              <a:rPr dirty="0"/>
              <a:t> la </a:t>
            </a:r>
            <a:r>
              <a:rPr dirty="0" err="1"/>
              <a:t>salud</a:t>
            </a:r>
            <a:r>
              <a:rPr dirty="0"/>
              <a:t> de </a:t>
            </a:r>
            <a:r>
              <a:rPr dirty="0" err="1"/>
              <a:t>quienes</a:t>
            </a:r>
            <a:r>
              <a:rPr dirty="0"/>
              <a:t> </a:t>
            </a:r>
            <a:r>
              <a:rPr dirty="0" err="1"/>
              <a:t>vivían</a:t>
            </a:r>
            <a:r>
              <a:rPr dirty="0"/>
              <a:t> </a:t>
            </a:r>
            <a:r>
              <a:rPr dirty="0" err="1"/>
              <a:t>en</a:t>
            </a:r>
            <a:r>
              <a:rPr dirty="0"/>
              <a:t> municipios </a:t>
            </a:r>
            <a:r>
              <a:rPr dirty="0" err="1"/>
              <a:t>más</a:t>
            </a:r>
            <a:r>
              <a:rPr dirty="0"/>
              <a:t> </a:t>
            </a:r>
            <a:r>
              <a:rPr dirty="0" err="1"/>
              <a:t>dependientes</a:t>
            </a:r>
            <a:r>
              <a:rPr dirty="0"/>
              <a:t> del SP. El </a:t>
            </a:r>
            <a:r>
              <a:rPr dirty="0" err="1"/>
              <a:t>tercero</a:t>
            </a:r>
            <a:r>
              <a:rPr dirty="0"/>
              <a:t> </a:t>
            </a:r>
            <a:r>
              <a:rPr dirty="0" err="1"/>
              <a:t>observa</a:t>
            </a:r>
            <a:r>
              <a:rPr dirty="0"/>
              <a:t> </a:t>
            </a:r>
            <a:r>
              <a:rPr dirty="0" err="1"/>
              <a:t>si</a:t>
            </a:r>
            <a:r>
              <a:rPr dirty="0"/>
              <a:t> cambia el </a:t>
            </a:r>
            <a:r>
              <a:rPr dirty="0" err="1"/>
              <a:t>proveedor</a:t>
            </a:r>
            <a:r>
              <a:rPr dirty="0"/>
              <a:t> de </a:t>
            </a:r>
            <a:r>
              <a:rPr dirty="0" err="1"/>
              <a:t>atención</a:t>
            </a:r>
            <a:r>
              <a:rPr dirty="0"/>
              <a:t>. No se </a:t>
            </a:r>
            <a:r>
              <a:rPr dirty="0" err="1"/>
              <a:t>comparan</a:t>
            </a:r>
            <a:r>
              <a:rPr dirty="0"/>
              <a:t> </a:t>
            </a:r>
            <a:r>
              <a:rPr dirty="0" err="1"/>
              <a:t>directamente</a:t>
            </a:r>
            <a:r>
              <a:rPr dirty="0"/>
              <a:t> magnitudes </a:t>
            </a:r>
            <a:r>
              <a:rPr dirty="0" err="1"/>
              <a:t>causales</a:t>
            </a:r>
            <a:r>
              <a:rPr dirty="0"/>
              <a:t> entre </a:t>
            </a:r>
            <a:r>
              <a:rPr dirty="0" err="1"/>
              <a:t>capítulos</a:t>
            </a:r>
            <a:r>
              <a:rPr dirty="0"/>
              <a:t>: son </a:t>
            </a:r>
            <a:r>
              <a:rPr dirty="0" err="1"/>
              <a:t>intervenciones</a:t>
            </a:r>
            <a:r>
              <a:rPr dirty="0"/>
              <a:t>, </a:t>
            </a:r>
            <a:r>
              <a:rPr dirty="0" err="1"/>
              <a:t>muestras</a:t>
            </a:r>
            <a:r>
              <a:rPr dirty="0"/>
              <a:t> y </a:t>
            </a:r>
            <a:r>
              <a:rPr dirty="0" err="1"/>
              <a:t>periodos</a:t>
            </a:r>
            <a:r>
              <a:rPr dirty="0"/>
              <a:t> </a:t>
            </a:r>
            <a:r>
              <a:rPr dirty="0" err="1"/>
              <a:t>distintos</a:t>
            </a:r>
            <a:r>
              <a:rPr dirty="0"/>
              <a:t>. </a:t>
            </a:r>
            <a:r>
              <a:rPr dirty="0" err="1"/>
              <a:t>Introducir</a:t>
            </a:r>
            <a:r>
              <a:rPr dirty="0"/>
              <a:t> las </a:t>
            </a:r>
            <a:r>
              <a:rPr dirty="0" err="1"/>
              <a:t>fuentes</a:t>
            </a:r>
            <a:r>
              <a:rPr dirty="0"/>
              <a:t> </a:t>
            </a:r>
            <a:r>
              <a:rPr dirty="0" err="1"/>
              <a:t>comunes</a:t>
            </a:r>
            <a:r>
              <a:rPr dirty="0"/>
              <a:t> </a:t>
            </a:r>
            <a:r>
              <a:rPr dirty="0" err="1"/>
              <a:t>una</a:t>
            </a:r>
            <a:r>
              <a:rPr dirty="0"/>
              <a:t> sola </a:t>
            </a:r>
            <a:r>
              <a:rPr dirty="0" err="1"/>
              <a:t>vez</a:t>
            </a:r>
            <a:r>
              <a:rPr dirty="0"/>
              <a:t>: SINAC </a:t>
            </a:r>
            <a:r>
              <a:rPr dirty="0" err="1"/>
              <a:t>aporta</a:t>
            </a:r>
            <a:r>
              <a:rPr dirty="0"/>
              <a:t> </a:t>
            </a:r>
            <a:r>
              <a:rPr dirty="0" err="1"/>
              <a:t>registros</a:t>
            </a:r>
            <a:r>
              <a:rPr dirty="0"/>
              <a:t> de </a:t>
            </a:r>
            <a:r>
              <a:rPr dirty="0" err="1"/>
              <a:t>nacimientos</a:t>
            </a:r>
            <a:r>
              <a:rPr dirty="0"/>
              <a:t> y </a:t>
            </a:r>
            <a:r>
              <a:rPr dirty="0" err="1"/>
              <a:t>características</a:t>
            </a:r>
            <a:r>
              <a:rPr dirty="0"/>
              <a:t> </a:t>
            </a:r>
            <a:r>
              <a:rPr dirty="0" err="1"/>
              <a:t>maternas</a:t>
            </a:r>
            <a:r>
              <a:rPr dirty="0"/>
              <a:t>; CLUES </a:t>
            </a:r>
            <a:r>
              <a:rPr dirty="0" err="1"/>
              <a:t>identifica</a:t>
            </a:r>
            <a:r>
              <a:rPr dirty="0"/>
              <a:t> </a:t>
            </a:r>
            <a:r>
              <a:rPr dirty="0" err="1"/>
              <a:t>establecimientos</a:t>
            </a:r>
            <a:r>
              <a:rPr dirty="0"/>
              <a:t>; INEGI </a:t>
            </a:r>
            <a:r>
              <a:rPr dirty="0" err="1"/>
              <a:t>aporta</a:t>
            </a:r>
            <a:r>
              <a:rPr dirty="0"/>
              <a:t> </a:t>
            </a:r>
            <a:r>
              <a:rPr dirty="0" err="1"/>
              <a:t>defunciones</a:t>
            </a:r>
            <a:r>
              <a:rPr dirty="0"/>
              <a:t>. La </a:t>
            </a:r>
            <a:r>
              <a:rPr dirty="0" err="1"/>
              <a:t>contribución</a:t>
            </a:r>
            <a:r>
              <a:rPr dirty="0"/>
              <a:t> </a:t>
            </a:r>
            <a:r>
              <a:rPr dirty="0" err="1"/>
              <a:t>conjunta</a:t>
            </a:r>
            <a:r>
              <a:rPr dirty="0"/>
              <a:t> </a:t>
            </a:r>
            <a:r>
              <a:rPr dirty="0" err="1"/>
              <a:t>consiste</a:t>
            </a:r>
            <a:r>
              <a:rPr dirty="0"/>
              <a:t> </a:t>
            </a:r>
            <a:r>
              <a:rPr dirty="0" err="1"/>
              <a:t>en</a:t>
            </a:r>
            <a:r>
              <a:rPr dirty="0"/>
              <a:t> </a:t>
            </a:r>
            <a:r>
              <a:rPr dirty="0" err="1"/>
              <a:t>estudiar</a:t>
            </a:r>
            <a:r>
              <a:rPr dirty="0"/>
              <a:t> </a:t>
            </a:r>
            <a:r>
              <a:rPr dirty="0" err="1"/>
              <a:t>resultados</a:t>
            </a:r>
            <a:r>
              <a:rPr dirty="0"/>
              <a:t> de </a:t>
            </a:r>
            <a:r>
              <a:rPr dirty="0" err="1"/>
              <a:t>salud</a:t>
            </a:r>
            <a:r>
              <a:rPr dirty="0"/>
              <a:t> y </a:t>
            </a:r>
            <a:r>
              <a:rPr dirty="0" err="1"/>
              <a:t>utilización</a:t>
            </a:r>
            <a:r>
              <a:rPr dirty="0"/>
              <a:t> </a:t>
            </a:r>
            <a:r>
              <a:rPr dirty="0" err="1"/>
              <a:t>dentro</a:t>
            </a:r>
            <a:r>
              <a:rPr dirty="0"/>
              <a:t> de un </a:t>
            </a:r>
            <a:r>
              <a:rPr dirty="0" err="1"/>
              <a:t>sistema</a:t>
            </a:r>
            <a:r>
              <a:rPr dirty="0"/>
              <a:t> </a:t>
            </a:r>
            <a:r>
              <a:rPr dirty="0" err="1"/>
              <a:t>fragmentado</a:t>
            </a:r>
            <a:r>
              <a:rPr dirty="0"/>
              <a:t>.</a:t>
            </a:r>
          </a:p>
          <a:p>
            <a:endParaRPr dirty="0"/>
          </a:p>
          <a:p>
            <a:r>
              <a:rPr dirty="0"/>
              <a:t>FUENTE: </a:t>
            </a:r>
            <a:r>
              <a:rPr dirty="0" err="1"/>
              <a:t>Introducción</a:t>
            </a:r>
            <a:r>
              <a:rPr dirty="0"/>
              <a:t> y </a:t>
            </a:r>
            <a:r>
              <a:rPr dirty="0" err="1"/>
              <a:t>conclusiones</a:t>
            </a:r>
            <a:r>
              <a:rPr dirty="0"/>
              <a:t> </a:t>
            </a:r>
            <a:r>
              <a:rPr dirty="0" err="1"/>
              <a:t>generales</a:t>
            </a:r>
            <a:r>
              <a:rPr dirty="0"/>
              <a:t> de la </a:t>
            </a:r>
            <a:r>
              <a:rPr dirty="0" err="1"/>
              <a:t>tesis</a:t>
            </a:r>
            <a:r>
              <a:rPr dirty="0"/>
              <a:t>. </a:t>
            </a:r>
            <a:r>
              <a:rPr dirty="0" err="1"/>
              <a:t>Documentos</a:t>
            </a:r>
            <a:r>
              <a:rPr dirty="0"/>
              <a:t> </a:t>
            </a:r>
            <a:r>
              <a:rPr dirty="0" err="1"/>
              <a:t>proporcionados</a:t>
            </a:r>
            <a:r>
              <a:rPr dirty="0"/>
              <a:t> </a:t>
            </a:r>
            <a:r>
              <a:rPr dirty="0" err="1"/>
              <a:t>por</a:t>
            </a:r>
            <a:r>
              <a:rPr dirty="0"/>
              <a:t> el </a:t>
            </a:r>
            <a:r>
              <a:rPr dirty="0" err="1"/>
              <a:t>autor</a:t>
            </a:r>
            <a:r>
              <a:rPr dirty="0"/>
              <a:t>: paper03.tex (</a:t>
            </a:r>
            <a:r>
              <a:rPr dirty="0" err="1"/>
              <a:t>capítulo</a:t>
            </a:r>
            <a:r>
              <a:rPr dirty="0"/>
              <a:t> 1), paper01.tex (</a:t>
            </a:r>
            <a:r>
              <a:rPr dirty="0" err="1"/>
              <a:t>capítulo</a:t>
            </a:r>
            <a:r>
              <a:rPr dirty="0"/>
              <a:t> 2), paper02.tex (</a:t>
            </a:r>
            <a:r>
              <a:rPr dirty="0" err="1"/>
              <a:t>capítulo</a:t>
            </a:r>
            <a:r>
              <a:rPr dirty="0"/>
              <a:t> 3), thesis2_appendices(1).</a:t>
            </a:r>
            <a:r>
              <a:rPr dirty="0" err="1"/>
              <a:t>tex</a:t>
            </a:r>
            <a:r>
              <a:rPr dirty="0"/>
              <a:t> y thesis2_appendices.pdf. Los </a:t>
            </a:r>
            <a:r>
              <a:rPr dirty="0" err="1"/>
              <a:t>dictámenes</a:t>
            </a:r>
            <a:r>
              <a:rPr dirty="0"/>
              <a:t> de Adrián </a:t>
            </a:r>
            <a:r>
              <a:rPr dirty="0" err="1"/>
              <a:t>Rubli</a:t>
            </a:r>
            <a:r>
              <a:rPr dirty="0"/>
              <a:t> y Edwin van </a:t>
            </a:r>
            <a:r>
              <a:rPr dirty="0" err="1"/>
              <a:t>Gameren</a:t>
            </a:r>
            <a:r>
              <a:rPr dirty="0"/>
              <a:t> </a:t>
            </a:r>
            <a:r>
              <a:rPr dirty="0" err="1"/>
              <a:t>orientan</a:t>
            </a:r>
            <a:r>
              <a:rPr dirty="0"/>
              <a:t> la </a:t>
            </a:r>
            <a:r>
              <a:rPr dirty="0" err="1"/>
              <a:t>discusión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93EE0-703A-91DB-44F1-E1A0DBD08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932DE-050C-DC2C-BE70-060CD5662BE1}"/>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804D3F39-5E28-1938-B9D8-B222FBA28755}"/>
              </a:ext>
            </a:extLst>
          </p:cNvPr>
          <p:cNvSpPr>
            <a:spLocks noGrp="1"/>
          </p:cNvSpPr>
          <p:nvPr>
            <p:ph type="body" idx="1"/>
          </p:nvPr>
        </p:nvSpPr>
        <p:spPr/>
        <p:txBody>
          <a:bodyPr/>
          <a:lstStyle/>
          <a:p>
            <a:r>
              <a:rPr dirty="0"/>
              <a:t>1.5 </a:t>
            </a:r>
            <a:r>
              <a:rPr dirty="0" err="1"/>
              <a:t>minutos</a:t>
            </a:r>
            <a:r>
              <a:rPr dirty="0"/>
              <a:t>. Minuto 2.5 a 4</a:t>
            </a:r>
          </a:p>
          <a:p>
            <a:endParaRPr dirty="0"/>
          </a:p>
          <a:p>
            <a:r>
              <a:rPr dirty="0" err="1"/>
              <a:t>Presentar</a:t>
            </a:r>
            <a:r>
              <a:rPr dirty="0"/>
              <a:t> la </a:t>
            </a:r>
            <a:r>
              <a:rPr dirty="0" err="1"/>
              <a:t>secuencia</a:t>
            </a:r>
            <a:r>
              <a:rPr dirty="0"/>
              <a:t> de </a:t>
            </a:r>
            <a:r>
              <a:rPr dirty="0" err="1"/>
              <a:t>preguntas</a:t>
            </a:r>
            <a:r>
              <a:rPr dirty="0"/>
              <a:t>. El primer </a:t>
            </a:r>
            <a:r>
              <a:rPr dirty="0" err="1"/>
              <a:t>capítulo</a:t>
            </a:r>
            <a:r>
              <a:rPr dirty="0"/>
              <a:t> </a:t>
            </a:r>
            <a:r>
              <a:rPr dirty="0" err="1"/>
              <a:t>estudia</a:t>
            </a:r>
            <a:r>
              <a:rPr dirty="0"/>
              <a:t> </a:t>
            </a:r>
            <a:r>
              <a:rPr dirty="0" err="1"/>
              <a:t>una</a:t>
            </a:r>
            <a:r>
              <a:rPr dirty="0"/>
              <a:t> </a:t>
            </a:r>
            <a:r>
              <a:rPr dirty="0" err="1"/>
              <a:t>expansión</a:t>
            </a:r>
            <a:r>
              <a:rPr dirty="0"/>
              <a:t> de </a:t>
            </a:r>
            <a:r>
              <a:rPr dirty="0" err="1"/>
              <a:t>capacidad</a:t>
            </a:r>
            <a:r>
              <a:rPr dirty="0"/>
              <a:t> local y sus </a:t>
            </a:r>
            <a:r>
              <a:rPr dirty="0" err="1"/>
              <a:t>efectos</a:t>
            </a:r>
            <a:r>
              <a:rPr dirty="0"/>
              <a:t> </a:t>
            </a:r>
            <a:r>
              <a:rPr dirty="0" err="1"/>
              <a:t>en</a:t>
            </a:r>
            <a:r>
              <a:rPr dirty="0"/>
              <a:t> </a:t>
            </a:r>
            <a:r>
              <a:rPr dirty="0" err="1"/>
              <a:t>acceso</a:t>
            </a:r>
            <a:r>
              <a:rPr dirty="0"/>
              <a:t> y </a:t>
            </a:r>
            <a:r>
              <a:rPr dirty="0" err="1"/>
              <a:t>salud</a:t>
            </a:r>
            <a:r>
              <a:rPr dirty="0"/>
              <a:t> al </a:t>
            </a:r>
            <a:r>
              <a:rPr dirty="0" err="1"/>
              <a:t>nacimiento</a:t>
            </a:r>
            <a:r>
              <a:rPr dirty="0"/>
              <a:t>. El </a:t>
            </a:r>
            <a:r>
              <a:rPr dirty="0" err="1"/>
              <a:t>segundo</a:t>
            </a:r>
            <a:r>
              <a:rPr dirty="0"/>
              <a:t> </a:t>
            </a:r>
            <a:r>
              <a:rPr dirty="0" err="1"/>
              <a:t>pregunta</a:t>
            </a:r>
            <a:r>
              <a:rPr dirty="0"/>
              <a:t> </a:t>
            </a:r>
            <a:r>
              <a:rPr dirty="0" err="1"/>
              <a:t>si</a:t>
            </a:r>
            <a:r>
              <a:rPr dirty="0"/>
              <a:t> </a:t>
            </a:r>
            <a:r>
              <a:rPr dirty="0" err="1"/>
              <a:t>una</a:t>
            </a:r>
            <a:r>
              <a:rPr dirty="0"/>
              <a:t> </a:t>
            </a:r>
            <a:r>
              <a:rPr dirty="0" err="1"/>
              <a:t>transición</a:t>
            </a:r>
            <a:r>
              <a:rPr dirty="0"/>
              <a:t> </a:t>
            </a:r>
            <a:r>
              <a:rPr dirty="0" err="1"/>
              <a:t>institucional</a:t>
            </a:r>
            <a:r>
              <a:rPr dirty="0"/>
              <a:t> </a:t>
            </a:r>
            <a:r>
              <a:rPr dirty="0" err="1"/>
              <a:t>nacional</a:t>
            </a:r>
            <a:r>
              <a:rPr dirty="0"/>
              <a:t> </a:t>
            </a:r>
            <a:r>
              <a:rPr dirty="0" err="1"/>
              <a:t>modifica</a:t>
            </a:r>
            <a:r>
              <a:rPr dirty="0"/>
              <a:t> la </a:t>
            </a:r>
            <a:r>
              <a:rPr dirty="0" err="1"/>
              <a:t>salud</a:t>
            </a:r>
            <a:r>
              <a:rPr dirty="0"/>
              <a:t> de </a:t>
            </a:r>
            <a:r>
              <a:rPr dirty="0" err="1"/>
              <a:t>quienes</a:t>
            </a:r>
            <a:r>
              <a:rPr dirty="0"/>
              <a:t> </a:t>
            </a:r>
            <a:r>
              <a:rPr dirty="0" err="1"/>
              <a:t>vivían</a:t>
            </a:r>
            <a:r>
              <a:rPr dirty="0"/>
              <a:t> </a:t>
            </a:r>
            <a:r>
              <a:rPr dirty="0" err="1"/>
              <a:t>en</a:t>
            </a:r>
            <a:r>
              <a:rPr dirty="0"/>
              <a:t> municipios </a:t>
            </a:r>
            <a:r>
              <a:rPr dirty="0" err="1"/>
              <a:t>más</a:t>
            </a:r>
            <a:r>
              <a:rPr dirty="0"/>
              <a:t> </a:t>
            </a:r>
            <a:r>
              <a:rPr dirty="0" err="1"/>
              <a:t>dependientes</a:t>
            </a:r>
            <a:r>
              <a:rPr dirty="0"/>
              <a:t> del SP. El </a:t>
            </a:r>
            <a:r>
              <a:rPr dirty="0" err="1"/>
              <a:t>tercero</a:t>
            </a:r>
            <a:r>
              <a:rPr dirty="0"/>
              <a:t> </a:t>
            </a:r>
            <a:r>
              <a:rPr dirty="0" err="1"/>
              <a:t>observa</a:t>
            </a:r>
            <a:r>
              <a:rPr dirty="0"/>
              <a:t> </a:t>
            </a:r>
            <a:r>
              <a:rPr dirty="0" err="1"/>
              <a:t>si</a:t>
            </a:r>
            <a:r>
              <a:rPr dirty="0"/>
              <a:t> cambia el </a:t>
            </a:r>
            <a:r>
              <a:rPr dirty="0" err="1"/>
              <a:t>proveedor</a:t>
            </a:r>
            <a:r>
              <a:rPr dirty="0"/>
              <a:t> de </a:t>
            </a:r>
            <a:r>
              <a:rPr dirty="0" err="1"/>
              <a:t>atención</a:t>
            </a:r>
            <a:r>
              <a:rPr dirty="0"/>
              <a:t>. No se </a:t>
            </a:r>
            <a:r>
              <a:rPr dirty="0" err="1"/>
              <a:t>comparan</a:t>
            </a:r>
            <a:r>
              <a:rPr dirty="0"/>
              <a:t> </a:t>
            </a:r>
            <a:r>
              <a:rPr dirty="0" err="1"/>
              <a:t>directamente</a:t>
            </a:r>
            <a:r>
              <a:rPr dirty="0"/>
              <a:t> magnitudes </a:t>
            </a:r>
            <a:r>
              <a:rPr dirty="0" err="1"/>
              <a:t>causales</a:t>
            </a:r>
            <a:r>
              <a:rPr dirty="0"/>
              <a:t> entre </a:t>
            </a:r>
            <a:r>
              <a:rPr dirty="0" err="1"/>
              <a:t>capítulos</a:t>
            </a:r>
            <a:r>
              <a:rPr dirty="0"/>
              <a:t>: son </a:t>
            </a:r>
            <a:r>
              <a:rPr dirty="0" err="1"/>
              <a:t>intervenciones</a:t>
            </a:r>
            <a:r>
              <a:rPr dirty="0"/>
              <a:t>, </a:t>
            </a:r>
            <a:r>
              <a:rPr dirty="0" err="1"/>
              <a:t>muestras</a:t>
            </a:r>
            <a:r>
              <a:rPr dirty="0"/>
              <a:t> y </a:t>
            </a:r>
            <a:r>
              <a:rPr dirty="0" err="1"/>
              <a:t>periodos</a:t>
            </a:r>
            <a:r>
              <a:rPr dirty="0"/>
              <a:t> </a:t>
            </a:r>
            <a:r>
              <a:rPr dirty="0" err="1"/>
              <a:t>distintos</a:t>
            </a:r>
            <a:r>
              <a:rPr dirty="0"/>
              <a:t>. </a:t>
            </a:r>
            <a:r>
              <a:rPr dirty="0" err="1"/>
              <a:t>Introducir</a:t>
            </a:r>
            <a:r>
              <a:rPr dirty="0"/>
              <a:t> las </a:t>
            </a:r>
            <a:r>
              <a:rPr dirty="0" err="1"/>
              <a:t>fuentes</a:t>
            </a:r>
            <a:r>
              <a:rPr dirty="0"/>
              <a:t> </a:t>
            </a:r>
            <a:r>
              <a:rPr dirty="0" err="1"/>
              <a:t>comunes</a:t>
            </a:r>
            <a:r>
              <a:rPr dirty="0"/>
              <a:t> </a:t>
            </a:r>
            <a:r>
              <a:rPr dirty="0" err="1"/>
              <a:t>una</a:t>
            </a:r>
            <a:r>
              <a:rPr dirty="0"/>
              <a:t> sola </a:t>
            </a:r>
            <a:r>
              <a:rPr dirty="0" err="1"/>
              <a:t>vez</a:t>
            </a:r>
            <a:r>
              <a:rPr dirty="0"/>
              <a:t>: SINAC </a:t>
            </a:r>
            <a:r>
              <a:rPr dirty="0" err="1"/>
              <a:t>aporta</a:t>
            </a:r>
            <a:r>
              <a:rPr dirty="0"/>
              <a:t> </a:t>
            </a:r>
            <a:r>
              <a:rPr dirty="0" err="1"/>
              <a:t>registros</a:t>
            </a:r>
            <a:r>
              <a:rPr dirty="0"/>
              <a:t> de </a:t>
            </a:r>
            <a:r>
              <a:rPr dirty="0" err="1"/>
              <a:t>nacimientos</a:t>
            </a:r>
            <a:r>
              <a:rPr dirty="0"/>
              <a:t> y </a:t>
            </a:r>
            <a:r>
              <a:rPr dirty="0" err="1"/>
              <a:t>características</a:t>
            </a:r>
            <a:r>
              <a:rPr dirty="0"/>
              <a:t> </a:t>
            </a:r>
            <a:r>
              <a:rPr dirty="0" err="1"/>
              <a:t>maternas</a:t>
            </a:r>
            <a:r>
              <a:rPr dirty="0"/>
              <a:t>; CLUES </a:t>
            </a:r>
            <a:r>
              <a:rPr dirty="0" err="1"/>
              <a:t>identifica</a:t>
            </a:r>
            <a:r>
              <a:rPr dirty="0"/>
              <a:t> </a:t>
            </a:r>
            <a:r>
              <a:rPr dirty="0" err="1"/>
              <a:t>establecimientos</a:t>
            </a:r>
            <a:r>
              <a:rPr dirty="0"/>
              <a:t>; INEGI </a:t>
            </a:r>
            <a:r>
              <a:rPr dirty="0" err="1"/>
              <a:t>aporta</a:t>
            </a:r>
            <a:r>
              <a:rPr dirty="0"/>
              <a:t> </a:t>
            </a:r>
            <a:r>
              <a:rPr dirty="0" err="1"/>
              <a:t>defunciones</a:t>
            </a:r>
            <a:r>
              <a:rPr dirty="0"/>
              <a:t>. La </a:t>
            </a:r>
            <a:r>
              <a:rPr dirty="0" err="1"/>
              <a:t>contribución</a:t>
            </a:r>
            <a:r>
              <a:rPr dirty="0"/>
              <a:t> </a:t>
            </a:r>
            <a:r>
              <a:rPr dirty="0" err="1"/>
              <a:t>conjunta</a:t>
            </a:r>
            <a:r>
              <a:rPr dirty="0"/>
              <a:t> </a:t>
            </a:r>
            <a:r>
              <a:rPr dirty="0" err="1"/>
              <a:t>consiste</a:t>
            </a:r>
            <a:r>
              <a:rPr dirty="0"/>
              <a:t> </a:t>
            </a:r>
            <a:r>
              <a:rPr dirty="0" err="1"/>
              <a:t>en</a:t>
            </a:r>
            <a:r>
              <a:rPr dirty="0"/>
              <a:t> </a:t>
            </a:r>
            <a:r>
              <a:rPr dirty="0" err="1"/>
              <a:t>estudiar</a:t>
            </a:r>
            <a:r>
              <a:rPr dirty="0"/>
              <a:t> </a:t>
            </a:r>
            <a:r>
              <a:rPr dirty="0" err="1"/>
              <a:t>resultados</a:t>
            </a:r>
            <a:r>
              <a:rPr dirty="0"/>
              <a:t> de </a:t>
            </a:r>
            <a:r>
              <a:rPr dirty="0" err="1"/>
              <a:t>salud</a:t>
            </a:r>
            <a:r>
              <a:rPr dirty="0"/>
              <a:t> y </a:t>
            </a:r>
            <a:r>
              <a:rPr dirty="0" err="1"/>
              <a:t>utilización</a:t>
            </a:r>
            <a:r>
              <a:rPr dirty="0"/>
              <a:t> </a:t>
            </a:r>
            <a:r>
              <a:rPr dirty="0" err="1"/>
              <a:t>dentro</a:t>
            </a:r>
            <a:r>
              <a:rPr dirty="0"/>
              <a:t> de un </a:t>
            </a:r>
            <a:r>
              <a:rPr dirty="0" err="1"/>
              <a:t>sistema</a:t>
            </a:r>
            <a:r>
              <a:rPr dirty="0"/>
              <a:t> </a:t>
            </a:r>
            <a:r>
              <a:rPr dirty="0" err="1"/>
              <a:t>fragmentado</a:t>
            </a:r>
            <a:r>
              <a:rPr dirty="0"/>
              <a:t>.</a:t>
            </a:r>
          </a:p>
          <a:p>
            <a:endParaRPr dirty="0"/>
          </a:p>
          <a:p>
            <a:r>
              <a:rPr dirty="0"/>
              <a:t>FUENTE: </a:t>
            </a:r>
            <a:r>
              <a:rPr dirty="0" err="1"/>
              <a:t>Introducción</a:t>
            </a:r>
            <a:r>
              <a:rPr dirty="0"/>
              <a:t> y </a:t>
            </a:r>
            <a:r>
              <a:rPr dirty="0" err="1"/>
              <a:t>conclusiones</a:t>
            </a:r>
            <a:r>
              <a:rPr dirty="0"/>
              <a:t> </a:t>
            </a:r>
            <a:r>
              <a:rPr dirty="0" err="1"/>
              <a:t>generales</a:t>
            </a:r>
            <a:r>
              <a:rPr dirty="0"/>
              <a:t> de la </a:t>
            </a:r>
            <a:r>
              <a:rPr dirty="0" err="1"/>
              <a:t>tesis</a:t>
            </a:r>
            <a:r>
              <a:rPr dirty="0"/>
              <a:t>. </a:t>
            </a:r>
            <a:r>
              <a:rPr dirty="0" err="1"/>
              <a:t>Documentos</a:t>
            </a:r>
            <a:r>
              <a:rPr dirty="0"/>
              <a:t> </a:t>
            </a:r>
            <a:r>
              <a:rPr dirty="0" err="1"/>
              <a:t>proporcionados</a:t>
            </a:r>
            <a:r>
              <a:rPr dirty="0"/>
              <a:t> </a:t>
            </a:r>
            <a:r>
              <a:rPr dirty="0" err="1"/>
              <a:t>por</a:t>
            </a:r>
            <a:r>
              <a:rPr dirty="0"/>
              <a:t> el </a:t>
            </a:r>
            <a:r>
              <a:rPr dirty="0" err="1"/>
              <a:t>autor</a:t>
            </a:r>
            <a:r>
              <a:rPr dirty="0"/>
              <a:t>: paper03.tex (</a:t>
            </a:r>
            <a:r>
              <a:rPr dirty="0" err="1"/>
              <a:t>capítulo</a:t>
            </a:r>
            <a:r>
              <a:rPr dirty="0"/>
              <a:t> 1), paper01.tex (</a:t>
            </a:r>
            <a:r>
              <a:rPr dirty="0" err="1"/>
              <a:t>capítulo</a:t>
            </a:r>
            <a:r>
              <a:rPr dirty="0"/>
              <a:t> 2), paper02.tex (</a:t>
            </a:r>
            <a:r>
              <a:rPr dirty="0" err="1"/>
              <a:t>capítulo</a:t>
            </a:r>
            <a:r>
              <a:rPr dirty="0"/>
              <a:t> 3), thesis2_appendices(1).</a:t>
            </a:r>
            <a:r>
              <a:rPr dirty="0" err="1"/>
              <a:t>tex</a:t>
            </a:r>
            <a:r>
              <a:rPr dirty="0"/>
              <a:t> y thesis2_appendices.pdf. Los </a:t>
            </a:r>
            <a:r>
              <a:rPr dirty="0" err="1"/>
              <a:t>dictámenes</a:t>
            </a:r>
            <a:r>
              <a:rPr dirty="0"/>
              <a:t> de Adrián </a:t>
            </a:r>
            <a:r>
              <a:rPr dirty="0" err="1"/>
              <a:t>Rubli</a:t>
            </a:r>
            <a:r>
              <a:rPr dirty="0"/>
              <a:t> y Edwin van </a:t>
            </a:r>
            <a:r>
              <a:rPr dirty="0" err="1"/>
              <a:t>Gameren</a:t>
            </a:r>
            <a:r>
              <a:rPr dirty="0"/>
              <a:t> </a:t>
            </a:r>
            <a:r>
              <a:rPr dirty="0" err="1"/>
              <a:t>orientan</a:t>
            </a:r>
            <a:r>
              <a:rPr dirty="0"/>
              <a:t> la </a:t>
            </a:r>
            <a:r>
              <a:rPr dirty="0" err="1"/>
              <a:t>discusión</a:t>
            </a:r>
            <a:r>
              <a:rPr dirty="0"/>
              <a:t>.</a:t>
            </a:r>
          </a:p>
        </p:txBody>
      </p:sp>
      <p:sp>
        <p:nvSpPr>
          <p:cNvPr id="4" name="Slide Number Placeholder 3">
            <a:extLst>
              <a:ext uri="{FF2B5EF4-FFF2-40B4-BE49-F238E27FC236}">
                <a16:creationId xmlns:a16="http://schemas.microsoft.com/office/drawing/2014/main" id="{6942811A-D0F6-AEE6-8F3D-C05BF263D5E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48410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BBE15-2990-CFCA-3539-14D28797F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B3504-4167-09E6-9CEF-53F52216CF74}"/>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68F2CA76-65A6-510C-DDA7-9408728416EF}"/>
              </a:ext>
            </a:extLst>
          </p:cNvPr>
          <p:cNvSpPr>
            <a:spLocks noGrp="1"/>
          </p:cNvSpPr>
          <p:nvPr>
            <p:ph type="body" idx="1"/>
          </p:nvPr>
        </p:nvSpPr>
        <p:spPr/>
        <p:txBody>
          <a:bodyPr/>
          <a:lstStyle/>
          <a:p>
            <a:r>
              <a:rPr dirty="0"/>
              <a:t>1.5 </a:t>
            </a:r>
            <a:r>
              <a:rPr dirty="0" err="1"/>
              <a:t>minutos</a:t>
            </a:r>
            <a:r>
              <a:rPr dirty="0"/>
              <a:t>. Minuto 2.5 a 4</a:t>
            </a:r>
          </a:p>
          <a:p>
            <a:endParaRPr dirty="0"/>
          </a:p>
          <a:p>
            <a:r>
              <a:rPr dirty="0" err="1"/>
              <a:t>Presentar</a:t>
            </a:r>
            <a:r>
              <a:rPr dirty="0"/>
              <a:t> la </a:t>
            </a:r>
            <a:r>
              <a:rPr dirty="0" err="1"/>
              <a:t>secuencia</a:t>
            </a:r>
            <a:r>
              <a:rPr dirty="0"/>
              <a:t> de </a:t>
            </a:r>
            <a:r>
              <a:rPr dirty="0" err="1"/>
              <a:t>preguntas</a:t>
            </a:r>
            <a:r>
              <a:rPr dirty="0"/>
              <a:t>. El primer </a:t>
            </a:r>
            <a:r>
              <a:rPr dirty="0" err="1"/>
              <a:t>capítulo</a:t>
            </a:r>
            <a:r>
              <a:rPr dirty="0"/>
              <a:t> </a:t>
            </a:r>
            <a:r>
              <a:rPr dirty="0" err="1"/>
              <a:t>estudia</a:t>
            </a:r>
            <a:r>
              <a:rPr dirty="0"/>
              <a:t> </a:t>
            </a:r>
            <a:r>
              <a:rPr dirty="0" err="1"/>
              <a:t>una</a:t>
            </a:r>
            <a:r>
              <a:rPr dirty="0"/>
              <a:t> </a:t>
            </a:r>
            <a:r>
              <a:rPr dirty="0" err="1"/>
              <a:t>expansión</a:t>
            </a:r>
            <a:r>
              <a:rPr dirty="0"/>
              <a:t> de </a:t>
            </a:r>
            <a:r>
              <a:rPr dirty="0" err="1"/>
              <a:t>capacidad</a:t>
            </a:r>
            <a:r>
              <a:rPr dirty="0"/>
              <a:t> local y sus </a:t>
            </a:r>
            <a:r>
              <a:rPr dirty="0" err="1"/>
              <a:t>efectos</a:t>
            </a:r>
            <a:r>
              <a:rPr dirty="0"/>
              <a:t> </a:t>
            </a:r>
            <a:r>
              <a:rPr dirty="0" err="1"/>
              <a:t>en</a:t>
            </a:r>
            <a:r>
              <a:rPr dirty="0"/>
              <a:t> </a:t>
            </a:r>
            <a:r>
              <a:rPr dirty="0" err="1"/>
              <a:t>acceso</a:t>
            </a:r>
            <a:r>
              <a:rPr dirty="0"/>
              <a:t> y </a:t>
            </a:r>
            <a:r>
              <a:rPr dirty="0" err="1"/>
              <a:t>salud</a:t>
            </a:r>
            <a:r>
              <a:rPr dirty="0"/>
              <a:t> al </a:t>
            </a:r>
            <a:r>
              <a:rPr dirty="0" err="1"/>
              <a:t>nacimiento</a:t>
            </a:r>
            <a:r>
              <a:rPr dirty="0"/>
              <a:t>. El </a:t>
            </a:r>
            <a:r>
              <a:rPr dirty="0" err="1"/>
              <a:t>segundo</a:t>
            </a:r>
            <a:r>
              <a:rPr dirty="0"/>
              <a:t> </a:t>
            </a:r>
            <a:r>
              <a:rPr dirty="0" err="1"/>
              <a:t>pregunta</a:t>
            </a:r>
            <a:r>
              <a:rPr dirty="0"/>
              <a:t> </a:t>
            </a:r>
            <a:r>
              <a:rPr dirty="0" err="1"/>
              <a:t>si</a:t>
            </a:r>
            <a:r>
              <a:rPr dirty="0"/>
              <a:t> </a:t>
            </a:r>
            <a:r>
              <a:rPr dirty="0" err="1"/>
              <a:t>una</a:t>
            </a:r>
            <a:r>
              <a:rPr dirty="0"/>
              <a:t> </a:t>
            </a:r>
            <a:r>
              <a:rPr dirty="0" err="1"/>
              <a:t>transición</a:t>
            </a:r>
            <a:r>
              <a:rPr dirty="0"/>
              <a:t> </a:t>
            </a:r>
            <a:r>
              <a:rPr dirty="0" err="1"/>
              <a:t>institucional</a:t>
            </a:r>
            <a:r>
              <a:rPr dirty="0"/>
              <a:t> </a:t>
            </a:r>
            <a:r>
              <a:rPr dirty="0" err="1"/>
              <a:t>nacional</a:t>
            </a:r>
            <a:r>
              <a:rPr dirty="0"/>
              <a:t> </a:t>
            </a:r>
            <a:r>
              <a:rPr dirty="0" err="1"/>
              <a:t>modifica</a:t>
            </a:r>
            <a:r>
              <a:rPr dirty="0"/>
              <a:t> la </a:t>
            </a:r>
            <a:r>
              <a:rPr dirty="0" err="1"/>
              <a:t>salud</a:t>
            </a:r>
            <a:r>
              <a:rPr dirty="0"/>
              <a:t> de </a:t>
            </a:r>
            <a:r>
              <a:rPr dirty="0" err="1"/>
              <a:t>quienes</a:t>
            </a:r>
            <a:r>
              <a:rPr dirty="0"/>
              <a:t> </a:t>
            </a:r>
            <a:r>
              <a:rPr dirty="0" err="1"/>
              <a:t>vivían</a:t>
            </a:r>
            <a:r>
              <a:rPr dirty="0"/>
              <a:t> </a:t>
            </a:r>
            <a:r>
              <a:rPr dirty="0" err="1"/>
              <a:t>en</a:t>
            </a:r>
            <a:r>
              <a:rPr dirty="0"/>
              <a:t> municipios </a:t>
            </a:r>
            <a:r>
              <a:rPr dirty="0" err="1"/>
              <a:t>más</a:t>
            </a:r>
            <a:r>
              <a:rPr dirty="0"/>
              <a:t> </a:t>
            </a:r>
            <a:r>
              <a:rPr dirty="0" err="1"/>
              <a:t>dependientes</a:t>
            </a:r>
            <a:r>
              <a:rPr dirty="0"/>
              <a:t> del SP. El </a:t>
            </a:r>
            <a:r>
              <a:rPr dirty="0" err="1"/>
              <a:t>tercero</a:t>
            </a:r>
            <a:r>
              <a:rPr dirty="0"/>
              <a:t> </a:t>
            </a:r>
            <a:r>
              <a:rPr dirty="0" err="1"/>
              <a:t>observa</a:t>
            </a:r>
            <a:r>
              <a:rPr dirty="0"/>
              <a:t> </a:t>
            </a:r>
            <a:r>
              <a:rPr dirty="0" err="1"/>
              <a:t>si</a:t>
            </a:r>
            <a:r>
              <a:rPr dirty="0"/>
              <a:t> cambia el </a:t>
            </a:r>
            <a:r>
              <a:rPr dirty="0" err="1"/>
              <a:t>proveedor</a:t>
            </a:r>
            <a:r>
              <a:rPr dirty="0"/>
              <a:t> de </a:t>
            </a:r>
            <a:r>
              <a:rPr dirty="0" err="1"/>
              <a:t>atención</a:t>
            </a:r>
            <a:r>
              <a:rPr dirty="0"/>
              <a:t>. No se </a:t>
            </a:r>
            <a:r>
              <a:rPr dirty="0" err="1"/>
              <a:t>comparan</a:t>
            </a:r>
            <a:r>
              <a:rPr dirty="0"/>
              <a:t> </a:t>
            </a:r>
            <a:r>
              <a:rPr dirty="0" err="1"/>
              <a:t>directamente</a:t>
            </a:r>
            <a:r>
              <a:rPr dirty="0"/>
              <a:t> magnitudes </a:t>
            </a:r>
            <a:r>
              <a:rPr dirty="0" err="1"/>
              <a:t>causales</a:t>
            </a:r>
            <a:r>
              <a:rPr dirty="0"/>
              <a:t> entre </a:t>
            </a:r>
            <a:r>
              <a:rPr dirty="0" err="1"/>
              <a:t>capítulos</a:t>
            </a:r>
            <a:r>
              <a:rPr dirty="0"/>
              <a:t>: son </a:t>
            </a:r>
            <a:r>
              <a:rPr dirty="0" err="1"/>
              <a:t>intervenciones</a:t>
            </a:r>
            <a:r>
              <a:rPr dirty="0"/>
              <a:t>, </a:t>
            </a:r>
            <a:r>
              <a:rPr dirty="0" err="1"/>
              <a:t>muestras</a:t>
            </a:r>
            <a:r>
              <a:rPr dirty="0"/>
              <a:t> y </a:t>
            </a:r>
            <a:r>
              <a:rPr dirty="0" err="1"/>
              <a:t>periodos</a:t>
            </a:r>
            <a:r>
              <a:rPr dirty="0"/>
              <a:t> </a:t>
            </a:r>
            <a:r>
              <a:rPr dirty="0" err="1"/>
              <a:t>distintos</a:t>
            </a:r>
            <a:r>
              <a:rPr dirty="0"/>
              <a:t>. </a:t>
            </a:r>
            <a:r>
              <a:rPr dirty="0" err="1"/>
              <a:t>Introducir</a:t>
            </a:r>
            <a:r>
              <a:rPr dirty="0"/>
              <a:t> las </a:t>
            </a:r>
            <a:r>
              <a:rPr dirty="0" err="1"/>
              <a:t>fuentes</a:t>
            </a:r>
            <a:r>
              <a:rPr dirty="0"/>
              <a:t> </a:t>
            </a:r>
            <a:r>
              <a:rPr dirty="0" err="1"/>
              <a:t>comunes</a:t>
            </a:r>
            <a:r>
              <a:rPr dirty="0"/>
              <a:t> </a:t>
            </a:r>
            <a:r>
              <a:rPr dirty="0" err="1"/>
              <a:t>una</a:t>
            </a:r>
            <a:r>
              <a:rPr dirty="0"/>
              <a:t> sola </a:t>
            </a:r>
            <a:r>
              <a:rPr dirty="0" err="1"/>
              <a:t>vez</a:t>
            </a:r>
            <a:r>
              <a:rPr dirty="0"/>
              <a:t>: SINAC </a:t>
            </a:r>
            <a:r>
              <a:rPr dirty="0" err="1"/>
              <a:t>aporta</a:t>
            </a:r>
            <a:r>
              <a:rPr dirty="0"/>
              <a:t> </a:t>
            </a:r>
            <a:r>
              <a:rPr dirty="0" err="1"/>
              <a:t>registros</a:t>
            </a:r>
            <a:r>
              <a:rPr dirty="0"/>
              <a:t> de </a:t>
            </a:r>
            <a:r>
              <a:rPr dirty="0" err="1"/>
              <a:t>nacimientos</a:t>
            </a:r>
            <a:r>
              <a:rPr dirty="0"/>
              <a:t> y </a:t>
            </a:r>
            <a:r>
              <a:rPr dirty="0" err="1"/>
              <a:t>características</a:t>
            </a:r>
            <a:r>
              <a:rPr dirty="0"/>
              <a:t> </a:t>
            </a:r>
            <a:r>
              <a:rPr dirty="0" err="1"/>
              <a:t>maternas</a:t>
            </a:r>
            <a:r>
              <a:rPr dirty="0"/>
              <a:t>; CLUES </a:t>
            </a:r>
            <a:r>
              <a:rPr dirty="0" err="1"/>
              <a:t>identifica</a:t>
            </a:r>
            <a:r>
              <a:rPr dirty="0"/>
              <a:t> </a:t>
            </a:r>
            <a:r>
              <a:rPr dirty="0" err="1"/>
              <a:t>establecimientos</a:t>
            </a:r>
            <a:r>
              <a:rPr dirty="0"/>
              <a:t>; INEGI </a:t>
            </a:r>
            <a:r>
              <a:rPr dirty="0" err="1"/>
              <a:t>aporta</a:t>
            </a:r>
            <a:r>
              <a:rPr dirty="0"/>
              <a:t> </a:t>
            </a:r>
            <a:r>
              <a:rPr dirty="0" err="1"/>
              <a:t>defunciones</a:t>
            </a:r>
            <a:r>
              <a:rPr dirty="0"/>
              <a:t>. La </a:t>
            </a:r>
            <a:r>
              <a:rPr dirty="0" err="1"/>
              <a:t>contribución</a:t>
            </a:r>
            <a:r>
              <a:rPr dirty="0"/>
              <a:t> </a:t>
            </a:r>
            <a:r>
              <a:rPr dirty="0" err="1"/>
              <a:t>conjunta</a:t>
            </a:r>
            <a:r>
              <a:rPr dirty="0"/>
              <a:t> </a:t>
            </a:r>
            <a:r>
              <a:rPr dirty="0" err="1"/>
              <a:t>consiste</a:t>
            </a:r>
            <a:r>
              <a:rPr dirty="0"/>
              <a:t> </a:t>
            </a:r>
            <a:r>
              <a:rPr dirty="0" err="1"/>
              <a:t>en</a:t>
            </a:r>
            <a:r>
              <a:rPr dirty="0"/>
              <a:t> </a:t>
            </a:r>
            <a:r>
              <a:rPr dirty="0" err="1"/>
              <a:t>estudiar</a:t>
            </a:r>
            <a:r>
              <a:rPr dirty="0"/>
              <a:t> </a:t>
            </a:r>
            <a:r>
              <a:rPr dirty="0" err="1"/>
              <a:t>resultados</a:t>
            </a:r>
            <a:r>
              <a:rPr dirty="0"/>
              <a:t> de </a:t>
            </a:r>
            <a:r>
              <a:rPr dirty="0" err="1"/>
              <a:t>salud</a:t>
            </a:r>
            <a:r>
              <a:rPr dirty="0"/>
              <a:t> y </a:t>
            </a:r>
            <a:r>
              <a:rPr dirty="0" err="1"/>
              <a:t>utilización</a:t>
            </a:r>
            <a:r>
              <a:rPr dirty="0"/>
              <a:t> </a:t>
            </a:r>
            <a:r>
              <a:rPr dirty="0" err="1"/>
              <a:t>dentro</a:t>
            </a:r>
            <a:r>
              <a:rPr dirty="0"/>
              <a:t> de un </a:t>
            </a:r>
            <a:r>
              <a:rPr dirty="0" err="1"/>
              <a:t>sistema</a:t>
            </a:r>
            <a:r>
              <a:rPr dirty="0"/>
              <a:t> </a:t>
            </a:r>
            <a:r>
              <a:rPr dirty="0" err="1"/>
              <a:t>fragmentado</a:t>
            </a:r>
            <a:r>
              <a:rPr dirty="0"/>
              <a:t>.</a:t>
            </a:r>
          </a:p>
          <a:p>
            <a:endParaRPr dirty="0"/>
          </a:p>
          <a:p>
            <a:r>
              <a:rPr dirty="0"/>
              <a:t>FUENTE: </a:t>
            </a:r>
            <a:r>
              <a:rPr dirty="0" err="1"/>
              <a:t>Introducción</a:t>
            </a:r>
            <a:r>
              <a:rPr dirty="0"/>
              <a:t> y </a:t>
            </a:r>
            <a:r>
              <a:rPr dirty="0" err="1"/>
              <a:t>conclusiones</a:t>
            </a:r>
            <a:r>
              <a:rPr dirty="0"/>
              <a:t> </a:t>
            </a:r>
            <a:r>
              <a:rPr dirty="0" err="1"/>
              <a:t>generales</a:t>
            </a:r>
            <a:r>
              <a:rPr dirty="0"/>
              <a:t> de la </a:t>
            </a:r>
            <a:r>
              <a:rPr dirty="0" err="1"/>
              <a:t>tesis</a:t>
            </a:r>
            <a:r>
              <a:rPr dirty="0"/>
              <a:t>. </a:t>
            </a:r>
            <a:r>
              <a:rPr dirty="0" err="1"/>
              <a:t>Documentos</a:t>
            </a:r>
            <a:r>
              <a:rPr dirty="0"/>
              <a:t> </a:t>
            </a:r>
            <a:r>
              <a:rPr dirty="0" err="1"/>
              <a:t>proporcionados</a:t>
            </a:r>
            <a:r>
              <a:rPr dirty="0"/>
              <a:t> </a:t>
            </a:r>
            <a:r>
              <a:rPr dirty="0" err="1"/>
              <a:t>por</a:t>
            </a:r>
            <a:r>
              <a:rPr dirty="0"/>
              <a:t> el </a:t>
            </a:r>
            <a:r>
              <a:rPr dirty="0" err="1"/>
              <a:t>autor</a:t>
            </a:r>
            <a:r>
              <a:rPr dirty="0"/>
              <a:t>: paper03.tex (</a:t>
            </a:r>
            <a:r>
              <a:rPr dirty="0" err="1"/>
              <a:t>capítulo</a:t>
            </a:r>
            <a:r>
              <a:rPr dirty="0"/>
              <a:t> 1), paper01.tex (</a:t>
            </a:r>
            <a:r>
              <a:rPr dirty="0" err="1"/>
              <a:t>capítulo</a:t>
            </a:r>
            <a:r>
              <a:rPr dirty="0"/>
              <a:t> 2), paper02.tex (</a:t>
            </a:r>
            <a:r>
              <a:rPr dirty="0" err="1"/>
              <a:t>capítulo</a:t>
            </a:r>
            <a:r>
              <a:rPr dirty="0"/>
              <a:t> 3), thesis2_appendices(1).</a:t>
            </a:r>
            <a:r>
              <a:rPr dirty="0" err="1"/>
              <a:t>tex</a:t>
            </a:r>
            <a:r>
              <a:rPr dirty="0"/>
              <a:t> y thesis2_appendices.pdf. Los </a:t>
            </a:r>
            <a:r>
              <a:rPr dirty="0" err="1"/>
              <a:t>dictámenes</a:t>
            </a:r>
            <a:r>
              <a:rPr dirty="0"/>
              <a:t> de Adrián </a:t>
            </a:r>
            <a:r>
              <a:rPr dirty="0" err="1"/>
              <a:t>Rubli</a:t>
            </a:r>
            <a:r>
              <a:rPr dirty="0"/>
              <a:t> y Edwin van </a:t>
            </a:r>
            <a:r>
              <a:rPr dirty="0" err="1"/>
              <a:t>Gameren</a:t>
            </a:r>
            <a:r>
              <a:rPr dirty="0"/>
              <a:t> </a:t>
            </a:r>
            <a:r>
              <a:rPr dirty="0" err="1"/>
              <a:t>orientan</a:t>
            </a:r>
            <a:r>
              <a:rPr dirty="0"/>
              <a:t> la </a:t>
            </a:r>
            <a:r>
              <a:rPr dirty="0" err="1"/>
              <a:t>discusión</a:t>
            </a:r>
            <a:r>
              <a:rPr dirty="0"/>
              <a:t>.</a:t>
            </a:r>
          </a:p>
        </p:txBody>
      </p:sp>
      <p:sp>
        <p:nvSpPr>
          <p:cNvPr id="4" name="Slide Number Placeholder 3">
            <a:extLst>
              <a:ext uri="{FF2B5EF4-FFF2-40B4-BE49-F238E27FC236}">
                <a16:creationId xmlns:a16="http://schemas.microsoft.com/office/drawing/2014/main" id="{D6C176C5-45E7-0685-574C-1FE0FAE2449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17364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A4E64-7939-DDA7-4748-2EA7F6A0C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CE819-CACB-48F6-7694-F7381863827D}"/>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EEE4BB37-44B1-AC2B-5A1C-8C822F3EFB9A}"/>
              </a:ext>
            </a:extLst>
          </p:cNvPr>
          <p:cNvSpPr>
            <a:spLocks noGrp="1"/>
          </p:cNvSpPr>
          <p:nvPr>
            <p:ph type="body" idx="1"/>
          </p:nvPr>
        </p:nvSpPr>
        <p:spPr/>
        <p:txBody>
          <a:bodyPr/>
          <a:lstStyle/>
          <a:p>
            <a:r>
              <a:rPr dirty="0"/>
              <a:t>1 </a:t>
            </a:r>
            <a:r>
              <a:rPr dirty="0" err="1"/>
              <a:t>minutos</a:t>
            </a:r>
            <a:r>
              <a:rPr dirty="0"/>
              <a:t>. Minuto 0 a 1</a:t>
            </a:r>
          </a:p>
          <a:p>
            <a:endParaRPr dirty="0"/>
          </a:p>
          <a:p>
            <a:r>
              <a:rPr dirty="0" err="1"/>
              <a:t>Abrir</a:t>
            </a:r>
            <a:r>
              <a:rPr dirty="0"/>
              <a:t> con la </a:t>
            </a:r>
            <a:r>
              <a:rPr dirty="0" err="1"/>
              <a:t>pregunta</a:t>
            </a:r>
            <a:r>
              <a:rPr dirty="0"/>
              <a:t>: ¿</a:t>
            </a:r>
            <a:r>
              <a:rPr dirty="0" err="1"/>
              <a:t>cómo</a:t>
            </a:r>
            <a:r>
              <a:rPr dirty="0"/>
              <a:t> se </a:t>
            </a:r>
            <a:r>
              <a:rPr dirty="0" err="1"/>
              <a:t>traducen</a:t>
            </a:r>
            <a:r>
              <a:rPr dirty="0"/>
              <a:t> </a:t>
            </a:r>
            <a:r>
              <a:rPr dirty="0" err="1"/>
              <a:t>los</a:t>
            </a:r>
            <a:r>
              <a:rPr dirty="0"/>
              <a:t> </a:t>
            </a:r>
            <a:r>
              <a:rPr dirty="0" err="1"/>
              <a:t>cambios</a:t>
            </a:r>
            <a:r>
              <a:rPr dirty="0"/>
              <a:t> </a:t>
            </a:r>
            <a:r>
              <a:rPr dirty="0" err="1"/>
              <a:t>en</a:t>
            </a:r>
            <a:r>
              <a:rPr dirty="0"/>
              <a:t> la </a:t>
            </a:r>
            <a:r>
              <a:rPr dirty="0" err="1"/>
              <a:t>capacidad</a:t>
            </a:r>
            <a:r>
              <a:rPr dirty="0"/>
              <a:t> </a:t>
            </a:r>
            <a:r>
              <a:rPr dirty="0" err="1"/>
              <a:t>hospitalaria</a:t>
            </a:r>
            <a:r>
              <a:rPr dirty="0"/>
              <a:t> y </a:t>
            </a:r>
            <a:r>
              <a:rPr dirty="0" err="1"/>
              <a:t>en</a:t>
            </a:r>
            <a:r>
              <a:rPr dirty="0"/>
              <a:t> la </a:t>
            </a:r>
            <a:r>
              <a:rPr dirty="0" err="1"/>
              <a:t>organización</a:t>
            </a:r>
            <a:r>
              <a:rPr dirty="0"/>
              <a:t> de </a:t>
            </a:r>
            <a:r>
              <a:rPr dirty="0" err="1"/>
              <a:t>los</a:t>
            </a:r>
            <a:r>
              <a:rPr dirty="0"/>
              <a:t> </a:t>
            </a:r>
            <a:r>
              <a:rPr dirty="0" err="1"/>
              <a:t>servicios</a:t>
            </a:r>
            <a:r>
              <a:rPr dirty="0"/>
              <a:t> </a:t>
            </a:r>
            <a:r>
              <a:rPr dirty="0" err="1"/>
              <a:t>en</a:t>
            </a:r>
            <a:r>
              <a:rPr dirty="0"/>
              <a:t> </a:t>
            </a:r>
            <a:r>
              <a:rPr dirty="0" err="1"/>
              <a:t>acceso</a:t>
            </a:r>
            <a:r>
              <a:rPr dirty="0"/>
              <a:t> </a:t>
            </a:r>
            <a:r>
              <a:rPr dirty="0" err="1"/>
              <a:t>efectivo</a:t>
            </a:r>
            <a:r>
              <a:rPr dirty="0"/>
              <a:t> y </a:t>
            </a:r>
            <a:r>
              <a:rPr dirty="0" err="1"/>
              <a:t>salud</a:t>
            </a:r>
            <a:r>
              <a:rPr dirty="0"/>
              <a:t> al </a:t>
            </a:r>
            <a:r>
              <a:rPr dirty="0" err="1"/>
              <a:t>nacer</a:t>
            </a:r>
            <a:r>
              <a:rPr dirty="0"/>
              <a:t>? La </a:t>
            </a:r>
            <a:r>
              <a:rPr dirty="0" err="1"/>
              <a:t>tesis</a:t>
            </a:r>
            <a:r>
              <a:rPr dirty="0"/>
              <a:t> </a:t>
            </a:r>
            <a:r>
              <a:rPr dirty="0" err="1"/>
              <a:t>estudia</a:t>
            </a:r>
            <a:r>
              <a:rPr dirty="0"/>
              <a:t> dos </a:t>
            </a:r>
            <a:r>
              <a:rPr dirty="0" err="1"/>
              <a:t>cambios</a:t>
            </a:r>
            <a:r>
              <a:rPr dirty="0"/>
              <a:t> </a:t>
            </a:r>
            <a:r>
              <a:rPr dirty="0" err="1"/>
              <a:t>institucionales</a:t>
            </a:r>
            <a:r>
              <a:rPr dirty="0"/>
              <a:t> </a:t>
            </a:r>
            <a:r>
              <a:rPr dirty="0" err="1"/>
              <a:t>en</a:t>
            </a:r>
            <a:r>
              <a:rPr dirty="0"/>
              <a:t> México y </a:t>
            </a:r>
            <a:r>
              <a:rPr dirty="0" err="1"/>
              <a:t>tres</a:t>
            </a:r>
            <a:r>
              <a:rPr dirty="0"/>
              <a:t> conjuntos de </a:t>
            </a:r>
            <a:r>
              <a:rPr dirty="0" err="1"/>
              <a:t>resultados</a:t>
            </a:r>
            <a:r>
              <a:rPr dirty="0"/>
              <a:t>. Primero, la </a:t>
            </a:r>
            <a:r>
              <a:rPr dirty="0" err="1"/>
              <a:t>llegada</a:t>
            </a:r>
            <a:r>
              <a:rPr dirty="0"/>
              <a:t> de </a:t>
            </a:r>
            <a:r>
              <a:rPr dirty="0" err="1"/>
              <a:t>hospitales</a:t>
            </a:r>
            <a:r>
              <a:rPr dirty="0"/>
              <a:t> </a:t>
            </a:r>
            <a:r>
              <a:rPr dirty="0" err="1"/>
              <a:t>comunitarios</a:t>
            </a:r>
            <a:r>
              <a:rPr dirty="0"/>
              <a:t>. </a:t>
            </a:r>
            <a:r>
              <a:rPr dirty="0" err="1"/>
              <a:t>Después</a:t>
            </a:r>
            <a:r>
              <a:rPr dirty="0"/>
              <a:t>, la </a:t>
            </a:r>
            <a:r>
              <a:rPr dirty="0" err="1"/>
              <a:t>eliminación</a:t>
            </a:r>
            <a:r>
              <a:rPr dirty="0"/>
              <a:t> de Seguro Popular y </a:t>
            </a:r>
            <a:r>
              <a:rPr dirty="0" err="1"/>
              <a:t>su</a:t>
            </a:r>
            <a:r>
              <a:rPr dirty="0"/>
              <a:t> </a:t>
            </a:r>
            <a:r>
              <a:rPr dirty="0" err="1"/>
              <a:t>reemplazo</a:t>
            </a:r>
            <a:r>
              <a:rPr dirty="0"/>
              <a:t> </a:t>
            </a:r>
            <a:r>
              <a:rPr dirty="0" err="1"/>
              <a:t>por</a:t>
            </a:r>
            <a:r>
              <a:rPr dirty="0"/>
              <a:t> INSABI, </a:t>
            </a:r>
            <a:r>
              <a:rPr dirty="0" err="1"/>
              <a:t>observando</a:t>
            </a:r>
            <a:r>
              <a:rPr dirty="0"/>
              <a:t> tanto </a:t>
            </a:r>
            <a:r>
              <a:rPr dirty="0" err="1"/>
              <a:t>salud</a:t>
            </a:r>
            <a:r>
              <a:rPr dirty="0"/>
              <a:t> </a:t>
            </a:r>
            <a:r>
              <a:rPr dirty="0" err="1"/>
              <a:t>como</a:t>
            </a:r>
            <a:r>
              <a:rPr dirty="0"/>
              <a:t> </a:t>
            </a:r>
            <a:r>
              <a:rPr dirty="0" err="1"/>
              <a:t>distribución</a:t>
            </a:r>
            <a:r>
              <a:rPr dirty="0"/>
              <a:t> de la </a:t>
            </a:r>
            <a:r>
              <a:rPr dirty="0" err="1"/>
              <a:t>atención</a:t>
            </a:r>
            <a:r>
              <a:rPr dirty="0"/>
              <a:t>. La idea </a:t>
            </a:r>
            <a:r>
              <a:rPr dirty="0" err="1"/>
              <a:t>que</a:t>
            </a:r>
            <a:r>
              <a:rPr dirty="0"/>
              <a:t> </a:t>
            </a:r>
            <a:r>
              <a:rPr dirty="0" err="1"/>
              <a:t>conecta</a:t>
            </a:r>
            <a:r>
              <a:rPr dirty="0"/>
              <a:t> </a:t>
            </a:r>
            <a:r>
              <a:rPr dirty="0" err="1"/>
              <a:t>los</a:t>
            </a:r>
            <a:r>
              <a:rPr dirty="0"/>
              <a:t> </a:t>
            </a:r>
            <a:r>
              <a:rPr dirty="0" err="1"/>
              <a:t>capítulos</a:t>
            </a:r>
            <a:r>
              <a:rPr dirty="0"/>
              <a:t> es </a:t>
            </a:r>
            <a:r>
              <a:rPr dirty="0" err="1"/>
              <a:t>que</a:t>
            </a:r>
            <a:r>
              <a:rPr dirty="0"/>
              <a:t> la </a:t>
            </a:r>
            <a:r>
              <a:rPr dirty="0" err="1"/>
              <a:t>cobertura</a:t>
            </a:r>
            <a:r>
              <a:rPr dirty="0"/>
              <a:t> </a:t>
            </a:r>
            <a:r>
              <a:rPr dirty="0" err="1"/>
              <a:t>financiera</a:t>
            </a:r>
            <a:r>
              <a:rPr dirty="0"/>
              <a:t> opera </a:t>
            </a:r>
            <a:r>
              <a:rPr dirty="0" err="1"/>
              <a:t>mediante</a:t>
            </a:r>
            <a:r>
              <a:rPr dirty="0"/>
              <a:t> </a:t>
            </a:r>
            <a:r>
              <a:rPr dirty="0" err="1"/>
              <a:t>proveedores</a:t>
            </a:r>
            <a:r>
              <a:rPr dirty="0"/>
              <a:t> </a:t>
            </a:r>
            <a:r>
              <a:rPr dirty="0" err="1"/>
              <a:t>concretos</a:t>
            </a:r>
            <a:r>
              <a:rPr dirty="0"/>
              <a:t>, con </a:t>
            </a:r>
            <a:r>
              <a:rPr dirty="0" err="1"/>
              <a:t>capacidades</a:t>
            </a:r>
            <a:r>
              <a:rPr dirty="0"/>
              <a:t> y barreras </a:t>
            </a:r>
            <a:r>
              <a:rPr dirty="0" err="1"/>
              <a:t>geográficas</a:t>
            </a:r>
            <a:r>
              <a:rPr dirty="0"/>
              <a:t> </a:t>
            </a:r>
            <a:r>
              <a:rPr dirty="0" err="1"/>
              <a:t>distintas</a:t>
            </a:r>
            <a:r>
              <a:rPr dirty="0"/>
              <a:t>. El </a:t>
            </a:r>
            <a:r>
              <a:rPr dirty="0" err="1"/>
              <a:t>título</a:t>
            </a:r>
            <a:r>
              <a:rPr dirty="0"/>
              <a:t> formal de la </a:t>
            </a:r>
            <a:r>
              <a:rPr dirty="0" err="1"/>
              <a:t>tesis</a:t>
            </a:r>
            <a:r>
              <a:rPr dirty="0"/>
              <a:t> es Three Essays on the Economics of Health. El </a:t>
            </a:r>
            <a:r>
              <a:rPr dirty="0" err="1"/>
              <a:t>título</a:t>
            </a:r>
            <a:r>
              <a:rPr dirty="0"/>
              <a:t> visible </a:t>
            </a:r>
            <a:r>
              <a:rPr dirty="0" err="1"/>
              <a:t>organiza</a:t>
            </a:r>
            <a:r>
              <a:rPr dirty="0"/>
              <a:t> la </a:t>
            </a:r>
            <a:r>
              <a:rPr dirty="0" err="1"/>
              <a:t>exposición</a:t>
            </a:r>
            <a:r>
              <a:rPr dirty="0"/>
              <a:t>.</a:t>
            </a:r>
          </a:p>
          <a:p>
            <a:endParaRPr dirty="0"/>
          </a:p>
          <a:p>
            <a:r>
              <a:rPr dirty="0"/>
              <a:t>FUENTE: El Colegio de México. </a:t>
            </a:r>
            <a:r>
              <a:rPr dirty="0" err="1"/>
              <a:t>Doctorado</a:t>
            </a:r>
            <a:r>
              <a:rPr dirty="0"/>
              <a:t> </a:t>
            </a:r>
            <a:r>
              <a:rPr dirty="0" err="1"/>
              <a:t>en</a:t>
            </a:r>
            <a:r>
              <a:rPr dirty="0"/>
              <a:t> Economía. </a:t>
            </a:r>
            <a:r>
              <a:rPr dirty="0" err="1"/>
              <a:t>Documentos</a:t>
            </a:r>
            <a:r>
              <a:rPr dirty="0"/>
              <a:t> </a:t>
            </a:r>
            <a:r>
              <a:rPr dirty="0" err="1"/>
              <a:t>proporcionados</a:t>
            </a:r>
            <a:r>
              <a:rPr dirty="0"/>
              <a:t> </a:t>
            </a:r>
            <a:r>
              <a:rPr dirty="0" err="1"/>
              <a:t>por</a:t>
            </a:r>
            <a:r>
              <a:rPr dirty="0"/>
              <a:t> el </a:t>
            </a:r>
            <a:r>
              <a:rPr dirty="0" err="1"/>
              <a:t>autor</a:t>
            </a:r>
            <a:r>
              <a:rPr dirty="0"/>
              <a:t>: paper03.tex (</a:t>
            </a:r>
            <a:r>
              <a:rPr dirty="0" err="1"/>
              <a:t>capítulo</a:t>
            </a:r>
            <a:r>
              <a:rPr dirty="0"/>
              <a:t> 1), paper01.tex (</a:t>
            </a:r>
            <a:r>
              <a:rPr dirty="0" err="1"/>
              <a:t>capítulo</a:t>
            </a:r>
            <a:r>
              <a:rPr dirty="0"/>
              <a:t> 2), paper02.tex (</a:t>
            </a:r>
            <a:r>
              <a:rPr dirty="0" err="1"/>
              <a:t>capítulo</a:t>
            </a:r>
            <a:r>
              <a:rPr dirty="0"/>
              <a:t> 3), thesis2_appendices(1).</a:t>
            </a:r>
            <a:r>
              <a:rPr dirty="0" err="1"/>
              <a:t>tex</a:t>
            </a:r>
            <a:r>
              <a:rPr dirty="0"/>
              <a:t> y thesis2_appendices.pdf. Los </a:t>
            </a:r>
            <a:r>
              <a:rPr dirty="0" err="1"/>
              <a:t>dictámenes</a:t>
            </a:r>
            <a:r>
              <a:rPr dirty="0"/>
              <a:t> de Adrián </a:t>
            </a:r>
            <a:r>
              <a:rPr dirty="0" err="1"/>
              <a:t>Rubli</a:t>
            </a:r>
            <a:r>
              <a:rPr dirty="0"/>
              <a:t> y Edwin van </a:t>
            </a:r>
            <a:r>
              <a:rPr dirty="0" err="1"/>
              <a:t>Gameren</a:t>
            </a:r>
            <a:r>
              <a:rPr dirty="0"/>
              <a:t> </a:t>
            </a:r>
            <a:r>
              <a:rPr dirty="0" err="1"/>
              <a:t>orientan</a:t>
            </a:r>
            <a:r>
              <a:rPr dirty="0"/>
              <a:t> la </a:t>
            </a:r>
            <a:r>
              <a:rPr dirty="0" err="1"/>
              <a:t>discusión</a:t>
            </a:r>
            <a:r>
              <a:rPr dirty="0"/>
              <a:t>.</a:t>
            </a:r>
          </a:p>
        </p:txBody>
      </p:sp>
      <p:sp>
        <p:nvSpPr>
          <p:cNvPr id="4" name="Slide Number Placeholder 3">
            <a:extLst>
              <a:ext uri="{FF2B5EF4-FFF2-40B4-BE49-F238E27FC236}">
                <a16:creationId xmlns:a16="http://schemas.microsoft.com/office/drawing/2014/main" id="{35E31384-B4A4-F9A6-0AB5-8CEAEC5F237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93583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CD304-F77A-BEEF-038D-DF2D07421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62D2D-46EC-E9D1-FB89-678A0261CA1E}"/>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12E7E23D-95B8-4990-445B-7222D762E949}"/>
              </a:ext>
            </a:extLst>
          </p:cNvPr>
          <p:cNvSpPr>
            <a:spLocks noGrp="1"/>
          </p:cNvSpPr>
          <p:nvPr>
            <p:ph type="body" idx="1"/>
          </p:nvPr>
        </p:nvSpPr>
        <p:spPr/>
        <p:txBody>
          <a:bodyPr/>
          <a:lstStyle/>
          <a:p>
            <a:r>
              <a:rPr dirty="0"/>
              <a:t>1 </a:t>
            </a:r>
            <a:r>
              <a:rPr dirty="0" err="1"/>
              <a:t>minutos</a:t>
            </a:r>
            <a:r>
              <a:rPr dirty="0"/>
              <a:t>. Minuto 0 a 1</a:t>
            </a:r>
          </a:p>
          <a:p>
            <a:endParaRPr dirty="0"/>
          </a:p>
          <a:p>
            <a:r>
              <a:rPr dirty="0" err="1"/>
              <a:t>Abrir</a:t>
            </a:r>
            <a:r>
              <a:rPr dirty="0"/>
              <a:t> con la </a:t>
            </a:r>
            <a:r>
              <a:rPr dirty="0" err="1"/>
              <a:t>pregunta</a:t>
            </a:r>
            <a:r>
              <a:rPr dirty="0"/>
              <a:t>: ¿</a:t>
            </a:r>
            <a:r>
              <a:rPr dirty="0" err="1"/>
              <a:t>cómo</a:t>
            </a:r>
            <a:r>
              <a:rPr dirty="0"/>
              <a:t> se </a:t>
            </a:r>
            <a:r>
              <a:rPr dirty="0" err="1"/>
              <a:t>traducen</a:t>
            </a:r>
            <a:r>
              <a:rPr dirty="0"/>
              <a:t> </a:t>
            </a:r>
            <a:r>
              <a:rPr dirty="0" err="1"/>
              <a:t>los</a:t>
            </a:r>
            <a:r>
              <a:rPr dirty="0"/>
              <a:t> </a:t>
            </a:r>
            <a:r>
              <a:rPr dirty="0" err="1"/>
              <a:t>cambios</a:t>
            </a:r>
            <a:r>
              <a:rPr dirty="0"/>
              <a:t> </a:t>
            </a:r>
            <a:r>
              <a:rPr dirty="0" err="1"/>
              <a:t>en</a:t>
            </a:r>
            <a:r>
              <a:rPr dirty="0"/>
              <a:t> la </a:t>
            </a:r>
            <a:r>
              <a:rPr dirty="0" err="1"/>
              <a:t>capacidad</a:t>
            </a:r>
            <a:r>
              <a:rPr dirty="0"/>
              <a:t> </a:t>
            </a:r>
            <a:r>
              <a:rPr dirty="0" err="1"/>
              <a:t>hospitalaria</a:t>
            </a:r>
            <a:r>
              <a:rPr dirty="0"/>
              <a:t> y </a:t>
            </a:r>
            <a:r>
              <a:rPr dirty="0" err="1"/>
              <a:t>en</a:t>
            </a:r>
            <a:r>
              <a:rPr dirty="0"/>
              <a:t> la </a:t>
            </a:r>
            <a:r>
              <a:rPr dirty="0" err="1"/>
              <a:t>organización</a:t>
            </a:r>
            <a:r>
              <a:rPr dirty="0"/>
              <a:t> de </a:t>
            </a:r>
            <a:r>
              <a:rPr dirty="0" err="1"/>
              <a:t>los</a:t>
            </a:r>
            <a:r>
              <a:rPr dirty="0"/>
              <a:t> </a:t>
            </a:r>
            <a:r>
              <a:rPr dirty="0" err="1"/>
              <a:t>servicios</a:t>
            </a:r>
            <a:r>
              <a:rPr dirty="0"/>
              <a:t> </a:t>
            </a:r>
            <a:r>
              <a:rPr dirty="0" err="1"/>
              <a:t>en</a:t>
            </a:r>
            <a:r>
              <a:rPr dirty="0"/>
              <a:t> </a:t>
            </a:r>
            <a:r>
              <a:rPr dirty="0" err="1"/>
              <a:t>acceso</a:t>
            </a:r>
            <a:r>
              <a:rPr dirty="0"/>
              <a:t> </a:t>
            </a:r>
            <a:r>
              <a:rPr dirty="0" err="1"/>
              <a:t>efectivo</a:t>
            </a:r>
            <a:r>
              <a:rPr dirty="0"/>
              <a:t> y </a:t>
            </a:r>
            <a:r>
              <a:rPr dirty="0" err="1"/>
              <a:t>salud</a:t>
            </a:r>
            <a:r>
              <a:rPr dirty="0"/>
              <a:t> al </a:t>
            </a:r>
            <a:r>
              <a:rPr dirty="0" err="1"/>
              <a:t>nacer</a:t>
            </a:r>
            <a:r>
              <a:rPr dirty="0"/>
              <a:t>? La </a:t>
            </a:r>
            <a:r>
              <a:rPr dirty="0" err="1"/>
              <a:t>tesis</a:t>
            </a:r>
            <a:r>
              <a:rPr dirty="0"/>
              <a:t> </a:t>
            </a:r>
            <a:r>
              <a:rPr dirty="0" err="1"/>
              <a:t>estudia</a:t>
            </a:r>
            <a:r>
              <a:rPr dirty="0"/>
              <a:t> dos </a:t>
            </a:r>
            <a:r>
              <a:rPr dirty="0" err="1"/>
              <a:t>cambios</a:t>
            </a:r>
            <a:r>
              <a:rPr dirty="0"/>
              <a:t> </a:t>
            </a:r>
            <a:r>
              <a:rPr dirty="0" err="1"/>
              <a:t>institucionales</a:t>
            </a:r>
            <a:r>
              <a:rPr dirty="0"/>
              <a:t> </a:t>
            </a:r>
            <a:r>
              <a:rPr dirty="0" err="1"/>
              <a:t>en</a:t>
            </a:r>
            <a:r>
              <a:rPr dirty="0"/>
              <a:t> México y </a:t>
            </a:r>
            <a:r>
              <a:rPr dirty="0" err="1"/>
              <a:t>tres</a:t>
            </a:r>
            <a:r>
              <a:rPr dirty="0"/>
              <a:t> conjuntos de </a:t>
            </a:r>
            <a:r>
              <a:rPr dirty="0" err="1"/>
              <a:t>resultados</a:t>
            </a:r>
            <a:r>
              <a:rPr dirty="0"/>
              <a:t>. Primero, la </a:t>
            </a:r>
            <a:r>
              <a:rPr dirty="0" err="1"/>
              <a:t>llegada</a:t>
            </a:r>
            <a:r>
              <a:rPr dirty="0"/>
              <a:t> de </a:t>
            </a:r>
            <a:r>
              <a:rPr dirty="0" err="1"/>
              <a:t>hospitales</a:t>
            </a:r>
            <a:r>
              <a:rPr dirty="0"/>
              <a:t> </a:t>
            </a:r>
            <a:r>
              <a:rPr dirty="0" err="1"/>
              <a:t>comunitarios</a:t>
            </a:r>
            <a:r>
              <a:rPr dirty="0"/>
              <a:t>. </a:t>
            </a:r>
            <a:r>
              <a:rPr dirty="0" err="1"/>
              <a:t>Después</a:t>
            </a:r>
            <a:r>
              <a:rPr dirty="0"/>
              <a:t>, la </a:t>
            </a:r>
            <a:r>
              <a:rPr dirty="0" err="1"/>
              <a:t>eliminación</a:t>
            </a:r>
            <a:r>
              <a:rPr dirty="0"/>
              <a:t> de Seguro Popular y </a:t>
            </a:r>
            <a:r>
              <a:rPr dirty="0" err="1"/>
              <a:t>su</a:t>
            </a:r>
            <a:r>
              <a:rPr dirty="0"/>
              <a:t> </a:t>
            </a:r>
            <a:r>
              <a:rPr dirty="0" err="1"/>
              <a:t>reemplazo</a:t>
            </a:r>
            <a:r>
              <a:rPr dirty="0"/>
              <a:t> </a:t>
            </a:r>
            <a:r>
              <a:rPr dirty="0" err="1"/>
              <a:t>por</a:t>
            </a:r>
            <a:r>
              <a:rPr dirty="0"/>
              <a:t> INSABI, </a:t>
            </a:r>
            <a:r>
              <a:rPr dirty="0" err="1"/>
              <a:t>observando</a:t>
            </a:r>
            <a:r>
              <a:rPr dirty="0"/>
              <a:t> tanto </a:t>
            </a:r>
            <a:r>
              <a:rPr dirty="0" err="1"/>
              <a:t>salud</a:t>
            </a:r>
            <a:r>
              <a:rPr dirty="0"/>
              <a:t> </a:t>
            </a:r>
            <a:r>
              <a:rPr dirty="0" err="1"/>
              <a:t>como</a:t>
            </a:r>
            <a:r>
              <a:rPr dirty="0"/>
              <a:t> </a:t>
            </a:r>
            <a:r>
              <a:rPr dirty="0" err="1"/>
              <a:t>distribución</a:t>
            </a:r>
            <a:r>
              <a:rPr dirty="0"/>
              <a:t> de la </a:t>
            </a:r>
            <a:r>
              <a:rPr dirty="0" err="1"/>
              <a:t>atención</a:t>
            </a:r>
            <a:r>
              <a:rPr dirty="0"/>
              <a:t>. La idea </a:t>
            </a:r>
            <a:r>
              <a:rPr dirty="0" err="1"/>
              <a:t>que</a:t>
            </a:r>
            <a:r>
              <a:rPr dirty="0"/>
              <a:t> </a:t>
            </a:r>
            <a:r>
              <a:rPr dirty="0" err="1"/>
              <a:t>conecta</a:t>
            </a:r>
            <a:r>
              <a:rPr dirty="0"/>
              <a:t> </a:t>
            </a:r>
            <a:r>
              <a:rPr dirty="0" err="1"/>
              <a:t>los</a:t>
            </a:r>
            <a:r>
              <a:rPr dirty="0"/>
              <a:t> </a:t>
            </a:r>
            <a:r>
              <a:rPr dirty="0" err="1"/>
              <a:t>capítulos</a:t>
            </a:r>
            <a:r>
              <a:rPr dirty="0"/>
              <a:t> es </a:t>
            </a:r>
            <a:r>
              <a:rPr dirty="0" err="1"/>
              <a:t>que</a:t>
            </a:r>
            <a:r>
              <a:rPr dirty="0"/>
              <a:t> la </a:t>
            </a:r>
            <a:r>
              <a:rPr dirty="0" err="1"/>
              <a:t>cobertura</a:t>
            </a:r>
            <a:r>
              <a:rPr dirty="0"/>
              <a:t> </a:t>
            </a:r>
            <a:r>
              <a:rPr dirty="0" err="1"/>
              <a:t>financiera</a:t>
            </a:r>
            <a:r>
              <a:rPr dirty="0"/>
              <a:t> opera </a:t>
            </a:r>
            <a:r>
              <a:rPr dirty="0" err="1"/>
              <a:t>mediante</a:t>
            </a:r>
            <a:r>
              <a:rPr dirty="0"/>
              <a:t> </a:t>
            </a:r>
            <a:r>
              <a:rPr dirty="0" err="1"/>
              <a:t>proveedores</a:t>
            </a:r>
            <a:r>
              <a:rPr dirty="0"/>
              <a:t> </a:t>
            </a:r>
            <a:r>
              <a:rPr dirty="0" err="1"/>
              <a:t>concretos</a:t>
            </a:r>
            <a:r>
              <a:rPr dirty="0"/>
              <a:t>, con </a:t>
            </a:r>
            <a:r>
              <a:rPr dirty="0" err="1"/>
              <a:t>capacidades</a:t>
            </a:r>
            <a:r>
              <a:rPr dirty="0"/>
              <a:t> y barreras </a:t>
            </a:r>
            <a:r>
              <a:rPr dirty="0" err="1"/>
              <a:t>geográficas</a:t>
            </a:r>
            <a:r>
              <a:rPr dirty="0"/>
              <a:t> </a:t>
            </a:r>
            <a:r>
              <a:rPr dirty="0" err="1"/>
              <a:t>distintas</a:t>
            </a:r>
            <a:r>
              <a:rPr dirty="0"/>
              <a:t>. El </a:t>
            </a:r>
            <a:r>
              <a:rPr dirty="0" err="1"/>
              <a:t>título</a:t>
            </a:r>
            <a:r>
              <a:rPr dirty="0"/>
              <a:t> formal de la </a:t>
            </a:r>
            <a:r>
              <a:rPr dirty="0" err="1"/>
              <a:t>tesis</a:t>
            </a:r>
            <a:r>
              <a:rPr dirty="0"/>
              <a:t> es Three Essays on the Economics of Health. El </a:t>
            </a:r>
            <a:r>
              <a:rPr dirty="0" err="1"/>
              <a:t>título</a:t>
            </a:r>
            <a:r>
              <a:rPr dirty="0"/>
              <a:t> visible </a:t>
            </a:r>
            <a:r>
              <a:rPr dirty="0" err="1"/>
              <a:t>organiza</a:t>
            </a:r>
            <a:r>
              <a:rPr dirty="0"/>
              <a:t> la </a:t>
            </a:r>
            <a:r>
              <a:rPr dirty="0" err="1"/>
              <a:t>exposición</a:t>
            </a:r>
            <a:r>
              <a:rPr dirty="0"/>
              <a:t>.</a:t>
            </a:r>
          </a:p>
          <a:p>
            <a:endParaRPr dirty="0"/>
          </a:p>
          <a:p>
            <a:r>
              <a:rPr dirty="0"/>
              <a:t>FUENTE: El Colegio de México. </a:t>
            </a:r>
            <a:r>
              <a:rPr dirty="0" err="1"/>
              <a:t>Doctorado</a:t>
            </a:r>
            <a:r>
              <a:rPr dirty="0"/>
              <a:t> </a:t>
            </a:r>
            <a:r>
              <a:rPr dirty="0" err="1"/>
              <a:t>en</a:t>
            </a:r>
            <a:r>
              <a:rPr dirty="0"/>
              <a:t> Economía. </a:t>
            </a:r>
            <a:r>
              <a:rPr dirty="0" err="1"/>
              <a:t>Documentos</a:t>
            </a:r>
            <a:r>
              <a:rPr dirty="0"/>
              <a:t> </a:t>
            </a:r>
            <a:r>
              <a:rPr dirty="0" err="1"/>
              <a:t>proporcionados</a:t>
            </a:r>
            <a:r>
              <a:rPr dirty="0"/>
              <a:t> </a:t>
            </a:r>
            <a:r>
              <a:rPr dirty="0" err="1"/>
              <a:t>por</a:t>
            </a:r>
            <a:r>
              <a:rPr dirty="0"/>
              <a:t> el </a:t>
            </a:r>
            <a:r>
              <a:rPr dirty="0" err="1"/>
              <a:t>autor</a:t>
            </a:r>
            <a:r>
              <a:rPr dirty="0"/>
              <a:t>: paper03.tex (</a:t>
            </a:r>
            <a:r>
              <a:rPr dirty="0" err="1"/>
              <a:t>capítulo</a:t>
            </a:r>
            <a:r>
              <a:rPr dirty="0"/>
              <a:t> 1), paper01.tex (</a:t>
            </a:r>
            <a:r>
              <a:rPr dirty="0" err="1"/>
              <a:t>capítulo</a:t>
            </a:r>
            <a:r>
              <a:rPr dirty="0"/>
              <a:t> 2), paper02.tex (</a:t>
            </a:r>
            <a:r>
              <a:rPr dirty="0" err="1"/>
              <a:t>capítulo</a:t>
            </a:r>
            <a:r>
              <a:rPr dirty="0"/>
              <a:t> 3), thesis2_appendices(1).</a:t>
            </a:r>
            <a:r>
              <a:rPr dirty="0" err="1"/>
              <a:t>tex</a:t>
            </a:r>
            <a:r>
              <a:rPr dirty="0"/>
              <a:t> y thesis2_appendices.pdf. Los </a:t>
            </a:r>
            <a:r>
              <a:rPr dirty="0" err="1"/>
              <a:t>dictámenes</a:t>
            </a:r>
            <a:r>
              <a:rPr dirty="0"/>
              <a:t> de Adrián </a:t>
            </a:r>
            <a:r>
              <a:rPr dirty="0" err="1"/>
              <a:t>Rubli</a:t>
            </a:r>
            <a:r>
              <a:rPr dirty="0"/>
              <a:t> y Edwin van </a:t>
            </a:r>
            <a:r>
              <a:rPr dirty="0" err="1"/>
              <a:t>Gameren</a:t>
            </a:r>
            <a:r>
              <a:rPr dirty="0"/>
              <a:t> </a:t>
            </a:r>
            <a:r>
              <a:rPr dirty="0" err="1"/>
              <a:t>orientan</a:t>
            </a:r>
            <a:r>
              <a:rPr dirty="0"/>
              <a:t> la </a:t>
            </a:r>
            <a:r>
              <a:rPr dirty="0" err="1"/>
              <a:t>discusión</a:t>
            </a:r>
            <a:r>
              <a:rPr dirty="0"/>
              <a:t>.</a:t>
            </a:r>
          </a:p>
        </p:txBody>
      </p:sp>
      <p:sp>
        <p:nvSpPr>
          <p:cNvPr id="4" name="Slide Number Placeholder 3">
            <a:extLst>
              <a:ext uri="{FF2B5EF4-FFF2-40B4-BE49-F238E27FC236}">
                <a16:creationId xmlns:a16="http://schemas.microsoft.com/office/drawing/2014/main" id="{5BA643AE-52A9-3AFB-701F-2514C95179D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68122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1-0">
            <a:extLst>
              <a:ext uri="{FF2B5EF4-FFF2-40B4-BE49-F238E27FC236}">
                <a16:creationId xmlns:a16="http://schemas.microsoft.com/office/drawing/2014/main" id="{13EE513D-D736-40E6-94D6-AB1D18F96350}"/>
              </a:ext>
            </a:extLst>
          </p:cNvPr>
          <p:cNvSpPr>
            <a:spLocks noGrp="1"/>
          </p:cNvSpPr>
          <p:nvPr/>
        </p:nvSpPr>
        <p:spPr>
          <a:xfrm>
            <a:off x="609600" y="952500"/>
            <a:ext cx="10953750" cy="2266950"/>
          </a:xfrm>
          <a:prstGeom prst="rect">
            <a:avLst/>
          </a:prstGeom>
          <a:noFill/>
          <a:ln w="0">
            <a:noFill/>
          </a:ln>
        </p:spPr>
        <p:txBody>
          <a:bodyPr wrap="square" lIns="0" tIns="0" rIns="0" bIns="0" anchor="t">
            <a:noAutofit/>
          </a:bodyPr>
          <a:lstStyle/>
          <a:p>
            <a:pPr>
              <a:defRPr sz="4425" b="1">
                <a:solidFill>
                  <a:srgbClr val="005B50"/>
                </a:solidFill>
                <a:latin typeface="DejaVu Sans"/>
                <a:ea typeface="DejaVu Sans"/>
                <a:cs typeface="DejaVu Sans"/>
              </a:defRPr>
            </a:pPr>
            <a:r>
              <a:rPr lang="en-US" sz="4800" dirty="0">
                <a:solidFill>
                  <a:srgbClr val="53646B"/>
                </a:solidFill>
                <a:latin typeface="DejaVu Sans"/>
                <a:ea typeface="DejaVu Sans"/>
                <a:cs typeface="DejaVu Sans"/>
              </a:rPr>
              <a:t>Tres </a:t>
            </a:r>
            <a:r>
              <a:rPr lang="es-MX" sz="4800" dirty="0">
                <a:solidFill>
                  <a:srgbClr val="53646B"/>
                </a:solidFill>
                <a:latin typeface="DejaVu Sans"/>
                <a:ea typeface="DejaVu Sans"/>
                <a:cs typeface="DejaVu Sans"/>
              </a:rPr>
              <a:t>Ensayos</a:t>
            </a:r>
            <a:r>
              <a:rPr lang="en-US" sz="4800" dirty="0">
                <a:solidFill>
                  <a:srgbClr val="53646B"/>
                </a:solidFill>
                <a:latin typeface="DejaVu Sans"/>
                <a:ea typeface="DejaVu Sans"/>
                <a:cs typeface="DejaVu Sans"/>
              </a:rPr>
              <a:t> </a:t>
            </a:r>
            <a:r>
              <a:rPr lang="es-MX" sz="4800" dirty="0">
                <a:solidFill>
                  <a:srgbClr val="53646B"/>
                </a:solidFill>
                <a:latin typeface="DejaVu Sans"/>
                <a:ea typeface="DejaVu Sans"/>
                <a:cs typeface="DejaVu Sans"/>
              </a:rPr>
              <a:t>Sobre</a:t>
            </a:r>
            <a:r>
              <a:rPr lang="en-US" sz="4800" dirty="0">
                <a:solidFill>
                  <a:srgbClr val="53646B"/>
                </a:solidFill>
                <a:latin typeface="DejaVu Sans"/>
                <a:ea typeface="DejaVu Sans"/>
                <a:cs typeface="DejaVu Sans"/>
              </a:rPr>
              <a:t> la </a:t>
            </a:r>
            <a:r>
              <a:rPr lang="es-MX" sz="4800" dirty="0">
                <a:solidFill>
                  <a:srgbClr val="53646B"/>
                </a:solidFill>
                <a:latin typeface="DejaVu Sans"/>
                <a:ea typeface="DejaVu Sans"/>
                <a:cs typeface="DejaVu Sans"/>
              </a:rPr>
              <a:t>Economía de la Salud</a:t>
            </a:r>
            <a:endParaRPr lang="es-MX" sz="4425" b="1" noProof="0" dirty="0">
              <a:solidFill>
                <a:schemeClr val="tx2">
                  <a:lumMod val="90000"/>
                  <a:lumOff val="10000"/>
                </a:schemeClr>
              </a:solidFill>
              <a:latin typeface="DejaVu Sans"/>
              <a:ea typeface="DejaVu Sans"/>
              <a:cs typeface="DejaVu Sans"/>
            </a:endParaRPr>
          </a:p>
        </p:txBody>
      </p:sp>
      <p:sp>
        <p:nvSpPr>
          <p:cNvPr id="2" name="text-1-1">
            <a:extLst>
              <a:ext uri="{FF2B5EF4-FFF2-40B4-BE49-F238E27FC236}">
                <a16:creationId xmlns:a16="http://schemas.microsoft.com/office/drawing/2014/main" id="{277D3D26-E7F2-421D-BEA6-048CE141EAB7}"/>
              </a:ext>
            </a:extLst>
          </p:cNvPr>
          <p:cNvSpPr>
            <a:spLocks noGrp="1"/>
          </p:cNvSpPr>
          <p:nvPr/>
        </p:nvSpPr>
        <p:spPr>
          <a:xfrm>
            <a:off x="609600" y="6391275"/>
            <a:ext cx="10287000" cy="295275"/>
          </a:xfrm>
          <a:prstGeom prst="rect">
            <a:avLst/>
          </a:prstGeom>
          <a:noFill/>
          <a:ln w="0">
            <a:noFill/>
          </a:ln>
        </p:spPr>
        <p:txBody>
          <a:bodyPr wrap="square" lIns="0" tIns="0" rIns="0" bIns="0" anchor="t">
            <a:noAutofit/>
          </a:bodyPr>
          <a:lstStyle/>
          <a:p>
            <a:pPr algn="l">
              <a:defRPr sz="1050" b="0">
                <a:solidFill>
                  <a:srgbClr val="53646B"/>
                </a:solidFill>
                <a:latin typeface="DejaVu Sans"/>
                <a:ea typeface="DejaVu Sans"/>
                <a:cs typeface="DejaVu Sans"/>
              </a:defRPr>
            </a:pPr>
            <a:r>
              <a:rPr sz="1050" b="0">
                <a:solidFill>
                  <a:srgbClr val="53646B"/>
                </a:solidFill>
                <a:latin typeface="DejaVu Sans"/>
                <a:ea typeface="DejaVu Sans"/>
                <a:cs typeface="DejaVu Sans"/>
              </a:rPr>
              <a:t>El Colegio de México. Doctorado en Economía</a:t>
            </a:r>
          </a:p>
        </p:txBody>
      </p:sp>
      <p:sp>
        <p:nvSpPr>
          <p:cNvPr id="3" name="text-1-2">
            <a:extLst>
              <a:ext uri="{FF2B5EF4-FFF2-40B4-BE49-F238E27FC236}">
                <a16:creationId xmlns:a16="http://schemas.microsoft.com/office/drawing/2014/main" id="{85D36712-749F-4B54-9E89-4F219D52D287}"/>
              </a:ext>
            </a:extLst>
          </p:cNvPr>
          <p:cNvSpPr>
            <a:spLocks noGrp="1"/>
          </p:cNvSpPr>
          <p:nvPr/>
        </p:nvSpPr>
        <p:spPr>
          <a:xfrm>
            <a:off x="10953750" y="6362700"/>
            <a:ext cx="628650" cy="285750"/>
          </a:xfrm>
          <a:prstGeom prst="rect">
            <a:avLst/>
          </a:prstGeom>
          <a:no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sz="1275" b="0">
                <a:solidFill>
                  <a:srgbClr val="53646B"/>
                </a:solidFill>
                <a:latin typeface="DejaVu Sans"/>
                <a:ea typeface="DejaVu Sans"/>
                <a:cs typeface="DejaVu Sans"/>
              </a:rPr>
              <a:t>1 / 18</a:t>
            </a:r>
          </a:p>
        </p:txBody>
      </p:sp>
      <p:sp>
        <p:nvSpPr>
          <p:cNvPr id="4" name="text-1-3">
            <a:extLst>
              <a:ext uri="{FF2B5EF4-FFF2-40B4-BE49-F238E27FC236}">
                <a16:creationId xmlns:a16="http://schemas.microsoft.com/office/drawing/2014/main" id="{1604C271-A611-42F2-A779-22CFAFDAE2C3}"/>
              </a:ext>
            </a:extLst>
          </p:cNvPr>
          <p:cNvSpPr>
            <a:spLocks noGrp="1"/>
          </p:cNvSpPr>
          <p:nvPr/>
        </p:nvSpPr>
        <p:spPr>
          <a:xfrm>
            <a:off x="609600" y="2667000"/>
            <a:ext cx="10858500" cy="1073150"/>
          </a:xfrm>
          <a:prstGeom prst="rect">
            <a:avLst/>
          </a:prstGeom>
          <a:noFill/>
          <a:ln w="0">
            <a:noFill/>
          </a:ln>
        </p:spPr>
        <p:txBody>
          <a:bodyPr wrap="square" lIns="0" tIns="0" rIns="0" bIns="0" anchor="t">
            <a:noAutofit/>
          </a:bodyPr>
          <a:lstStyle/>
          <a:p>
            <a:pPr algn="l">
              <a:defRPr sz="2175" b="0">
                <a:solidFill>
                  <a:srgbClr val="53646B"/>
                </a:solidFill>
                <a:latin typeface="DejaVu Sans"/>
                <a:ea typeface="DejaVu Sans"/>
                <a:cs typeface="DejaVu Sans"/>
              </a:defRPr>
            </a:pPr>
            <a:r>
              <a:rPr lang="es-MX" sz="2175" dirty="0">
                <a:solidFill>
                  <a:srgbClr val="53646B"/>
                </a:solidFill>
                <a:latin typeface="DejaVu Sans"/>
                <a:ea typeface="DejaVu Sans"/>
                <a:cs typeface="DejaVu Sans"/>
              </a:rPr>
              <a:t>¿Cómo la cobertura y capacidad moldean el acceso, la elección del proveedor y la salud materno-infantil en México</a:t>
            </a:r>
            <a:endParaRPr sz="2175" b="0" dirty="0">
              <a:solidFill>
                <a:srgbClr val="53646B"/>
              </a:solidFill>
              <a:latin typeface="DejaVu Sans"/>
              <a:ea typeface="DejaVu Sans"/>
              <a:cs typeface="DejaVu Sans"/>
            </a:endParaRPr>
          </a:p>
        </p:txBody>
      </p:sp>
      <p:sp>
        <p:nvSpPr>
          <p:cNvPr id="5" name="text-1-4">
            <a:extLst>
              <a:ext uri="{FF2B5EF4-FFF2-40B4-BE49-F238E27FC236}">
                <a16:creationId xmlns:a16="http://schemas.microsoft.com/office/drawing/2014/main" id="{89419E64-F61F-4D10-8C6A-3345F3F185F3}"/>
              </a:ext>
            </a:extLst>
          </p:cNvPr>
          <p:cNvSpPr>
            <a:spLocks noGrp="1"/>
          </p:cNvSpPr>
          <p:nvPr/>
        </p:nvSpPr>
        <p:spPr>
          <a:xfrm>
            <a:off x="609600" y="4943475"/>
            <a:ext cx="10858500" cy="514350"/>
          </a:xfrm>
          <a:prstGeom prst="rect">
            <a:avLst/>
          </a:prstGeom>
          <a:noFill/>
          <a:ln w="0">
            <a:noFill/>
          </a:ln>
        </p:spPr>
        <p:txBody>
          <a:bodyPr wrap="square" lIns="0" tIns="0" rIns="0" bIns="0" anchor="t">
            <a:noAutofit/>
          </a:bodyPr>
          <a:lstStyle/>
          <a:p>
            <a:pPr algn="l">
              <a:defRPr sz="2400" b="1">
                <a:solidFill>
                  <a:srgbClr val="162E37"/>
                </a:solidFill>
                <a:latin typeface="DejaVu Sans"/>
                <a:ea typeface="DejaVu Sans"/>
                <a:cs typeface="DejaVu Sans"/>
              </a:defRPr>
            </a:pPr>
            <a:r>
              <a:rPr sz="2400" b="1" dirty="0">
                <a:solidFill>
                  <a:srgbClr val="162E37"/>
                </a:solidFill>
                <a:latin typeface="DejaVu Sans"/>
                <a:ea typeface="DejaVu Sans"/>
                <a:cs typeface="DejaVu Sans"/>
              </a:rPr>
              <a:t>Carlos G. Ruiz García de la Cadena</a:t>
            </a:r>
          </a:p>
        </p:txBody>
      </p:sp>
      <p:sp>
        <p:nvSpPr>
          <p:cNvPr id="6" name="text-1-5">
            <a:extLst>
              <a:ext uri="{FF2B5EF4-FFF2-40B4-BE49-F238E27FC236}">
                <a16:creationId xmlns:a16="http://schemas.microsoft.com/office/drawing/2014/main" id="{1FB42854-1E61-41D3-AFC7-3A19D5B96CD9}"/>
              </a:ext>
            </a:extLst>
          </p:cNvPr>
          <p:cNvSpPr>
            <a:spLocks noGrp="1"/>
          </p:cNvSpPr>
          <p:nvPr/>
        </p:nvSpPr>
        <p:spPr>
          <a:xfrm>
            <a:off x="609600" y="5505450"/>
            <a:ext cx="10858500" cy="428625"/>
          </a:xfrm>
          <a:prstGeom prst="rect">
            <a:avLst/>
          </a:prstGeom>
          <a:noFill/>
          <a:ln w="0">
            <a:noFill/>
          </a:ln>
        </p:spPr>
        <p:txBody>
          <a:bodyPr wrap="square" lIns="0" tIns="0" rIns="0" bIns="0" anchor="t">
            <a:noAutofit/>
          </a:bodyPr>
          <a:lstStyle/>
          <a:p>
            <a:pPr algn="l">
              <a:defRPr sz="1950" b="0">
                <a:solidFill>
                  <a:srgbClr val="53646B"/>
                </a:solidFill>
                <a:latin typeface="DejaVu Sans"/>
                <a:ea typeface="DejaVu Sans"/>
                <a:cs typeface="DejaVu Sans"/>
              </a:defRPr>
            </a:pPr>
            <a:r>
              <a:rPr sz="1950" b="0" dirty="0">
                <a:solidFill>
                  <a:srgbClr val="53646B"/>
                </a:solidFill>
                <a:latin typeface="DejaVu Sans"/>
                <a:ea typeface="DejaVu Sans"/>
                <a:cs typeface="DejaVu Sans"/>
              </a:rPr>
              <a:t>Defensa de </a:t>
            </a:r>
            <a:r>
              <a:rPr lang="es-MX" sz="1950" b="0" noProof="0" dirty="0">
                <a:solidFill>
                  <a:srgbClr val="53646B"/>
                </a:solidFill>
                <a:latin typeface="DejaVu Sans"/>
                <a:ea typeface="DejaVu Sans"/>
                <a:cs typeface="DejaVu Sans"/>
              </a:rPr>
              <a:t>tesis</a:t>
            </a:r>
            <a:r>
              <a:rPr sz="1950" b="0" dirty="0">
                <a:solidFill>
                  <a:srgbClr val="53646B"/>
                </a:solidFill>
                <a:latin typeface="DejaVu Sans"/>
                <a:ea typeface="DejaVu Sans"/>
                <a:cs typeface="DejaVu Sans"/>
              </a:rPr>
              <a:t> doctoral</a:t>
            </a:r>
          </a:p>
        </p:txBody>
      </p:sp>
    </p:spTree>
    <p:extLst>
      <p:ext uri="{BB962C8B-B14F-4D97-AF65-F5344CB8AC3E}">
        <p14:creationId xmlns:p14="http://schemas.microsoft.com/office/powerpoint/2010/main" val="1427250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2-0">
            <a:extLst>
              <a:ext uri="{FF2B5EF4-FFF2-40B4-BE49-F238E27FC236}">
                <a16:creationId xmlns:a16="http://schemas.microsoft.com/office/drawing/2014/main" id="{751EAE4D-19A1-46EE-9E97-84B5CA7FBE2A}"/>
              </a:ext>
            </a:extLst>
          </p:cNvPr>
          <p:cNvSpPr>
            <a:spLocks noGrp="1"/>
          </p:cNvSpPr>
          <p:nvPr/>
        </p:nvSpPr>
        <p:spPr>
          <a:xfrm>
            <a:off x="609600" y="409575"/>
            <a:ext cx="10953750" cy="771525"/>
          </a:xfrm>
          <a:prstGeom prst="rect">
            <a:avLst/>
          </a:prstGeom>
          <a:noFill/>
          <a:ln w="0">
            <a:noFill/>
          </a:ln>
        </p:spPr>
        <p:txBody>
          <a:bodyPr wrap="square" lIns="0" tIns="0" rIns="0" bIns="0" anchor="t">
            <a:noAutofit/>
          </a:bodyPr>
          <a:lstStyle/>
          <a:p>
            <a:pPr>
              <a:defRPr sz="3225" b="1">
                <a:solidFill>
                  <a:srgbClr val="162E37"/>
                </a:solidFill>
                <a:latin typeface="DejaVu Sans"/>
                <a:ea typeface="DejaVu Sans"/>
                <a:cs typeface="DejaVu Sans"/>
              </a:defRPr>
            </a:pPr>
            <a:r>
              <a:rPr lang="es-MX" sz="2400" b="1" spc="-80" dirty="0">
                <a:solidFill>
                  <a:schemeClr val="tx1">
                    <a:lumMod val="65000"/>
                    <a:lumOff val="35000"/>
                  </a:schemeClr>
                </a:solidFill>
                <a:latin typeface="Arial Black" panose="020B0A04020102020204" pitchFamily="34" charset="0"/>
              </a:rPr>
              <a:t>Tres Décadas de Reformas Cambiaron Quién Organiza la Provisión en Salud, pero No Eliminaron la Fragmentación del Sistema de Salud</a:t>
            </a:r>
            <a:endParaRPr sz="2400" b="1" spc="-80" dirty="0">
              <a:solidFill>
                <a:schemeClr val="tx1">
                  <a:lumMod val="65000"/>
                  <a:lumOff val="35000"/>
                </a:schemeClr>
              </a:solidFill>
              <a:latin typeface="Arial Black" panose="020B0A04020102020204" pitchFamily="34" charset="0"/>
              <a:ea typeface="DejaVu Sans"/>
              <a:cs typeface="DejaVu Sans"/>
            </a:endParaRPr>
          </a:p>
        </p:txBody>
      </p:sp>
      <p:pic>
        <p:nvPicPr>
          <p:cNvPr id="11" name="Picture 10">
            <a:extLst>
              <a:ext uri="{FF2B5EF4-FFF2-40B4-BE49-F238E27FC236}">
                <a16:creationId xmlns:a16="http://schemas.microsoft.com/office/drawing/2014/main" id="{6AA24A55-D47D-4FDF-985F-9FBDB1BC5DAE}"/>
              </a:ext>
            </a:extLst>
          </p:cNvPr>
          <p:cNvPicPr>
            <a:picLocks noChangeAspect="1"/>
          </p:cNvPicPr>
          <p:nvPr/>
        </p:nvPicPr>
        <p:blipFill>
          <a:blip r:embed="rId3">
            <a:extLst>
              <a:ext uri="{28A0092B-C50C-407E-A947-70E740481C1C}">
                <a14:useLocalDpi xmlns:a14="http://schemas.microsoft.com/office/drawing/2010/main" val="0"/>
              </a:ext>
            </a:extLst>
          </a:blip>
          <a:srcRect t="14722" r="7" b="2666"/>
          <a:stretch>
            <a:fillRect/>
          </a:stretch>
        </p:blipFill>
        <p:spPr>
          <a:xfrm>
            <a:off x="609600" y="1314715"/>
            <a:ext cx="10953750" cy="5093229"/>
          </a:xfrm>
          <a:prstGeom prst="rect">
            <a:avLst/>
          </a:prstGeom>
        </p:spPr>
      </p:pic>
      <p:sp>
        <p:nvSpPr>
          <p:cNvPr id="3" name="text-2-2">
            <a:extLst>
              <a:ext uri="{FF2B5EF4-FFF2-40B4-BE49-F238E27FC236}">
                <a16:creationId xmlns:a16="http://schemas.microsoft.com/office/drawing/2014/main" id="{C6902ECB-51AD-4215-B868-EB9D3F65A2D1}"/>
              </a:ext>
            </a:extLst>
          </p:cNvPr>
          <p:cNvSpPr>
            <a:spLocks noGrp="1"/>
          </p:cNvSpPr>
          <p:nvPr/>
        </p:nvSpPr>
        <p:spPr>
          <a:xfrm>
            <a:off x="10953750" y="6362700"/>
            <a:ext cx="628650" cy="285750"/>
          </a:xfrm>
          <a:prstGeom prst="rect">
            <a:avLst/>
          </a:prstGeom>
          <a:no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sz="1275" b="0" dirty="0">
                <a:solidFill>
                  <a:srgbClr val="53646B"/>
                </a:solidFill>
                <a:latin typeface="DejaVu Sans"/>
                <a:ea typeface="DejaVu Sans"/>
                <a:cs typeface="DejaVu Sans"/>
              </a:rPr>
              <a:t>2 / 18</a:t>
            </a:r>
          </a:p>
        </p:txBody>
      </p:sp>
    </p:spTree>
    <p:extLst>
      <p:ext uri="{BB962C8B-B14F-4D97-AF65-F5344CB8AC3E}">
        <p14:creationId xmlns:p14="http://schemas.microsoft.com/office/powerpoint/2010/main" val="1351640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3-2">
            <a:extLst>
              <a:ext uri="{FF2B5EF4-FFF2-40B4-BE49-F238E27FC236}">
                <a16:creationId xmlns:a16="http://schemas.microsoft.com/office/drawing/2014/main" id="{DD4D5A84-1A54-4247-B86A-20AE79BF73F9}"/>
              </a:ext>
            </a:extLst>
          </p:cNvPr>
          <p:cNvSpPr>
            <a:spLocks noGrp="1"/>
          </p:cNvSpPr>
          <p:nvPr/>
        </p:nvSpPr>
        <p:spPr>
          <a:xfrm>
            <a:off x="10953750" y="6362700"/>
            <a:ext cx="628650" cy="285750"/>
          </a:xfrm>
          <a:prstGeom prst="rect">
            <a:avLst/>
          </a:prstGeom>
          <a:no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sz="1275" b="0" dirty="0">
                <a:solidFill>
                  <a:srgbClr val="53646B"/>
                </a:solidFill>
                <a:latin typeface="DejaVu Sans"/>
                <a:ea typeface="DejaVu Sans"/>
                <a:cs typeface="DejaVu Sans"/>
              </a:rPr>
              <a:t>3 / 18</a:t>
            </a:r>
          </a:p>
        </p:txBody>
      </p:sp>
      <p:sp>
        <p:nvSpPr>
          <p:cNvPr id="8" name="text-2-0">
            <a:extLst>
              <a:ext uri="{FF2B5EF4-FFF2-40B4-BE49-F238E27FC236}">
                <a16:creationId xmlns:a16="http://schemas.microsoft.com/office/drawing/2014/main" id="{EC45012B-49D9-2DC3-AAC7-7C76BA4B2E2F}"/>
              </a:ext>
            </a:extLst>
          </p:cNvPr>
          <p:cNvSpPr>
            <a:spLocks noGrp="1"/>
          </p:cNvSpPr>
          <p:nvPr/>
        </p:nvSpPr>
        <p:spPr>
          <a:xfrm>
            <a:off x="609600" y="409575"/>
            <a:ext cx="10953750" cy="771525"/>
          </a:xfrm>
          <a:prstGeom prst="rect">
            <a:avLst/>
          </a:prstGeom>
          <a:noFill/>
          <a:ln w="0">
            <a:noFill/>
          </a:ln>
        </p:spPr>
        <p:txBody>
          <a:bodyPr wrap="square" lIns="0" tIns="0" rIns="0" bIns="0" anchor="t">
            <a:noAutofit/>
          </a:bodyPr>
          <a:lstStyle/>
          <a:p>
            <a:pPr>
              <a:defRPr sz="3225" b="1">
                <a:solidFill>
                  <a:srgbClr val="162E37"/>
                </a:solidFill>
                <a:latin typeface="DejaVu Sans"/>
                <a:ea typeface="DejaVu Sans"/>
                <a:cs typeface="DejaVu Sans"/>
              </a:defRPr>
            </a:pPr>
            <a:r>
              <a:rPr lang="es-MX" sz="2400" b="1" spc="-40" dirty="0">
                <a:solidFill>
                  <a:schemeClr val="tx1">
                    <a:lumMod val="65000"/>
                    <a:lumOff val="35000"/>
                  </a:schemeClr>
                </a:solidFill>
                <a:latin typeface="Arial Black" panose="020B0A04020102020204" pitchFamily="34" charset="0"/>
              </a:rPr>
              <a:t>El Trabajo Estudia Cómo Cambios en el Acceso, Financiamiento y Organización de la Atención Afectan a Poblaciones Vulnerables</a:t>
            </a:r>
            <a:endParaRPr sz="2400" b="1" spc="-40" dirty="0">
              <a:solidFill>
                <a:schemeClr val="tx1">
                  <a:lumMod val="65000"/>
                  <a:lumOff val="35000"/>
                </a:schemeClr>
              </a:solidFill>
              <a:latin typeface="Arial Black" panose="020B0A04020102020204" pitchFamily="34" charset="0"/>
              <a:ea typeface="DejaVu Sans"/>
              <a:cs typeface="DejaVu Sans"/>
            </a:endParaRPr>
          </a:p>
        </p:txBody>
      </p:sp>
      <p:sp>
        <p:nvSpPr>
          <p:cNvPr id="9" name="TextBox 8">
            <a:extLst>
              <a:ext uri="{FF2B5EF4-FFF2-40B4-BE49-F238E27FC236}">
                <a16:creationId xmlns:a16="http://schemas.microsoft.com/office/drawing/2014/main" id="{4E0CFF00-C2F6-D8DB-9AC7-18CBED15A519}"/>
              </a:ext>
            </a:extLst>
          </p:cNvPr>
          <p:cNvSpPr txBox="1"/>
          <p:nvPr/>
        </p:nvSpPr>
        <p:spPr>
          <a:xfrm>
            <a:off x="533400" y="1181100"/>
            <a:ext cx="10953750" cy="400110"/>
          </a:xfrm>
          <a:prstGeom prst="rect">
            <a:avLst/>
          </a:prstGeom>
          <a:noFill/>
        </p:spPr>
        <p:txBody>
          <a:bodyPr wrap="square" rtlCol="0">
            <a:spAutoFit/>
          </a:bodyPr>
          <a:lstStyle/>
          <a:p>
            <a:r>
              <a:rPr lang="es-MX" sz="2000" i="1" spc="-30" dirty="0">
                <a:solidFill>
                  <a:schemeClr val="tx1">
                    <a:lumMod val="65000"/>
                    <a:lumOff val="35000"/>
                  </a:schemeClr>
                </a:solidFill>
                <a:latin typeface="Arial" panose="020B0604020202020204" pitchFamily="34" charset="0"/>
                <a:cs typeface="Arial" panose="020B0604020202020204" pitchFamily="34" charset="0"/>
              </a:rPr>
              <a:t>Analizo tres márgenes del acceso a la salud en México mediante diseños cuasi-experimentales.</a:t>
            </a:r>
          </a:p>
        </p:txBody>
      </p:sp>
      <p:sp>
        <p:nvSpPr>
          <p:cNvPr id="11" name="Rectangle: Rounded Corners 10">
            <a:extLst>
              <a:ext uri="{FF2B5EF4-FFF2-40B4-BE49-F238E27FC236}">
                <a16:creationId xmlns:a16="http://schemas.microsoft.com/office/drawing/2014/main" id="{81E504F3-0120-FD15-23D2-C74F0D91F8B7}"/>
              </a:ext>
            </a:extLst>
          </p:cNvPr>
          <p:cNvSpPr/>
          <p:nvPr/>
        </p:nvSpPr>
        <p:spPr>
          <a:xfrm>
            <a:off x="676275" y="1790700"/>
            <a:ext cx="3474720" cy="3676650"/>
          </a:xfrm>
          <a:prstGeom prst="roundRect">
            <a:avLst/>
          </a:prstGeom>
          <a:solidFill>
            <a:schemeClr val="bg1"/>
          </a:solidFill>
          <a:ln w="6350" cmpd="sng">
            <a:solidFill>
              <a:schemeClr val="accent1">
                <a:lumMod val="50000"/>
              </a:schemeClr>
            </a:solidFill>
            <a:prstDash val="dashDot"/>
            <a:extLst>
              <a:ext uri="{C807C97D-BFC1-408E-A445-0C87EB9F89A2}">
                <ask:lineSketchStyleProps xmlns:ask="http://schemas.microsoft.com/office/drawing/2018/sketchyshapes" sd="2362110430">
                  <a:custGeom>
                    <a:avLst/>
                    <a:gdLst>
                      <a:gd name="csX0" fmla="*/ 0 w 3474720"/>
                      <a:gd name="csY0" fmla="*/ 579132 h 3676650"/>
                      <a:gd name="csX1" fmla="*/ 579132 w 3474720"/>
                      <a:gd name="csY1" fmla="*/ 0 h 3676650"/>
                      <a:gd name="csX2" fmla="*/ 2895588 w 3474720"/>
                      <a:gd name="csY2" fmla="*/ 0 h 3676650"/>
                      <a:gd name="csX3" fmla="*/ 3474720 w 3474720"/>
                      <a:gd name="csY3" fmla="*/ 579132 h 3676650"/>
                      <a:gd name="csX4" fmla="*/ 3474720 w 3474720"/>
                      <a:gd name="csY4" fmla="*/ 3097518 h 3676650"/>
                      <a:gd name="csX5" fmla="*/ 2895588 w 3474720"/>
                      <a:gd name="csY5" fmla="*/ 3676650 h 3676650"/>
                      <a:gd name="csX6" fmla="*/ 579132 w 3474720"/>
                      <a:gd name="csY6" fmla="*/ 3676650 h 3676650"/>
                      <a:gd name="csX7" fmla="*/ 0 w 3474720"/>
                      <a:gd name="csY7" fmla="*/ 3097518 h 3676650"/>
                      <a:gd name="csX8" fmla="*/ 0 w 3474720"/>
                      <a:gd name="csY8" fmla="*/ 579132 h 36766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74720" h="3676650" fill="none" extrusionOk="0">
                        <a:moveTo>
                          <a:pt x="0" y="579132"/>
                        </a:moveTo>
                        <a:cubicBezTo>
                          <a:pt x="-52014" y="275475"/>
                          <a:pt x="223233" y="27866"/>
                          <a:pt x="579132" y="0"/>
                        </a:cubicBezTo>
                        <a:cubicBezTo>
                          <a:pt x="1464997" y="6006"/>
                          <a:pt x="2052453" y="-48139"/>
                          <a:pt x="2895588" y="0"/>
                        </a:cubicBezTo>
                        <a:cubicBezTo>
                          <a:pt x="3179126" y="-10977"/>
                          <a:pt x="3427160" y="247953"/>
                          <a:pt x="3474720" y="579132"/>
                        </a:cubicBezTo>
                        <a:cubicBezTo>
                          <a:pt x="3389831" y="889083"/>
                          <a:pt x="3410013" y="2145581"/>
                          <a:pt x="3474720" y="3097518"/>
                        </a:cubicBezTo>
                        <a:cubicBezTo>
                          <a:pt x="3485019" y="3448058"/>
                          <a:pt x="3186060" y="3628561"/>
                          <a:pt x="2895588" y="3676650"/>
                        </a:cubicBezTo>
                        <a:cubicBezTo>
                          <a:pt x="1804210" y="3527033"/>
                          <a:pt x="1092198" y="3638338"/>
                          <a:pt x="579132" y="3676650"/>
                        </a:cubicBezTo>
                        <a:cubicBezTo>
                          <a:pt x="259194" y="3656692"/>
                          <a:pt x="-21682" y="3381536"/>
                          <a:pt x="0" y="3097518"/>
                        </a:cubicBezTo>
                        <a:cubicBezTo>
                          <a:pt x="-153149" y="2215546"/>
                          <a:pt x="65799" y="1838122"/>
                          <a:pt x="0" y="579132"/>
                        </a:cubicBezTo>
                        <a:close/>
                      </a:path>
                      <a:path w="3474720" h="3676650" stroke="0" extrusionOk="0">
                        <a:moveTo>
                          <a:pt x="0" y="579132"/>
                        </a:moveTo>
                        <a:cubicBezTo>
                          <a:pt x="-26438" y="226307"/>
                          <a:pt x="293662" y="-19515"/>
                          <a:pt x="579132" y="0"/>
                        </a:cubicBezTo>
                        <a:cubicBezTo>
                          <a:pt x="1325448" y="-110083"/>
                          <a:pt x="1803374" y="41046"/>
                          <a:pt x="2895588" y="0"/>
                        </a:cubicBezTo>
                        <a:cubicBezTo>
                          <a:pt x="3182929" y="33488"/>
                          <a:pt x="3442863" y="305206"/>
                          <a:pt x="3474720" y="579132"/>
                        </a:cubicBezTo>
                        <a:cubicBezTo>
                          <a:pt x="3347449" y="1750761"/>
                          <a:pt x="3344214" y="2078624"/>
                          <a:pt x="3474720" y="3097518"/>
                        </a:cubicBezTo>
                        <a:cubicBezTo>
                          <a:pt x="3431478" y="3434694"/>
                          <a:pt x="3187102" y="3652898"/>
                          <a:pt x="2895588" y="3676650"/>
                        </a:cubicBezTo>
                        <a:cubicBezTo>
                          <a:pt x="1860218" y="3665854"/>
                          <a:pt x="1666554" y="3566522"/>
                          <a:pt x="579132" y="3676650"/>
                        </a:cubicBezTo>
                        <a:cubicBezTo>
                          <a:pt x="243764" y="3697305"/>
                          <a:pt x="17224" y="3373680"/>
                          <a:pt x="0" y="3097518"/>
                        </a:cubicBezTo>
                        <a:cubicBezTo>
                          <a:pt x="31761" y="2438823"/>
                          <a:pt x="110541" y="996797"/>
                          <a:pt x="0" y="579132"/>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angle: Rounded Corners 12">
            <a:extLst>
              <a:ext uri="{FF2B5EF4-FFF2-40B4-BE49-F238E27FC236}">
                <a16:creationId xmlns:a16="http://schemas.microsoft.com/office/drawing/2014/main" id="{6B2E3BFA-44C0-83C0-7725-844BEBDDA5E8}"/>
              </a:ext>
            </a:extLst>
          </p:cNvPr>
          <p:cNvSpPr/>
          <p:nvPr/>
        </p:nvSpPr>
        <p:spPr>
          <a:xfrm>
            <a:off x="4400550" y="1790700"/>
            <a:ext cx="3474720" cy="3676650"/>
          </a:xfrm>
          <a:prstGeom prst="roundRect">
            <a:avLst/>
          </a:prstGeom>
          <a:solidFill>
            <a:schemeClr val="bg1"/>
          </a:solidFill>
          <a:ln w="6350">
            <a:solidFill>
              <a:schemeClr val="accent1">
                <a:lumMod val="50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angle: Rounded Corners 14">
            <a:extLst>
              <a:ext uri="{FF2B5EF4-FFF2-40B4-BE49-F238E27FC236}">
                <a16:creationId xmlns:a16="http://schemas.microsoft.com/office/drawing/2014/main" id="{8306C8F5-1BF7-106D-66ED-4BDD216B564F}"/>
              </a:ext>
            </a:extLst>
          </p:cNvPr>
          <p:cNvSpPr/>
          <p:nvPr/>
        </p:nvSpPr>
        <p:spPr>
          <a:xfrm>
            <a:off x="8088630" y="1778139"/>
            <a:ext cx="3474720" cy="3676650"/>
          </a:xfrm>
          <a:prstGeom prst="roundRect">
            <a:avLst/>
          </a:prstGeom>
          <a:solidFill>
            <a:schemeClr val="bg1"/>
          </a:solidFill>
          <a:ln w="6350">
            <a:solidFill>
              <a:schemeClr val="accent1">
                <a:lumMod val="50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TextBox 19">
            <a:extLst>
              <a:ext uri="{FF2B5EF4-FFF2-40B4-BE49-F238E27FC236}">
                <a16:creationId xmlns:a16="http://schemas.microsoft.com/office/drawing/2014/main" id="{5AAC1DB1-2F48-D22D-81B9-A54313BB0ED8}"/>
              </a:ext>
            </a:extLst>
          </p:cNvPr>
          <p:cNvSpPr txBox="1"/>
          <p:nvPr/>
        </p:nvSpPr>
        <p:spPr>
          <a:xfrm>
            <a:off x="676275" y="1903690"/>
            <a:ext cx="3474720" cy="369332"/>
          </a:xfrm>
          <a:prstGeom prst="rect">
            <a:avLst/>
          </a:prstGeom>
          <a:noFill/>
        </p:spPr>
        <p:txBody>
          <a:bodyPr wrap="square" rtlCol="0">
            <a:spAutoFit/>
          </a:bodyPr>
          <a:lstStyle/>
          <a:p>
            <a:pPr algn="ctr"/>
            <a:r>
              <a:rPr lang="en-US" b="1" dirty="0">
                <a:solidFill>
                  <a:schemeClr val="accent4">
                    <a:lumMod val="75000"/>
                  </a:schemeClr>
                </a:solidFill>
                <a:latin typeface="Arial" panose="020B0604020202020204" pitchFamily="34" charset="0"/>
                <a:cs typeface="Arial" panose="020B0604020202020204" pitchFamily="34" charset="0"/>
              </a:rPr>
              <a:t>1. Capacidad</a:t>
            </a:r>
            <a:endParaRPr lang="es-MX" b="1" dirty="0">
              <a:solidFill>
                <a:schemeClr val="accent4">
                  <a:lumMod val="75000"/>
                </a:schemeClr>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128BCD70-F951-9950-A6DD-A1D589C25B91}"/>
              </a:ext>
            </a:extLst>
          </p:cNvPr>
          <p:cNvSpPr txBox="1"/>
          <p:nvPr/>
        </p:nvSpPr>
        <p:spPr>
          <a:xfrm>
            <a:off x="4400550" y="1903690"/>
            <a:ext cx="3474719" cy="369332"/>
          </a:xfrm>
          <a:prstGeom prst="rect">
            <a:avLst/>
          </a:prstGeom>
          <a:noFill/>
        </p:spPr>
        <p:txBody>
          <a:bodyPr wrap="square" rtlCol="0">
            <a:spAutoFit/>
          </a:bodyPr>
          <a:lstStyle/>
          <a:p>
            <a:pPr algn="ctr"/>
            <a:r>
              <a:rPr lang="en-US" b="1" dirty="0">
                <a:solidFill>
                  <a:srgbClr val="00B0F0"/>
                </a:solidFill>
                <a:latin typeface="Arial" panose="020B0604020202020204" pitchFamily="34" charset="0"/>
                <a:cs typeface="Arial" panose="020B0604020202020204" pitchFamily="34" charset="0"/>
              </a:rPr>
              <a:t>2. Cobertura Financiera</a:t>
            </a:r>
            <a:endParaRPr lang="es-MX" b="1" dirty="0">
              <a:solidFill>
                <a:srgbClr val="00B0F0"/>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20C09803-E1A3-0C79-46D8-C966F5730A9F}"/>
              </a:ext>
            </a:extLst>
          </p:cNvPr>
          <p:cNvSpPr txBox="1"/>
          <p:nvPr/>
        </p:nvSpPr>
        <p:spPr>
          <a:xfrm>
            <a:off x="8088628" y="1913215"/>
            <a:ext cx="3474719" cy="369332"/>
          </a:xfrm>
          <a:prstGeom prst="rect">
            <a:avLst/>
          </a:prstGeom>
          <a:noFill/>
        </p:spPr>
        <p:txBody>
          <a:bodyPr wrap="square" rtlCol="0">
            <a:spAutoFit/>
          </a:bodyPr>
          <a:lstStyle/>
          <a:p>
            <a:pPr algn="ctr"/>
            <a:r>
              <a:rPr lang="en-US" b="1" dirty="0">
                <a:solidFill>
                  <a:schemeClr val="accent6">
                    <a:lumMod val="50000"/>
                  </a:schemeClr>
                </a:solidFill>
                <a:latin typeface="Arial" panose="020B0604020202020204" pitchFamily="34" charset="0"/>
                <a:cs typeface="Arial" panose="020B0604020202020204" pitchFamily="34" charset="0"/>
              </a:rPr>
              <a:t>3. </a:t>
            </a:r>
            <a:r>
              <a:rPr lang="es-MX" b="1" noProof="0" dirty="0">
                <a:solidFill>
                  <a:schemeClr val="accent6">
                    <a:lumMod val="50000"/>
                  </a:schemeClr>
                </a:solidFill>
                <a:latin typeface="Arial" panose="020B0604020202020204" pitchFamily="34" charset="0"/>
                <a:cs typeface="Arial" panose="020B0604020202020204" pitchFamily="34" charset="0"/>
              </a:rPr>
              <a:t>Organización y uso</a:t>
            </a:r>
            <a:endParaRPr lang="es-MX" b="1" dirty="0">
              <a:solidFill>
                <a:schemeClr val="accent6">
                  <a:lumMod val="50000"/>
                </a:schemeClr>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335C49AB-3C94-6C2C-1C53-3B5FFE92B52D}"/>
              </a:ext>
            </a:extLst>
          </p:cNvPr>
          <p:cNvSpPr txBox="1"/>
          <p:nvPr/>
        </p:nvSpPr>
        <p:spPr>
          <a:xfrm>
            <a:off x="668655" y="2419558"/>
            <a:ext cx="3474720" cy="923330"/>
          </a:xfrm>
          <a:prstGeom prst="rect">
            <a:avLst/>
          </a:prstGeom>
          <a:noFill/>
        </p:spPr>
        <p:txBody>
          <a:bodyPr wrap="square" rtlCol="0">
            <a:spAutoFit/>
          </a:bodyPr>
          <a:lstStyle/>
          <a:p>
            <a:pPr algn="ctr"/>
            <a:r>
              <a:rPr lang="es-MX" dirty="0">
                <a:latin typeface="Arial" panose="020B0604020202020204" pitchFamily="34" charset="0"/>
                <a:cs typeface="Arial" panose="020B0604020202020204" pitchFamily="34" charset="0"/>
              </a:rPr>
              <a:t>¿La apertura de hospitales públicos mejora la salud materno-infantil?</a:t>
            </a:r>
          </a:p>
        </p:txBody>
      </p:sp>
      <p:sp>
        <p:nvSpPr>
          <p:cNvPr id="27" name="TextBox 26">
            <a:extLst>
              <a:ext uri="{FF2B5EF4-FFF2-40B4-BE49-F238E27FC236}">
                <a16:creationId xmlns:a16="http://schemas.microsoft.com/office/drawing/2014/main" id="{17379F2A-4D1F-9ED8-EBE9-CD860C4D803E}"/>
              </a:ext>
            </a:extLst>
          </p:cNvPr>
          <p:cNvSpPr txBox="1"/>
          <p:nvPr/>
        </p:nvSpPr>
        <p:spPr>
          <a:xfrm>
            <a:off x="4400549" y="2419558"/>
            <a:ext cx="3474720" cy="923330"/>
          </a:xfrm>
          <a:prstGeom prst="rect">
            <a:avLst/>
          </a:prstGeom>
          <a:noFill/>
        </p:spPr>
        <p:txBody>
          <a:bodyPr wrap="square" rtlCol="0">
            <a:spAutoFit/>
          </a:bodyPr>
          <a:lstStyle/>
          <a:p>
            <a:pPr algn="ctr"/>
            <a:r>
              <a:rPr lang="es-MX" dirty="0">
                <a:latin typeface="Arial" panose="020B0604020202020204" pitchFamily="34" charset="0"/>
                <a:cs typeface="Arial" panose="020B0604020202020204" pitchFamily="34" charset="0"/>
              </a:rPr>
              <a:t>¿Ganancias en salud persisten cuando cambia el esquema de cobertura financiera?</a:t>
            </a:r>
          </a:p>
        </p:txBody>
      </p:sp>
      <p:sp>
        <p:nvSpPr>
          <p:cNvPr id="29" name="TextBox 28">
            <a:extLst>
              <a:ext uri="{FF2B5EF4-FFF2-40B4-BE49-F238E27FC236}">
                <a16:creationId xmlns:a16="http://schemas.microsoft.com/office/drawing/2014/main" id="{FE8A5BE2-7ED1-4C1A-A8B4-1D10015D7FC5}"/>
              </a:ext>
            </a:extLst>
          </p:cNvPr>
          <p:cNvSpPr txBox="1"/>
          <p:nvPr/>
        </p:nvSpPr>
        <p:spPr>
          <a:xfrm>
            <a:off x="8107680" y="2419558"/>
            <a:ext cx="3474720" cy="923330"/>
          </a:xfrm>
          <a:prstGeom prst="rect">
            <a:avLst/>
          </a:prstGeom>
          <a:noFill/>
        </p:spPr>
        <p:txBody>
          <a:bodyPr wrap="square" rtlCol="0">
            <a:spAutoFit/>
          </a:bodyPr>
          <a:lstStyle/>
          <a:p>
            <a:pPr algn="ctr"/>
            <a:r>
              <a:rPr lang="es-MX" dirty="0">
                <a:latin typeface="Arial" panose="020B0604020202020204" pitchFamily="34" charset="0"/>
                <a:cs typeface="Arial" panose="020B0604020202020204" pitchFamily="34" charset="0"/>
              </a:rPr>
              <a:t>¿Cambios en financiamiento y organización modifican la elección del proveedor?</a:t>
            </a:r>
          </a:p>
        </p:txBody>
      </p:sp>
      <p:sp>
        <p:nvSpPr>
          <p:cNvPr id="31" name="TextBox 30">
            <a:extLst>
              <a:ext uri="{FF2B5EF4-FFF2-40B4-BE49-F238E27FC236}">
                <a16:creationId xmlns:a16="http://schemas.microsoft.com/office/drawing/2014/main" id="{29B8EB93-1297-A14C-08DF-3BF70E29DF47}"/>
              </a:ext>
            </a:extLst>
          </p:cNvPr>
          <p:cNvSpPr txBox="1"/>
          <p:nvPr/>
        </p:nvSpPr>
        <p:spPr>
          <a:xfrm>
            <a:off x="683895" y="3570446"/>
            <a:ext cx="3474720" cy="584775"/>
          </a:xfrm>
          <a:prstGeom prst="rect">
            <a:avLst/>
          </a:prstGeom>
          <a:noFill/>
        </p:spPr>
        <p:txBody>
          <a:bodyPr wrap="square" rtlCol="0">
            <a:spAutoFit/>
          </a:bodyPr>
          <a:lstStyle/>
          <a:p>
            <a:pPr algn="ctr"/>
            <a:r>
              <a:rPr lang="es-MX" sz="1600" i="1" spc="-60" dirty="0">
                <a:latin typeface="Arial" panose="020B0604020202020204" pitchFamily="34" charset="0"/>
                <a:cs typeface="Arial" panose="020B0604020202020204" pitchFamily="34" charset="0"/>
              </a:rPr>
              <a:t>Apertura de hospitales comunitarios en zonas marginales y de difícil acceso</a:t>
            </a:r>
          </a:p>
        </p:txBody>
      </p:sp>
      <p:sp>
        <p:nvSpPr>
          <p:cNvPr id="33" name="TextBox 32">
            <a:extLst>
              <a:ext uri="{FF2B5EF4-FFF2-40B4-BE49-F238E27FC236}">
                <a16:creationId xmlns:a16="http://schemas.microsoft.com/office/drawing/2014/main" id="{8A5264E5-586D-EF44-C38E-5BDF1D41D415}"/>
              </a:ext>
            </a:extLst>
          </p:cNvPr>
          <p:cNvSpPr txBox="1"/>
          <p:nvPr/>
        </p:nvSpPr>
        <p:spPr>
          <a:xfrm>
            <a:off x="4406265" y="3570445"/>
            <a:ext cx="3474720" cy="584775"/>
          </a:xfrm>
          <a:prstGeom prst="rect">
            <a:avLst/>
          </a:prstGeom>
          <a:noFill/>
        </p:spPr>
        <p:txBody>
          <a:bodyPr wrap="square" rtlCol="0">
            <a:spAutoFit/>
          </a:bodyPr>
          <a:lstStyle/>
          <a:p>
            <a:pPr algn="ctr"/>
            <a:r>
              <a:rPr lang="es-MX" sz="1600" i="1" spc="-60" dirty="0">
                <a:latin typeface="Arial" panose="020B0604020202020204" pitchFamily="34" charset="0"/>
                <a:cs typeface="Arial" panose="020B0604020202020204" pitchFamily="34" charset="0"/>
              </a:rPr>
              <a:t>Eliminación del seguro popular y avances en salud materno-infantil</a:t>
            </a:r>
          </a:p>
        </p:txBody>
      </p:sp>
      <p:sp>
        <p:nvSpPr>
          <p:cNvPr id="37" name="TextBox 36">
            <a:extLst>
              <a:ext uri="{FF2B5EF4-FFF2-40B4-BE49-F238E27FC236}">
                <a16:creationId xmlns:a16="http://schemas.microsoft.com/office/drawing/2014/main" id="{3FE15114-2F1B-DA84-F688-12723A4A2F2E}"/>
              </a:ext>
            </a:extLst>
          </p:cNvPr>
          <p:cNvSpPr txBox="1"/>
          <p:nvPr/>
        </p:nvSpPr>
        <p:spPr>
          <a:xfrm>
            <a:off x="8121967" y="3570444"/>
            <a:ext cx="3474720" cy="584775"/>
          </a:xfrm>
          <a:prstGeom prst="rect">
            <a:avLst/>
          </a:prstGeom>
          <a:noFill/>
        </p:spPr>
        <p:txBody>
          <a:bodyPr wrap="square" rtlCol="0">
            <a:spAutoFit/>
          </a:bodyPr>
          <a:lstStyle/>
          <a:p>
            <a:pPr algn="ctr"/>
            <a:r>
              <a:rPr lang="es-MX" sz="1600" i="1" spc="-60" dirty="0">
                <a:latin typeface="Arial" panose="020B0604020202020204" pitchFamily="34" charset="0"/>
                <a:cs typeface="Arial" panose="020B0604020202020204" pitchFamily="34" charset="0"/>
              </a:rPr>
              <a:t>Atención del parto en un sistema de salud fragmentado y en transición</a:t>
            </a:r>
          </a:p>
        </p:txBody>
      </p:sp>
      <p:cxnSp>
        <p:nvCxnSpPr>
          <p:cNvPr id="39" name="Straight Connector 38">
            <a:extLst>
              <a:ext uri="{FF2B5EF4-FFF2-40B4-BE49-F238E27FC236}">
                <a16:creationId xmlns:a16="http://schemas.microsoft.com/office/drawing/2014/main" id="{A45C41B2-F9F2-0A50-71EA-3F8F66E5F622}"/>
              </a:ext>
            </a:extLst>
          </p:cNvPr>
          <p:cNvCxnSpPr>
            <a:cxnSpLocks/>
          </p:cNvCxnSpPr>
          <p:nvPr/>
        </p:nvCxnSpPr>
        <p:spPr>
          <a:xfrm>
            <a:off x="1473517" y="4857750"/>
            <a:ext cx="1895475" cy="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FBF02EA-7976-1FEA-AB84-6E984BACACA4}"/>
              </a:ext>
            </a:extLst>
          </p:cNvPr>
          <p:cNvCxnSpPr>
            <a:cxnSpLocks/>
          </p:cNvCxnSpPr>
          <p:nvPr/>
        </p:nvCxnSpPr>
        <p:spPr>
          <a:xfrm>
            <a:off x="5228271" y="4867275"/>
            <a:ext cx="1895475"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1169496-DAB2-8EA7-08A8-AA1B02658215}"/>
              </a:ext>
            </a:extLst>
          </p:cNvPr>
          <p:cNvCxnSpPr>
            <a:cxnSpLocks/>
          </p:cNvCxnSpPr>
          <p:nvPr/>
        </p:nvCxnSpPr>
        <p:spPr>
          <a:xfrm>
            <a:off x="8963025" y="4886325"/>
            <a:ext cx="1895475" cy="0"/>
          </a:xfrm>
          <a:prstGeom prst="line">
            <a:avLst/>
          </a:prstGeom>
          <a:ln w="381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61A8C3C7-4F99-DEEA-9607-4EB102EEEDDF}"/>
              </a:ext>
            </a:extLst>
          </p:cNvPr>
          <p:cNvSpPr txBox="1"/>
          <p:nvPr/>
        </p:nvSpPr>
        <p:spPr>
          <a:xfrm>
            <a:off x="858202" y="4687580"/>
            <a:ext cx="769620" cy="338554"/>
          </a:xfrm>
          <a:prstGeom prst="rect">
            <a:avLst/>
          </a:prstGeom>
          <a:noFill/>
        </p:spPr>
        <p:txBody>
          <a:bodyPr wrap="square" rtlCol="0">
            <a:spAutoFit/>
          </a:bodyPr>
          <a:lstStyle/>
          <a:p>
            <a:r>
              <a:rPr lang="es-MX" sz="1600" dirty="0">
                <a:solidFill>
                  <a:schemeClr val="accent4">
                    <a:lumMod val="75000"/>
                  </a:schemeClr>
                </a:solidFill>
                <a:latin typeface="Arial" panose="020B0604020202020204" pitchFamily="34" charset="0"/>
                <a:cs typeface="Arial" panose="020B0604020202020204" pitchFamily="34" charset="0"/>
              </a:rPr>
              <a:t>2008</a:t>
            </a:r>
          </a:p>
        </p:txBody>
      </p:sp>
      <p:sp>
        <p:nvSpPr>
          <p:cNvPr id="45" name="TextBox 44">
            <a:extLst>
              <a:ext uri="{FF2B5EF4-FFF2-40B4-BE49-F238E27FC236}">
                <a16:creationId xmlns:a16="http://schemas.microsoft.com/office/drawing/2014/main" id="{8A9E8AAC-DC34-9A29-D96E-B9C58D05B5A4}"/>
              </a:ext>
            </a:extLst>
          </p:cNvPr>
          <p:cNvSpPr txBox="1"/>
          <p:nvPr/>
        </p:nvSpPr>
        <p:spPr>
          <a:xfrm>
            <a:off x="3329940" y="4677519"/>
            <a:ext cx="769620" cy="338554"/>
          </a:xfrm>
          <a:prstGeom prst="rect">
            <a:avLst/>
          </a:prstGeom>
          <a:noFill/>
        </p:spPr>
        <p:txBody>
          <a:bodyPr wrap="square" rtlCol="0">
            <a:spAutoFit/>
          </a:bodyPr>
          <a:lstStyle/>
          <a:p>
            <a:r>
              <a:rPr lang="es-MX" sz="1600" dirty="0">
                <a:solidFill>
                  <a:schemeClr val="accent4">
                    <a:lumMod val="75000"/>
                  </a:schemeClr>
                </a:solidFill>
                <a:latin typeface="Arial" panose="020B0604020202020204" pitchFamily="34" charset="0"/>
                <a:cs typeface="Arial" panose="020B0604020202020204" pitchFamily="34" charset="0"/>
              </a:rPr>
              <a:t>2017</a:t>
            </a:r>
          </a:p>
        </p:txBody>
      </p:sp>
      <p:sp>
        <p:nvSpPr>
          <p:cNvPr id="47" name="TextBox 46">
            <a:extLst>
              <a:ext uri="{FF2B5EF4-FFF2-40B4-BE49-F238E27FC236}">
                <a16:creationId xmlns:a16="http://schemas.microsoft.com/office/drawing/2014/main" id="{B6142E21-5904-F1CA-F5A9-B6577C214958}"/>
              </a:ext>
            </a:extLst>
          </p:cNvPr>
          <p:cNvSpPr txBox="1"/>
          <p:nvPr/>
        </p:nvSpPr>
        <p:spPr>
          <a:xfrm>
            <a:off x="4633911" y="4689901"/>
            <a:ext cx="769620" cy="338554"/>
          </a:xfrm>
          <a:prstGeom prst="rect">
            <a:avLst/>
          </a:prstGeom>
          <a:noFill/>
        </p:spPr>
        <p:txBody>
          <a:bodyPr wrap="square" rtlCol="0">
            <a:spAutoFit/>
          </a:bodyPr>
          <a:lstStyle/>
          <a:p>
            <a:r>
              <a:rPr lang="es-MX" sz="1600" dirty="0">
                <a:solidFill>
                  <a:srgbClr val="00B0F0"/>
                </a:solidFill>
                <a:latin typeface="Arial" panose="020B0604020202020204" pitchFamily="34" charset="0"/>
                <a:cs typeface="Arial" panose="020B0604020202020204" pitchFamily="34" charset="0"/>
              </a:rPr>
              <a:t>2015</a:t>
            </a:r>
          </a:p>
        </p:txBody>
      </p:sp>
      <p:sp>
        <p:nvSpPr>
          <p:cNvPr id="49" name="TextBox 48">
            <a:extLst>
              <a:ext uri="{FF2B5EF4-FFF2-40B4-BE49-F238E27FC236}">
                <a16:creationId xmlns:a16="http://schemas.microsoft.com/office/drawing/2014/main" id="{224EE43E-DFB6-6C13-6893-5BA85EEF4C9C}"/>
              </a:ext>
            </a:extLst>
          </p:cNvPr>
          <p:cNvSpPr txBox="1"/>
          <p:nvPr/>
        </p:nvSpPr>
        <p:spPr>
          <a:xfrm>
            <a:off x="7105649" y="4679840"/>
            <a:ext cx="769620" cy="338554"/>
          </a:xfrm>
          <a:prstGeom prst="rect">
            <a:avLst/>
          </a:prstGeom>
          <a:noFill/>
        </p:spPr>
        <p:txBody>
          <a:bodyPr wrap="square" rtlCol="0">
            <a:spAutoFit/>
          </a:bodyPr>
          <a:lstStyle/>
          <a:p>
            <a:r>
              <a:rPr lang="es-MX" sz="1600" dirty="0">
                <a:solidFill>
                  <a:srgbClr val="00B0F0"/>
                </a:solidFill>
                <a:latin typeface="Arial" panose="020B0604020202020204" pitchFamily="34" charset="0"/>
                <a:cs typeface="Arial" panose="020B0604020202020204" pitchFamily="34" charset="0"/>
              </a:rPr>
              <a:t>2023</a:t>
            </a:r>
          </a:p>
        </p:txBody>
      </p:sp>
      <p:sp>
        <p:nvSpPr>
          <p:cNvPr id="51" name="TextBox 50">
            <a:extLst>
              <a:ext uri="{FF2B5EF4-FFF2-40B4-BE49-F238E27FC236}">
                <a16:creationId xmlns:a16="http://schemas.microsoft.com/office/drawing/2014/main" id="{41464A5E-E058-2C99-61E0-FACBD3ED3B28}"/>
              </a:ext>
            </a:extLst>
          </p:cNvPr>
          <p:cNvSpPr txBox="1"/>
          <p:nvPr/>
        </p:nvSpPr>
        <p:spPr>
          <a:xfrm>
            <a:off x="8369617" y="4706630"/>
            <a:ext cx="769620" cy="338554"/>
          </a:xfrm>
          <a:prstGeom prst="rect">
            <a:avLst/>
          </a:prstGeom>
          <a:noFill/>
        </p:spPr>
        <p:txBody>
          <a:bodyPr wrap="square" rtlCol="0">
            <a:spAutoFit/>
          </a:bodyPr>
          <a:lstStyle/>
          <a:p>
            <a:r>
              <a:rPr lang="es-MX" sz="1600" dirty="0">
                <a:solidFill>
                  <a:schemeClr val="accent6">
                    <a:lumMod val="50000"/>
                  </a:schemeClr>
                </a:solidFill>
                <a:latin typeface="Arial" panose="020B0604020202020204" pitchFamily="34" charset="0"/>
                <a:cs typeface="Arial" panose="020B0604020202020204" pitchFamily="34" charset="0"/>
              </a:rPr>
              <a:t>2015</a:t>
            </a:r>
          </a:p>
        </p:txBody>
      </p:sp>
      <p:sp>
        <p:nvSpPr>
          <p:cNvPr id="53" name="TextBox 52">
            <a:extLst>
              <a:ext uri="{FF2B5EF4-FFF2-40B4-BE49-F238E27FC236}">
                <a16:creationId xmlns:a16="http://schemas.microsoft.com/office/drawing/2014/main" id="{87E40302-4B34-F399-0BF6-7D2FDD434063}"/>
              </a:ext>
            </a:extLst>
          </p:cNvPr>
          <p:cNvSpPr txBox="1"/>
          <p:nvPr/>
        </p:nvSpPr>
        <p:spPr>
          <a:xfrm>
            <a:off x="10841355" y="4696569"/>
            <a:ext cx="769620" cy="338554"/>
          </a:xfrm>
          <a:prstGeom prst="rect">
            <a:avLst/>
          </a:prstGeom>
          <a:noFill/>
        </p:spPr>
        <p:txBody>
          <a:bodyPr wrap="square" rtlCol="0">
            <a:spAutoFit/>
          </a:bodyPr>
          <a:lstStyle/>
          <a:p>
            <a:r>
              <a:rPr lang="es-MX" sz="1600" dirty="0">
                <a:solidFill>
                  <a:schemeClr val="accent6">
                    <a:lumMod val="50000"/>
                  </a:schemeClr>
                </a:solidFill>
                <a:latin typeface="Arial" panose="020B0604020202020204" pitchFamily="34" charset="0"/>
                <a:cs typeface="Arial" panose="020B0604020202020204" pitchFamily="34" charset="0"/>
              </a:rPr>
              <a:t>2023</a:t>
            </a:r>
          </a:p>
        </p:txBody>
      </p:sp>
      <p:sp>
        <p:nvSpPr>
          <p:cNvPr id="55" name="TextBox 54">
            <a:extLst>
              <a:ext uri="{FF2B5EF4-FFF2-40B4-BE49-F238E27FC236}">
                <a16:creationId xmlns:a16="http://schemas.microsoft.com/office/drawing/2014/main" id="{B13FC04B-34E8-6C32-E4CC-C7216858974D}"/>
              </a:ext>
            </a:extLst>
          </p:cNvPr>
          <p:cNvSpPr txBox="1"/>
          <p:nvPr/>
        </p:nvSpPr>
        <p:spPr>
          <a:xfrm>
            <a:off x="609600" y="5572126"/>
            <a:ext cx="10953747" cy="646986"/>
          </a:xfrm>
          <a:prstGeom prst="roundRect">
            <a:avLst/>
          </a:prstGeom>
          <a:noFill/>
          <a:ln w="3175">
            <a:solidFill>
              <a:schemeClr val="tx1"/>
            </a:solidFill>
            <a:prstDash val="lgDashDot"/>
            <a:extLst>
              <a:ext uri="{C807C97D-BFC1-408E-A445-0C87EB9F89A2}">
                <ask:lineSketchStyleProps xmlns:ask="http://schemas.microsoft.com/office/drawing/2018/sketchyshapes" sd="737081120">
                  <a:custGeom>
                    <a:avLst/>
                    <a:gdLst>
                      <a:gd name="csX0" fmla="*/ 0 w 10953747"/>
                      <a:gd name="csY0" fmla="*/ 107833 h 646986"/>
                      <a:gd name="csX1" fmla="*/ 107833 w 10953747"/>
                      <a:gd name="csY1" fmla="*/ 0 h 646986"/>
                      <a:gd name="csX2" fmla="*/ 10845914 w 10953747"/>
                      <a:gd name="csY2" fmla="*/ 0 h 646986"/>
                      <a:gd name="csX3" fmla="*/ 10953747 w 10953747"/>
                      <a:gd name="csY3" fmla="*/ 107833 h 646986"/>
                      <a:gd name="csX4" fmla="*/ 10953747 w 10953747"/>
                      <a:gd name="csY4" fmla="*/ 539153 h 646986"/>
                      <a:gd name="csX5" fmla="*/ 10845914 w 10953747"/>
                      <a:gd name="csY5" fmla="*/ 646986 h 646986"/>
                      <a:gd name="csX6" fmla="*/ 107833 w 10953747"/>
                      <a:gd name="csY6" fmla="*/ 646986 h 646986"/>
                      <a:gd name="csX7" fmla="*/ 0 w 10953747"/>
                      <a:gd name="csY7" fmla="*/ 539153 h 646986"/>
                      <a:gd name="csX8" fmla="*/ 0 w 10953747"/>
                      <a:gd name="csY8" fmla="*/ 107833 h 6469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953747" h="646986" extrusionOk="0">
                        <a:moveTo>
                          <a:pt x="0" y="107833"/>
                        </a:moveTo>
                        <a:cubicBezTo>
                          <a:pt x="945" y="47724"/>
                          <a:pt x="57827" y="2269"/>
                          <a:pt x="107833" y="0"/>
                        </a:cubicBezTo>
                        <a:cubicBezTo>
                          <a:pt x="1978047" y="88123"/>
                          <a:pt x="6860266" y="38418"/>
                          <a:pt x="10845914" y="0"/>
                        </a:cubicBezTo>
                        <a:cubicBezTo>
                          <a:pt x="10900521" y="1325"/>
                          <a:pt x="10953965" y="49041"/>
                          <a:pt x="10953747" y="107833"/>
                        </a:cubicBezTo>
                        <a:cubicBezTo>
                          <a:pt x="10974678" y="277678"/>
                          <a:pt x="10918072" y="404240"/>
                          <a:pt x="10953747" y="539153"/>
                        </a:cubicBezTo>
                        <a:cubicBezTo>
                          <a:pt x="10948497" y="589941"/>
                          <a:pt x="10905385" y="646011"/>
                          <a:pt x="10845914" y="646986"/>
                        </a:cubicBezTo>
                        <a:cubicBezTo>
                          <a:pt x="5722250" y="619545"/>
                          <a:pt x="4026681" y="585446"/>
                          <a:pt x="107833" y="646986"/>
                        </a:cubicBezTo>
                        <a:cubicBezTo>
                          <a:pt x="40481" y="655855"/>
                          <a:pt x="5248" y="594856"/>
                          <a:pt x="0" y="539153"/>
                        </a:cubicBezTo>
                        <a:cubicBezTo>
                          <a:pt x="36101" y="385350"/>
                          <a:pt x="33756" y="272872"/>
                          <a:pt x="0" y="107833"/>
                        </a:cubicBezTo>
                        <a:close/>
                      </a:path>
                    </a:pathLst>
                  </a:custGeom>
                  <ask:type>
                    <ask:lineSketchNone/>
                  </ask:type>
                </ask:lineSketchStyleProps>
              </a:ext>
            </a:extLst>
          </a:ln>
        </p:spPr>
        <p:txBody>
          <a:bodyPr wrap="square" rtlCol="0">
            <a:spAutoFit/>
          </a:bodyPr>
          <a:lstStyle/>
          <a:p>
            <a:r>
              <a:rPr lang="es-MX" sz="1600" b="1" spc="-40" dirty="0">
                <a:latin typeface="Arial" panose="020B0604020202020204" pitchFamily="34" charset="0"/>
                <a:cs typeface="Arial" panose="020B0604020202020204" pitchFamily="34" charset="0"/>
              </a:rPr>
              <a:t>La pregunta central:</a:t>
            </a:r>
            <a:r>
              <a:rPr lang="es-MX" sz="1600" spc="-40" dirty="0">
                <a:latin typeface="Arial" panose="020B0604020202020204" pitchFamily="34" charset="0"/>
                <a:cs typeface="Arial" panose="020B0604020202020204" pitchFamily="34" charset="0"/>
              </a:rPr>
              <a:t> ¿Cómo afectan los cambios en la provisión pública de servicios de salud y en el diseño institucional a la salud materno-infantil en contextos caracterizados por fragmentación institucional y restricciones fiscales?</a:t>
            </a:r>
          </a:p>
        </p:txBody>
      </p:sp>
    </p:spTree>
    <p:extLst>
      <p:ext uri="{BB962C8B-B14F-4D97-AF65-F5344CB8AC3E}">
        <p14:creationId xmlns:p14="http://schemas.microsoft.com/office/powerpoint/2010/main" val="266961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D09C90-CB93-F1B8-9987-50E8134830E6}"/>
              </a:ext>
            </a:extLst>
          </p:cNvPr>
          <p:cNvSpPr/>
          <p:nvPr/>
        </p:nvSpPr>
        <p:spPr>
          <a:xfrm>
            <a:off x="-26585" y="-1"/>
            <a:ext cx="513317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TextBox 2">
            <a:extLst>
              <a:ext uri="{FF2B5EF4-FFF2-40B4-BE49-F238E27FC236}">
                <a16:creationId xmlns:a16="http://schemas.microsoft.com/office/drawing/2014/main" id="{5A52473E-3E8F-0BE8-AE7B-D96593B5F287}"/>
              </a:ext>
            </a:extLst>
          </p:cNvPr>
          <p:cNvSpPr txBox="1"/>
          <p:nvPr/>
        </p:nvSpPr>
        <p:spPr>
          <a:xfrm>
            <a:off x="438150" y="3044279"/>
            <a:ext cx="4819650" cy="769441"/>
          </a:xfrm>
          <a:prstGeom prst="rect">
            <a:avLst/>
          </a:prstGeom>
          <a:noFill/>
        </p:spPr>
        <p:txBody>
          <a:bodyPr wrap="square" rtlCol="0">
            <a:spAutoFit/>
          </a:bodyPr>
          <a:lstStyle/>
          <a:p>
            <a:r>
              <a:rPr lang="es-MX" sz="4400" dirty="0">
                <a:solidFill>
                  <a:schemeClr val="bg1"/>
                </a:solidFill>
                <a:latin typeface="Arial Black" panose="020B0A04020102020204" pitchFamily="34" charset="0"/>
              </a:rPr>
              <a:t>1. Capacidad</a:t>
            </a:r>
          </a:p>
        </p:txBody>
      </p:sp>
      <p:pic>
        <p:nvPicPr>
          <p:cNvPr id="5" name="Picture 4">
            <a:extLst>
              <a:ext uri="{FF2B5EF4-FFF2-40B4-BE49-F238E27FC236}">
                <a16:creationId xmlns:a16="http://schemas.microsoft.com/office/drawing/2014/main" id="{A5D7FEBB-3C0E-885E-1784-53E1B7066EE0}"/>
              </a:ext>
            </a:extLst>
          </p:cNvPr>
          <p:cNvPicPr>
            <a:picLocks noChangeAspect="1"/>
          </p:cNvPicPr>
          <p:nvPr/>
        </p:nvPicPr>
        <p:blipFill>
          <a:blip r:embed="rId2"/>
          <a:stretch>
            <a:fillRect/>
          </a:stretch>
        </p:blipFill>
        <p:spPr>
          <a:xfrm>
            <a:off x="5257800" y="553296"/>
            <a:ext cx="6321425" cy="2373207"/>
          </a:xfrm>
          <a:prstGeom prst="rect">
            <a:avLst/>
          </a:prstGeom>
        </p:spPr>
      </p:pic>
      <p:pic>
        <p:nvPicPr>
          <p:cNvPr id="7" name="Picture 6">
            <a:extLst>
              <a:ext uri="{FF2B5EF4-FFF2-40B4-BE49-F238E27FC236}">
                <a16:creationId xmlns:a16="http://schemas.microsoft.com/office/drawing/2014/main" id="{A883FA48-8CA2-2BED-ADE2-E0AEA2F0E681}"/>
              </a:ext>
            </a:extLst>
          </p:cNvPr>
          <p:cNvPicPr>
            <a:picLocks noChangeAspect="1"/>
          </p:cNvPicPr>
          <p:nvPr/>
        </p:nvPicPr>
        <p:blipFill>
          <a:blip r:embed="rId3"/>
          <a:stretch>
            <a:fillRect/>
          </a:stretch>
        </p:blipFill>
        <p:spPr>
          <a:xfrm>
            <a:off x="5133170" y="2926503"/>
            <a:ext cx="6446055" cy="3679978"/>
          </a:xfrm>
          <a:prstGeom prst="rect">
            <a:avLst/>
          </a:prstGeom>
        </p:spPr>
      </p:pic>
      <p:sp>
        <p:nvSpPr>
          <p:cNvPr id="10" name="text-3-2">
            <a:extLst>
              <a:ext uri="{FF2B5EF4-FFF2-40B4-BE49-F238E27FC236}">
                <a16:creationId xmlns:a16="http://schemas.microsoft.com/office/drawing/2014/main" id="{F3E49C72-C3A1-06CB-A4E5-1695A35CEC05}"/>
              </a:ext>
            </a:extLst>
          </p:cNvPr>
          <p:cNvSpPr>
            <a:spLocks noGrp="1"/>
          </p:cNvSpPr>
          <p:nvPr/>
        </p:nvSpPr>
        <p:spPr>
          <a:xfrm>
            <a:off x="10953750" y="6362700"/>
            <a:ext cx="628650" cy="285750"/>
          </a:xfrm>
          <a:prstGeom prst="rect">
            <a:avLst/>
          </a:prstGeom>
          <a:no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lang="en-US" sz="1275" dirty="0">
                <a:solidFill>
                  <a:srgbClr val="53646B"/>
                </a:solidFill>
                <a:latin typeface="DejaVu Sans"/>
                <a:ea typeface="DejaVu Sans"/>
                <a:cs typeface="DejaVu Sans"/>
              </a:rPr>
              <a:t>4</a:t>
            </a:r>
            <a:r>
              <a:rPr sz="1275" b="0" dirty="0">
                <a:solidFill>
                  <a:srgbClr val="53646B"/>
                </a:solidFill>
                <a:latin typeface="DejaVu Sans"/>
                <a:ea typeface="DejaVu Sans"/>
                <a:cs typeface="DejaVu Sans"/>
              </a:rPr>
              <a:t> / 18</a:t>
            </a:r>
          </a:p>
        </p:txBody>
      </p:sp>
    </p:spTree>
    <p:extLst>
      <p:ext uri="{BB962C8B-B14F-4D97-AF65-F5344CB8AC3E}">
        <p14:creationId xmlns:p14="http://schemas.microsoft.com/office/powerpoint/2010/main" val="2484599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FF800-4DB3-6D2D-F7AD-3E1FB87F0B02}"/>
            </a:ext>
          </a:extLst>
        </p:cNvPr>
        <p:cNvGrpSpPr/>
        <p:nvPr/>
      </p:nvGrpSpPr>
      <p:grpSpPr>
        <a:xfrm>
          <a:off x="0" y="0"/>
          <a:ext cx="0" cy="0"/>
          <a:chOff x="0" y="0"/>
          <a:chExt cx="0" cy="0"/>
        </a:xfrm>
      </p:grpSpPr>
      <p:sp>
        <p:nvSpPr>
          <p:cNvPr id="3" name="text-3-2">
            <a:extLst>
              <a:ext uri="{FF2B5EF4-FFF2-40B4-BE49-F238E27FC236}">
                <a16:creationId xmlns:a16="http://schemas.microsoft.com/office/drawing/2014/main" id="{ADB5D778-FDF8-E4DF-157F-A59C60320C42}"/>
              </a:ext>
            </a:extLst>
          </p:cNvPr>
          <p:cNvSpPr>
            <a:spLocks noGrp="1"/>
          </p:cNvSpPr>
          <p:nvPr/>
        </p:nvSpPr>
        <p:spPr>
          <a:xfrm>
            <a:off x="10953750" y="6362700"/>
            <a:ext cx="628650" cy="285750"/>
          </a:xfrm>
          <a:prstGeom prst="rect">
            <a:avLst/>
          </a:prstGeom>
          <a:no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lang="en-US" sz="1275" dirty="0">
                <a:solidFill>
                  <a:srgbClr val="53646B"/>
                </a:solidFill>
                <a:latin typeface="DejaVu Sans"/>
                <a:ea typeface="DejaVu Sans"/>
                <a:cs typeface="DejaVu Sans"/>
              </a:rPr>
              <a:t>5</a:t>
            </a:r>
            <a:r>
              <a:rPr sz="1275" b="0" dirty="0">
                <a:solidFill>
                  <a:srgbClr val="53646B"/>
                </a:solidFill>
                <a:latin typeface="DejaVu Sans"/>
                <a:ea typeface="DejaVu Sans"/>
                <a:cs typeface="DejaVu Sans"/>
              </a:rPr>
              <a:t> / 18</a:t>
            </a:r>
          </a:p>
        </p:txBody>
      </p:sp>
      <p:sp>
        <p:nvSpPr>
          <p:cNvPr id="8" name="text-2-0">
            <a:extLst>
              <a:ext uri="{FF2B5EF4-FFF2-40B4-BE49-F238E27FC236}">
                <a16:creationId xmlns:a16="http://schemas.microsoft.com/office/drawing/2014/main" id="{F66E0101-1C98-BE56-948D-3DED5B361D2D}"/>
              </a:ext>
            </a:extLst>
          </p:cNvPr>
          <p:cNvSpPr>
            <a:spLocks noGrp="1"/>
          </p:cNvSpPr>
          <p:nvPr/>
        </p:nvSpPr>
        <p:spPr>
          <a:xfrm>
            <a:off x="609600" y="409575"/>
            <a:ext cx="10953750" cy="771525"/>
          </a:xfrm>
          <a:prstGeom prst="rect">
            <a:avLst/>
          </a:prstGeom>
          <a:noFill/>
          <a:ln w="0">
            <a:noFill/>
          </a:ln>
        </p:spPr>
        <p:txBody>
          <a:bodyPr wrap="square" lIns="0" tIns="0" rIns="0" bIns="0" anchor="t">
            <a:noAutofit/>
          </a:bodyPr>
          <a:lstStyle/>
          <a:p>
            <a:pPr>
              <a:defRPr sz="3225" b="1">
                <a:solidFill>
                  <a:srgbClr val="162E37"/>
                </a:solidFill>
                <a:latin typeface="DejaVu Sans"/>
                <a:ea typeface="DejaVu Sans"/>
                <a:cs typeface="DejaVu Sans"/>
              </a:defRPr>
            </a:pPr>
            <a:r>
              <a:rPr lang="es-MX" sz="2400" b="1" spc="-40" dirty="0">
                <a:solidFill>
                  <a:schemeClr val="accent4">
                    <a:lumMod val="75000"/>
                  </a:schemeClr>
                </a:solidFill>
                <a:latin typeface="Arial Black" panose="020B0A04020102020204" pitchFamily="34" charset="0"/>
              </a:rPr>
              <a:t>La Apertura de un Hospital Mejora la Salud si el Acceso Efectivo que Genera Supera al de las Alternativas Previamente Disponibles</a:t>
            </a:r>
            <a:endParaRPr sz="2400" b="1" spc="-40" dirty="0">
              <a:solidFill>
                <a:schemeClr val="accent4">
                  <a:lumMod val="75000"/>
                </a:schemeClr>
              </a:solidFill>
              <a:latin typeface="Arial Black" panose="020B0A04020102020204" pitchFamily="34" charset="0"/>
              <a:ea typeface="DejaVu Sans"/>
              <a:cs typeface="DejaVu Sans"/>
            </a:endParaRPr>
          </a:p>
        </p:txBody>
      </p:sp>
      <p:sp>
        <p:nvSpPr>
          <p:cNvPr id="9" name="TextBox 8">
            <a:extLst>
              <a:ext uri="{FF2B5EF4-FFF2-40B4-BE49-F238E27FC236}">
                <a16:creationId xmlns:a16="http://schemas.microsoft.com/office/drawing/2014/main" id="{008B87FA-FF7A-5E8A-E41F-95B558F97828}"/>
              </a:ext>
            </a:extLst>
          </p:cNvPr>
          <p:cNvSpPr txBox="1"/>
          <p:nvPr/>
        </p:nvSpPr>
        <p:spPr>
          <a:xfrm>
            <a:off x="533400" y="1184971"/>
            <a:ext cx="10953750" cy="400110"/>
          </a:xfrm>
          <a:prstGeom prst="rect">
            <a:avLst/>
          </a:prstGeom>
          <a:noFill/>
        </p:spPr>
        <p:txBody>
          <a:bodyPr wrap="square" rtlCol="0">
            <a:spAutoFit/>
          </a:bodyPr>
          <a:lstStyle/>
          <a:p>
            <a:r>
              <a:rPr lang="es-MX" sz="2000" i="1" spc="-110" dirty="0">
                <a:solidFill>
                  <a:schemeClr val="accent4">
                    <a:lumMod val="50000"/>
                  </a:schemeClr>
                </a:solidFill>
                <a:latin typeface="Arial" panose="020B0604020202020204" pitchFamily="34" charset="0"/>
                <a:cs typeface="Arial" panose="020B0604020202020204" pitchFamily="34" charset="0"/>
              </a:rPr>
              <a:t>Los Hospitales comunitarios son construidos en zonas con alta marginación y dependen de la comunidad.</a:t>
            </a:r>
          </a:p>
        </p:txBody>
      </p:sp>
      <p:sp>
        <p:nvSpPr>
          <p:cNvPr id="5" name="Rectangle: Rounded Corners 4">
            <a:extLst>
              <a:ext uri="{FF2B5EF4-FFF2-40B4-BE49-F238E27FC236}">
                <a16:creationId xmlns:a16="http://schemas.microsoft.com/office/drawing/2014/main" id="{0ABB5708-9930-7906-511B-D64508A3AE3F}"/>
              </a:ext>
            </a:extLst>
          </p:cNvPr>
          <p:cNvSpPr/>
          <p:nvPr/>
        </p:nvSpPr>
        <p:spPr>
          <a:xfrm>
            <a:off x="609600" y="1962288"/>
            <a:ext cx="2085976" cy="1098412"/>
          </a:xfrm>
          <a:prstGeom prst="roundRect">
            <a:avLst>
              <a:gd name="adj" fmla="val 50000"/>
            </a:avLst>
          </a:prstGeom>
          <a:solidFill>
            <a:schemeClr val="bg1"/>
          </a:solidFill>
          <a:ln w="38100">
            <a:solidFill>
              <a:srgbClr val="0B76A0">
                <a:alpha val="4902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latin typeface="Arial" panose="020B0604020202020204" pitchFamily="34" charset="0"/>
                <a:cs typeface="Arial" panose="020B0604020202020204" pitchFamily="34" charset="0"/>
              </a:rPr>
              <a:t>Choque de oferta</a:t>
            </a:r>
          </a:p>
        </p:txBody>
      </p:sp>
      <p:sp>
        <p:nvSpPr>
          <p:cNvPr id="7" name="Rectangle: Rounded Corners 6">
            <a:extLst>
              <a:ext uri="{FF2B5EF4-FFF2-40B4-BE49-F238E27FC236}">
                <a16:creationId xmlns:a16="http://schemas.microsoft.com/office/drawing/2014/main" id="{1EA3FF89-7122-C28B-EFF0-CFB6E45030C0}"/>
              </a:ext>
            </a:extLst>
          </p:cNvPr>
          <p:cNvSpPr/>
          <p:nvPr/>
        </p:nvSpPr>
        <p:spPr>
          <a:xfrm>
            <a:off x="3543300" y="2902228"/>
            <a:ext cx="2085976" cy="1098412"/>
          </a:xfrm>
          <a:prstGeom prst="roundRect">
            <a:avLst>
              <a:gd name="adj" fmla="val 50000"/>
            </a:avLst>
          </a:prstGeom>
          <a:solidFill>
            <a:schemeClr val="bg1"/>
          </a:solidFill>
          <a:ln w="38100">
            <a:solidFill>
              <a:srgbClr val="0B76A0">
                <a:alpha val="4902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latin typeface="Arial" panose="020B0604020202020204" pitchFamily="34" charset="0"/>
                <a:cs typeface="Arial" panose="020B0604020202020204" pitchFamily="34" charset="0"/>
              </a:rPr>
              <a:t>Costo de acceso</a:t>
            </a:r>
          </a:p>
        </p:txBody>
      </p:sp>
      <p:sp>
        <p:nvSpPr>
          <p:cNvPr id="12" name="Rectangle: Rounded Corners 11">
            <a:extLst>
              <a:ext uri="{FF2B5EF4-FFF2-40B4-BE49-F238E27FC236}">
                <a16:creationId xmlns:a16="http://schemas.microsoft.com/office/drawing/2014/main" id="{4ECB8E96-6978-16F2-5C96-80D41B1E3F78}"/>
              </a:ext>
            </a:extLst>
          </p:cNvPr>
          <p:cNvSpPr/>
          <p:nvPr/>
        </p:nvSpPr>
        <p:spPr>
          <a:xfrm>
            <a:off x="6353175" y="1962288"/>
            <a:ext cx="2085976" cy="1098412"/>
          </a:xfrm>
          <a:prstGeom prst="roundRect">
            <a:avLst>
              <a:gd name="adj" fmla="val 50000"/>
            </a:avLst>
          </a:prstGeom>
          <a:solidFill>
            <a:schemeClr val="bg1"/>
          </a:solidFill>
          <a:ln w="38100">
            <a:solidFill>
              <a:srgbClr val="0B76A0">
                <a:alpha val="4902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latin typeface="Arial" panose="020B0604020202020204" pitchFamily="34" charset="0"/>
                <a:cs typeface="Arial" panose="020B0604020202020204" pitchFamily="34" charset="0"/>
              </a:rPr>
              <a:t>Uso de servicios preventivos</a:t>
            </a:r>
          </a:p>
        </p:txBody>
      </p:sp>
      <p:sp>
        <p:nvSpPr>
          <p:cNvPr id="16" name="Rectangle: Rounded Corners 15">
            <a:extLst>
              <a:ext uri="{FF2B5EF4-FFF2-40B4-BE49-F238E27FC236}">
                <a16:creationId xmlns:a16="http://schemas.microsoft.com/office/drawing/2014/main" id="{DDB810BD-C38F-A5C0-6BF5-4094133FFA03}"/>
              </a:ext>
            </a:extLst>
          </p:cNvPr>
          <p:cNvSpPr/>
          <p:nvPr/>
        </p:nvSpPr>
        <p:spPr>
          <a:xfrm>
            <a:off x="9401174" y="2905681"/>
            <a:ext cx="2085976" cy="1098412"/>
          </a:xfrm>
          <a:prstGeom prst="roundRect">
            <a:avLst>
              <a:gd name="adj" fmla="val 50000"/>
            </a:avLst>
          </a:prstGeom>
          <a:solidFill>
            <a:schemeClr val="bg1"/>
          </a:solidFill>
          <a:ln w="38100">
            <a:solidFill>
              <a:srgbClr val="0B76A0">
                <a:alpha val="4902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latin typeface="Arial" panose="020B0604020202020204" pitchFamily="34" charset="0"/>
                <a:cs typeface="Arial" panose="020B0604020202020204" pitchFamily="34" charset="0"/>
              </a:rPr>
              <a:t>Resultados de salud</a:t>
            </a:r>
          </a:p>
        </p:txBody>
      </p:sp>
      <p:cxnSp>
        <p:nvCxnSpPr>
          <p:cNvPr id="18" name="Connector: Curved 17">
            <a:extLst>
              <a:ext uri="{FF2B5EF4-FFF2-40B4-BE49-F238E27FC236}">
                <a16:creationId xmlns:a16="http://schemas.microsoft.com/office/drawing/2014/main" id="{0F31C476-732A-9469-6B9A-B4A2946C445C}"/>
              </a:ext>
            </a:extLst>
          </p:cNvPr>
          <p:cNvCxnSpPr>
            <a:stCxn id="5" idx="3"/>
            <a:endCxn id="7" idx="1"/>
          </p:cNvCxnSpPr>
          <p:nvPr/>
        </p:nvCxnSpPr>
        <p:spPr>
          <a:xfrm>
            <a:off x="2695576" y="2511494"/>
            <a:ext cx="847724" cy="939940"/>
          </a:xfrm>
          <a:prstGeom prst="curvedConnector3">
            <a:avLst/>
          </a:prstGeom>
          <a:ln w="38100">
            <a:solidFill>
              <a:srgbClr val="0B76A0">
                <a:alpha val="4902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007DFAB4-11FD-C6FA-09EA-88ED96B0024E}"/>
              </a:ext>
            </a:extLst>
          </p:cNvPr>
          <p:cNvCxnSpPr>
            <a:stCxn id="7" idx="3"/>
            <a:endCxn id="12" idx="1"/>
          </p:cNvCxnSpPr>
          <p:nvPr/>
        </p:nvCxnSpPr>
        <p:spPr>
          <a:xfrm flipV="1">
            <a:off x="5629276" y="2511494"/>
            <a:ext cx="723899" cy="939940"/>
          </a:xfrm>
          <a:prstGeom prst="curvedConnector3">
            <a:avLst/>
          </a:prstGeom>
          <a:ln w="38100">
            <a:solidFill>
              <a:srgbClr val="0B76A0">
                <a:alpha val="49020"/>
              </a:srgb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9F46C0C7-4D31-8208-5124-9E62FFEB2EAD}"/>
              </a:ext>
            </a:extLst>
          </p:cNvPr>
          <p:cNvCxnSpPr>
            <a:stCxn id="12" idx="3"/>
            <a:endCxn id="16" idx="1"/>
          </p:cNvCxnSpPr>
          <p:nvPr/>
        </p:nvCxnSpPr>
        <p:spPr>
          <a:xfrm>
            <a:off x="8439151" y="2511494"/>
            <a:ext cx="962023" cy="943393"/>
          </a:xfrm>
          <a:prstGeom prst="curvedConnector3">
            <a:avLst/>
          </a:prstGeom>
          <a:ln w="38100">
            <a:solidFill>
              <a:srgbClr val="0B76A0">
                <a:alpha val="49020"/>
              </a:srgb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F72D42A-787D-2C52-0AB0-DE196FAB335F}"/>
              </a:ext>
            </a:extLst>
          </p:cNvPr>
          <p:cNvSpPr txBox="1"/>
          <p:nvPr/>
        </p:nvSpPr>
        <p:spPr>
          <a:xfrm>
            <a:off x="6324600" y="3346450"/>
            <a:ext cx="2085976" cy="584775"/>
          </a:xfrm>
          <a:prstGeom prst="rect">
            <a:avLst/>
          </a:prstGeom>
          <a:noFill/>
        </p:spPr>
        <p:txBody>
          <a:bodyPr wrap="square" rtlCol="0">
            <a:spAutoFit/>
          </a:bodyPr>
          <a:lstStyle/>
          <a:p>
            <a:pPr algn="ctr"/>
            <a:r>
              <a:rPr lang="es-MX" sz="1600" i="1" dirty="0">
                <a:latin typeface="Arial" panose="020B0604020202020204" pitchFamily="34" charset="0"/>
                <a:cs typeface="Arial" panose="020B0604020202020204" pitchFamily="34" charset="0"/>
              </a:rPr>
              <a:t>Atención y estudios prenatales</a:t>
            </a:r>
          </a:p>
        </p:txBody>
      </p:sp>
      <p:sp>
        <p:nvSpPr>
          <p:cNvPr id="35" name="TextBox 34">
            <a:extLst>
              <a:ext uri="{FF2B5EF4-FFF2-40B4-BE49-F238E27FC236}">
                <a16:creationId xmlns:a16="http://schemas.microsoft.com/office/drawing/2014/main" id="{F65375C8-A1F1-6A06-268C-496CA9DF3D27}"/>
              </a:ext>
            </a:extLst>
          </p:cNvPr>
          <p:cNvSpPr txBox="1"/>
          <p:nvPr/>
        </p:nvSpPr>
        <p:spPr>
          <a:xfrm>
            <a:off x="3481387" y="1821393"/>
            <a:ext cx="2085976" cy="830997"/>
          </a:xfrm>
          <a:prstGeom prst="rect">
            <a:avLst/>
          </a:prstGeom>
          <a:noFill/>
        </p:spPr>
        <p:txBody>
          <a:bodyPr wrap="square" rtlCol="0">
            <a:spAutoFit/>
          </a:bodyPr>
          <a:lstStyle/>
          <a:p>
            <a:pPr algn="ctr"/>
            <a:r>
              <a:rPr lang="es-MX" sz="1600" i="1" dirty="0">
                <a:latin typeface="Arial" panose="020B0604020202020204" pitchFamily="34" charset="0"/>
                <a:cs typeface="Arial" panose="020B0604020202020204" pitchFamily="34" charset="0"/>
              </a:rPr>
              <a:t>↓ Tiempo de traslado</a:t>
            </a:r>
          </a:p>
          <a:p>
            <a:pPr algn="ctr"/>
            <a:r>
              <a:rPr lang="es-MX" sz="1600" i="1" dirty="0">
                <a:latin typeface="Arial" panose="020B0604020202020204" pitchFamily="34" charset="0"/>
                <a:cs typeface="Arial" panose="020B0604020202020204" pitchFamily="34" charset="0"/>
              </a:rPr>
              <a:t>↓ Riesgo por demora</a:t>
            </a:r>
          </a:p>
          <a:p>
            <a:pPr algn="ctr"/>
            <a:r>
              <a:rPr lang="es-MX" sz="1600" i="1" dirty="0">
                <a:latin typeface="Arial" panose="020B0604020202020204" pitchFamily="34" charset="0"/>
                <a:cs typeface="Arial" panose="020B0604020202020204" pitchFamily="34" charset="0"/>
              </a:rPr>
              <a:t>↓ OOP</a:t>
            </a:r>
          </a:p>
        </p:txBody>
      </p:sp>
      <p:sp>
        <p:nvSpPr>
          <p:cNvPr id="38" name="TextBox 37">
            <a:extLst>
              <a:ext uri="{FF2B5EF4-FFF2-40B4-BE49-F238E27FC236}">
                <a16:creationId xmlns:a16="http://schemas.microsoft.com/office/drawing/2014/main" id="{4ED263DF-4B95-C3A2-7CC7-7FA1752B9829}"/>
              </a:ext>
            </a:extLst>
          </p:cNvPr>
          <p:cNvSpPr txBox="1"/>
          <p:nvPr/>
        </p:nvSpPr>
        <p:spPr>
          <a:xfrm>
            <a:off x="762000" y="3346450"/>
            <a:ext cx="2085976" cy="830997"/>
          </a:xfrm>
          <a:prstGeom prst="rect">
            <a:avLst/>
          </a:prstGeom>
          <a:noFill/>
        </p:spPr>
        <p:txBody>
          <a:bodyPr wrap="square" rtlCol="0">
            <a:spAutoFit/>
          </a:bodyPr>
          <a:lstStyle/>
          <a:p>
            <a:pPr algn="ctr"/>
            <a:r>
              <a:rPr lang="es-MX" sz="1600" i="1" dirty="0">
                <a:latin typeface="Arial" panose="020B0604020202020204" pitchFamily="34" charset="0"/>
                <a:cs typeface="Arial" panose="020B0604020202020204" pitchFamily="34" charset="0"/>
              </a:rPr>
              <a:t>Primer hospital comunitario (2do nivel o más)</a:t>
            </a:r>
          </a:p>
        </p:txBody>
      </p:sp>
      <p:sp>
        <p:nvSpPr>
          <p:cNvPr id="44" name="TextBox 43">
            <a:extLst>
              <a:ext uri="{FF2B5EF4-FFF2-40B4-BE49-F238E27FC236}">
                <a16:creationId xmlns:a16="http://schemas.microsoft.com/office/drawing/2014/main" id="{01E7208C-8E1B-87B9-5CC1-E693636F7728}"/>
              </a:ext>
            </a:extLst>
          </p:cNvPr>
          <p:cNvSpPr txBox="1"/>
          <p:nvPr/>
        </p:nvSpPr>
        <p:spPr>
          <a:xfrm>
            <a:off x="9391649" y="1849968"/>
            <a:ext cx="2085976" cy="1077218"/>
          </a:xfrm>
          <a:prstGeom prst="rect">
            <a:avLst/>
          </a:prstGeom>
          <a:noFill/>
        </p:spPr>
        <p:txBody>
          <a:bodyPr wrap="square" rtlCol="0">
            <a:spAutoFit/>
          </a:bodyPr>
          <a:lstStyle/>
          <a:p>
            <a:pPr algn="ctr"/>
            <a:r>
              <a:rPr lang="es-MX" sz="1600" i="1" dirty="0">
                <a:latin typeface="Arial" panose="020B0604020202020204" pitchFamily="34" charset="0"/>
                <a:cs typeface="Arial" panose="020B0604020202020204" pitchFamily="34" charset="0"/>
              </a:rPr>
              <a:t>Peso y complicaciones (APGAR) al nacer</a:t>
            </a:r>
          </a:p>
          <a:p>
            <a:pPr algn="ctr"/>
            <a:endParaRPr lang="es-MX" sz="1600" i="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645B0705-D07A-319A-BA86-98E2D09BA96D}"/>
                  </a:ext>
                </a:extLst>
              </p:cNvPr>
              <p:cNvSpPr txBox="1"/>
              <p:nvPr/>
            </p:nvSpPr>
            <p:spPr>
              <a:xfrm>
                <a:off x="1222220" y="4367447"/>
                <a:ext cx="9976770" cy="369332"/>
              </a:xfrm>
              <a:prstGeom prst="rect">
                <a:avLst/>
              </a:prstGeom>
              <a:noFill/>
            </p:spPr>
            <p:txBody>
              <a:bodyPr wrap="none" lIns="0" tIns="0" rIns="0" bIns="0" rtlCol="0">
                <a:spAutoFit/>
              </a:bodyPr>
              <a:lstStyle/>
              <a:p>
                <a14:m>
                  <m:oMathPara xmlns:m="http://schemas.openxmlformats.org/officeDocument/2006/math">
                    <m:oMath>
                      <m:r>
                        <a:rPr lang="es-MX" sz="2400" b="0" i="1" smtClean="0">
                          <a:latin typeface="Cambria Math" panose="02040503050406030204" pitchFamily="18" charset="0"/>
                          <a:ea typeface="Cambria Math" panose="02040503050406030204" pitchFamily="18" charset="0"/>
                        </a:rPr>
                        <m:t>∆</m:t>
                      </m:r>
                      <m:r>
                        <a:rPr lang="es-MX" sz="2400" b="0" i="1" smtClean="0">
                          <a:latin typeface="Cambria Math" panose="02040503050406030204" pitchFamily="18" charset="0"/>
                          <a:ea typeface="Cambria Math" panose="02040503050406030204" pitchFamily="18" charset="0"/>
                        </a:rPr>
                        <m:t>𝑠𝑎𝑙𝑢𝑑</m:t>
                      </m:r>
                      <m:r>
                        <a:rPr lang="es-MX" sz="2400" b="0" i="1" smtClean="0">
                          <a:latin typeface="Cambria Math" panose="02040503050406030204" pitchFamily="18" charset="0"/>
                          <a:ea typeface="Cambria Math" panose="02040503050406030204" pitchFamily="18" charset="0"/>
                        </a:rPr>
                        <m:t>(</m:t>
                      </m:r>
                      <m:r>
                        <a:rPr lang="es-MX" sz="2400" b="0" i="1" smtClean="0">
                          <a:latin typeface="Cambria Math" panose="02040503050406030204" pitchFamily="18" charset="0"/>
                          <a:ea typeface="Cambria Math" panose="02040503050406030204" pitchFamily="18" charset="0"/>
                        </a:rPr>
                        <m:t>𝐻𝑜𝑠𝑝𝑖𝑡𝑎𝑙</m:t>
                      </m:r>
                      <m:r>
                        <a:rPr lang="es-MX" sz="2400" b="0" i="1" smtClean="0">
                          <a:latin typeface="Cambria Math" panose="02040503050406030204" pitchFamily="18" charset="0"/>
                          <a:ea typeface="Cambria Math" panose="02040503050406030204" pitchFamily="18" charset="0"/>
                        </a:rPr>
                        <m:t> </m:t>
                      </m:r>
                      <m:r>
                        <a:rPr lang="es-MX" sz="2400" b="0" i="1" smtClean="0">
                          <a:latin typeface="Cambria Math" panose="02040503050406030204" pitchFamily="18" charset="0"/>
                          <a:ea typeface="Cambria Math" panose="02040503050406030204" pitchFamily="18" charset="0"/>
                        </a:rPr>
                        <m:t>𝑛𝑢𝑒𝑣𝑜</m:t>
                      </m:r>
                      <m:r>
                        <a:rPr lang="es-MX"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𝑝𝑟𝑒𝑣𝑒𝑛𝑐𝑖</m:t>
                      </m:r>
                      <m:r>
                        <a:rPr lang="es-MX" sz="2400" b="0" i="1" smtClean="0">
                          <a:latin typeface="Cambria Math" panose="02040503050406030204" pitchFamily="18" charset="0"/>
                          <a:ea typeface="Cambria Math" panose="02040503050406030204" pitchFamily="18" charset="0"/>
                        </a:rPr>
                        <m:t>ó</m:t>
                      </m:r>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𝑑𝑒𝑚𝑜𝑟𝑎</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𝑂𝑂𝑃</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𝑐𝑎𝑙𝑖𝑑𝑎𝑑</m:t>
                      </m:r>
                    </m:oMath>
                  </m:oMathPara>
                </a14:m>
                <a:endParaRPr lang="es-MX" sz="2400" dirty="0"/>
              </a:p>
            </p:txBody>
          </p:sp>
        </mc:Choice>
        <mc:Fallback>
          <p:sp>
            <p:nvSpPr>
              <p:cNvPr id="46" name="TextBox 45">
                <a:extLst>
                  <a:ext uri="{FF2B5EF4-FFF2-40B4-BE49-F238E27FC236}">
                    <a16:creationId xmlns:a16="http://schemas.microsoft.com/office/drawing/2014/main" id="{645B0705-D07A-319A-BA86-98E2D09BA96D}"/>
                  </a:ext>
                </a:extLst>
              </p:cNvPr>
              <p:cNvSpPr txBox="1">
                <a:spLocks noRot="1" noChangeAspect="1" noMove="1" noResize="1" noEditPoints="1" noAdjustHandles="1" noChangeArrowheads="1" noChangeShapeType="1" noTextEdit="1"/>
              </p:cNvSpPr>
              <p:nvPr/>
            </p:nvSpPr>
            <p:spPr>
              <a:xfrm>
                <a:off x="1222220" y="4367447"/>
                <a:ext cx="9976770" cy="369332"/>
              </a:xfrm>
              <a:prstGeom prst="rect">
                <a:avLst/>
              </a:prstGeom>
              <a:blipFill>
                <a:blip r:embed="rId3"/>
                <a:stretch>
                  <a:fillRect l="-244" r="-183" b="-34426"/>
                </a:stretch>
              </a:blipFill>
            </p:spPr>
            <p:txBody>
              <a:bodyPr/>
              <a:lstStyle/>
              <a:p>
                <a:r>
                  <a:rPr lang="es-MX">
                    <a:noFill/>
                  </a:rPr>
                  <a:t> </a:t>
                </a:r>
              </a:p>
            </p:txBody>
          </p:sp>
        </mc:Fallback>
      </mc:AlternateContent>
      <p:sp>
        <p:nvSpPr>
          <p:cNvPr id="48" name="TextBox 47">
            <a:extLst>
              <a:ext uri="{FF2B5EF4-FFF2-40B4-BE49-F238E27FC236}">
                <a16:creationId xmlns:a16="http://schemas.microsoft.com/office/drawing/2014/main" id="{A091ED19-3A82-A048-78B6-69F17F8EF7BB}"/>
              </a:ext>
            </a:extLst>
          </p:cNvPr>
          <p:cNvSpPr txBox="1"/>
          <p:nvPr/>
        </p:nvSpPr>
        <p:spPr>
          <a:xfrm>
            <a:off x="609600" y="4914899"/>
            <a:ext cx="10953750" cy="1463040"/>
          </a:xfrm>
          <a:prstGeom prst="roundRect">
            <a:avLst/>
          </a:prstGeom>
          <a:noFill/>
          <a:ln>
            <a:solidFill>
              <a:schemeClr val="tx1"/>
            </a:solidFill>
            <a:prstDash val="dashDot"/>
          </a:ln>
        </p:spPr>
        <p:txBody>
          <a:bodyPr wrap="square" rtlCol="0">
            <a:spAutoFit/>
          </a:bodyPr>
          <a:lstStyle/>
          <a:p>
            <a:pPr>
              <a:spcAft>
                <a:spcPts val="600"/>
              </a:spcAft>
            </a:pPr>
            <a:r>
              <a:rPr lang="es-MX" b="1" dirty="0">
                <a:solidFill>
                  <a:schemeClr val="accent4">
                    <a:lumMod val="75000"/>
                  </a:schemeClr>
                </a:solidFill>
                <a:latin typeface="Arial" panose="020B0604020202020204" pitchFamily="34" charset="0"/>
                <a:cs typeface="Arial" panose="020B0604020202020204" pitchFamily="34" charset="0"/>
              </a:rPr>
              <a:t>¿Por qué la conversión en salud no es automática? </a:t>
            </a:r>
            <a:r>
              <a:rPr lang="es-MX" dirty="0"/>
              <a:t>🚩</a:t>
            </a:r>
            <a:endParaRPr lang="es-MX" b="1" dirty="0">
              <a:solidFill>
                <a:schemeClr val="accent4">
                  <a:lumMod val="75000"/>
                </a:schemeClr>
              </a:solidFill>
              <a:latin typeface="Arial" panose="020B0604020202020204" pitchFamily="34" charset="0"/>
              <a:cs typeface="Arial" panose="020B0604020202020204" pitchFamily="34" charset="0"/>
            </a:endParaRPr>
          </a:p>
          <a:p>
            <a:pPr algn="just"/>
            <a:r>
              <a:rPr lang="es-MX" spc="-60" dirty="0">
                <a:latin typeface="Arial" panose="020B0604020202020204" pitchFamily="34" charset="0"/>
                <a:cs typeface="Arial" panose="020B0604020202020204" pitchFamily="34" charset="0"/>
              </a:rPr>
              <a:t>También puede sustituir proveedores con mayor capacidad resolutiva, mientras que el ahorro en gastos de bolsillo no necesariamente se traduce en inversión materna o prenatal. Por ello, el efecto neto sobre APGAR y peso al nacer no es evidente ex ante.</a:t>
            </a:r>
          </a:p>
        </p:txBody>
      </p:sp>
    </p:spTree>
    <p:extLst>
      <p:ext uri="{BB962C8B-B14F-4D97-AF65-F5344CB8AC3E}">
        <p14:creationId xmlns:p14="http://schemas.microsoft.com/office/powerpoint/2010/main" val="270973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2-0">
            <a:extLst>
              <a:ext uri="{FF2B5EF4-FFF2-40B4-BE49-F238E27FC236}">
                <a16:creationId xmlns:a16="http://schemas.microsoft.com/office/drawing/2014/main" id="{DCDB34F5-C4BC-D361-B40B-E223BB46745D}"/>
              </a:ext>
            </a:extLst>
          </p:cNvPr>
          <p:cNvSpPr>
            <a:spLocks noGrp="1"/>
          </p:cNvSpPr>
          <p:nvPr/>
        </p:nvSpPr>
        <p:spPr>
          <a:xfrm>
            <a:off x="609600" y="409575"/>
            <a:ext cx="10953750" cy="771525"/>
          </a:xfrm>
          <a:prstGeom prst="rect">
            <a:avLst/>
          </a:prstGeom>
          <a:noFill/>
          <a:ln w="0">
            <a:noFill/>
          </a:ln>
        </p:spPr>
        <p:txBody>
          <a:bodyPr wrap="square" lIns="0" tIns="0" rIns="0" bIns="0" anchor="t">
            <a:noAutofit/>
          </a:bodyPr>
          <a:lstStyle/>
          <a:p>
            <a:pPr>
              <a:defRPr sz="3225" b="1">
                <a:solidFill>
                  <a:srgbClr val="162E37"/>
                </a:solidFill>
                <a:latin typeface="DejaVu Sans"/>
                <a:ea typeface="DejaVu Sans"/>
                <a:cs typeface="DejaVu Sans"/>
              </a:defRPr>
            </a:pPr>
            <a:r>
              <a:rPr lang="es-MX" sz="2400" b="1" spc="-40" dirty="0">
                <a:solidFill>
                  <a:schemeClr val="accent4">
                    <a:lumMod val="75000"/>
                  </a:schemeClr>
                </a:solidFill>
                <a:latin typeface="Arial Black" panose="020B0A04020102020204" pitchFamily="34" charset="0"/>
              </a:rPr>
              <a:t>Las Aperturas Escalonadas en el Tiempo Permiten Comparar cada una con Municipios Sin Hospitales de 2do o 3er Nivel de Atención</a:t>
            </a:r>
            <a:endParaRPr sz="2400" b="1" spc="-40" dirty="0">
              <a:solidFill>
                <a:schemeClr val="accent4">
                  <a:lumMod val="75000"/>
                </a:schemeClr>
              </a:solidFill>
              <a:latin typeface="Arial Black" panose="020B0A04020102020204" pitchFamily="34" charset="0"/>
              <a:ea typeface="DejaVu Sans"/>
              <a:cs typeface="DejaVu Sans"/>
            </a:endParaRPr>
          </a:p>
        </p:txBody>
      </p:sp>
      <p:sp>
        <p:nvSpPr>
          <p:cNvPr id="5" name="TextBox 4">
            <a:extLst>
              <a:ext uri="{FF2B5EF4-FFF2-40B4-BE49-F238E27FC236}">
                <a16:creationId xmlns:a16="http://schemas.microsoft.com/office/drawing/2014/main" id="{A647D394-3B28-4497-9B65-1FF067A15405}"/>
              </a:ext>
            </a:extLst>
          </p:cNvPr>
          <p:cNvSpPr txBox="1"/>
          <p:nvPr/>
        </p:nvSpPr>
        <p:spPr>
          <a:xfrm>
            <a:off x="533400" y="1184971"/>
            <a:ext cx="10953750" cy="400110"/>
          </a:xfrm>
          <a:prstGeom prst="rect">
            <a:avLst/>
          </a:prstGeom>
          <a:noFill/>
        </p:spPr>
        <p:txBody>
          <a:bodyPr wrap="square" rtlCol="0">
            <a:spAutoFit/>
          </a:bodyPr>
          <a:lstStyle/>
          <a:p>
            <a:r>
              <a:rPr lang="es-MX" sz="2000" i="1" spc="-110" dirty="0">
                <a:solidFill>
                  <a:schemeClr val="accent4">
                    <a:lumMod val="50000"/>
                  </a:schemeClr>
                </a:solidFill>
                <a:latin typeface="Arial" panose="020B0604020202020204" pitchFamily="34" charset="0"/>
                <a:cs typeface="Arial" panose="020B0604020202020204" pitchFamily="34" charset="0"/>
              </a:rPr>
              <a:t>La identificación no separa el efecto de la apertura sobre el </a:t>
            </a:r>
            <a:r>
              <a:rPr lang="es-MX" sz="2000" i="1" spc="-110" dirty="0" err="1">
                <a:solidFill>
                  <a:schemeClr val="accent4">
                    <a:lumMod val="50000"/>
                  </a:schemeClr>
                </a:solidFill>
                <a:latin typeface="Arial" panose="020B0604020202020204" pitchFamily="34" charset="0"/>
                <a:cs typeface="Arial" panose="020B0604020202020204" pitchFamily="34" charset="0"/>
              </a:rPr>
              <a:t>take</a:t>
            </a:r>
            <a:r>
              <a:rPr lang="es-MX" sz="2000" i="1" spc="-110" dirty="0">
                <a:solidFill>
                  <a:schemeClr val="accent4">
                    <a:lumMod val="50000"/>
                  </a:schemeClr>
                </a:solidFill>
                <a:latin typeface="Arial" panose="020B0604020202020204" pitchFamily="34" charset="0"/>
                <a:cs typeface="Arial" panose="020B0604020202020204" pitchFamily="34" charset="0"/>
              </a:rPr>
              <a:t>-up de SP, solo el efecto conjunto.</a:t>
            </a:r>
          </a:p>
        </p:txBody>
      </p:sp>
      <p:sp>
        <p:nvSpPr>
          <p:cNvPr id="9" name="TextBox 8">
            <a:extLst>
              <a:ext uri="{FF2B5EF4-FFF2-40B4-BE49-F238E27FC236}">
                <a16:creationId xmlns:a16="http://schemas.microsoft.com/office/drawing/2014/main" id="{6E51B9F8-F285-CDA2-8BE4-8895A8B5B9E8}"/>
              </a:ext>
            </a:extLst>
          </p:cNvPr>
          <p:cNvSpPr txBox="1"/>
          <p:nvPr/>
        </p:nvSpPr>
        <p:spPr>
          <a:xfrm>
            <a:off x="687618" y="2582947"/>
            <a:ext cx="1752600" cy="646331"/>
          </a:xfrm>
          <a:prstGeom prst="rect">
            <a:avLst/>
          </a:prstGeom>
          <a:noFill/>
        </p:spPr>
        <p:txBody>
          <a:bodyPr wrap="square" rtlCol="0">
            <a:spAutoFit/>
          </a:bodyPr>
          <a:lstStyle/>
          <a:p>
            <a:r>
              <a:rPr lang="es-MX" b="1" spc="-30" dirty="0">
                <a:solidFill>
                  <a:schemeClr val="accent4">
                    <a:lumMod val="75000"/>
                  </a:schemeClr>
                </a:solidFill>
                <a:latin typeface="Arial" panose="020B0604020202020204" pitchFamily="34" charset="0"/>
                <a:cs typeface="Arial" panose="020B0604020202020204" pitchFamily="34" charset="0"/>
              </a:rPr>
              <a:t>61 municipios tratados</a:t>
            </a:r>
          </a:p>
        </p:txBody>
      </p:sp>
      <p:sp>
        <p:nvSpPr>
          <p:cNvPr id="11" name="TextBox 10">
            <a:extLst>
              <a:ext uri="{FF2B5EF4-FFF2-40B4-BE49-F238E27FC236}">
                <a16:creationId xmlns:a16="http://schemas.microsoft.com/office/drawing/2014/main" id="{74232717-F57E-6EE7-8D72-80EFF92B1BE1}"/>
              </a:ext>
            </a:extLst>
          </p:cNvPr>
          <p:cNvSpPr txBox="1"/>
          <p:nvPr/>
        </p:nvSpPr>
        <p:spPr>
          <a:xfrm>
            <a:off x="687618" y="3970276"/>
            <a:ext cx="1752601" cy="646331"/>
          </a:xfrm>
          <a:prstGeom prst="rect">
            <a:avLst/>
          </a:prstGeom>
          <a:noFill/>
        </p:spPr>
        <p:txBody>
          <a:bodyPr wrap="square" rtlCol="0">
            <a:spAutoFit/>
          </a:bodyPr>
          <a:lstStyle/>
          <a:p>
            <a:r>
              <a:rPr lang="es-MX" b="1" spc="-60" dirty="0">
                <a:solidFill>
                  <a:srgbClr val="496577"/>
                </a:solidFill>
                <a:latin typeface="Arial" panose="020B0604020202020204" pitchFamily="34" charset="0"/>
                <a:cs typeface="Arial" panose="020B0604020202020204" pitchFamily="34" charset="0"/>
              </a:rPr>
              <a:t>302 municipios nunca tratados</a:t>
            </a:r>
          </a:p>
        </p:txBody>
      </p:sp>
      <p:cxnSp>
        <p:nvCxnSpPr>
          <p:cNvPr id="13" name="Straight Arrow Connector 12">
            <a:extLst>
              <a:ext uri="{FF2B5EF4-FFF2-40B4-BE49-F238E27FC236}">
                <a16:creationId xmlns:a16="http://schemas.microsoft.com/office/drawing/2014/main" id="{33DCEE1D-D550-CF45-E4D3-7CC368FF45EB}"/>
              </a:ext>
            </a:extLst>
          </p:cNvPr>
          <p:cNvCxnSpPr>
            <a:cxnSpLocks/>
            <a:stCxn id="9" idx="3"/>
          </p:cNvCxnSpPr>
          <p:nvPr/>
        </p:nvCxnSpPr>
        <p:spPr>
          <a:xfrm>
            <a:off x="2440218" y="2906113"/>
            <a:ext cx="5803900" cy="0"/>
          </a:xfrm>
          <a:prstGeom prst="straightConnector1">
            <a:avLst/>
          </a:prstGeom>
          <a:ln w="571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4457BCAB-7AB3-1999-4766-423A0E9DC99D}"/>
              </a:ext>
            </a:extLst>
          </p:cNvPr>
          <p:cNvSpPr/>
          <p:nvPr/>
        </p:nvSpPr>
        <p:spPr>
          <a:xfrm>
            <a:off x="2409677" y="2839816"/>
            <a:ext cx="132594" cy="132594"/>
          </a:xfrm>
          <a:prstGeom prst="ellipse">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Oval 18">
            <a:extLst>
              <a:ext uri="{FF2B5EF4-FFF2-40B4-BE49-F238E27FC236}">
                <a16:creationId xmlns:a16="http://schemas.microsoft.com/office/drawing/2014/main" id="{9B3EE013-D2DE-9F6D-26D1-FA39ACF09FB8}"/>
              </a:ext>
            </a:extLst>
          </p:cNvPr>
          <p:cNvSpPr/>
          <p:nvPr/>
        </p:nvSpPr>
        <p:spPr>
          <a:xfrm>
            <a:off x="5270029" y="2821967"/>
            <a:ext cx="132594" cy="132594"/>
          </a:xfrm>
          <a:prstGeom prst="ellipse">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TextBox 20">
            <a:extLst>
              <a:ext uri="{FF2B5EF4-FFF2-40B4-BE49-F238E27FC236}">
                <a16:creationId xmlns:a16="http://schemas.microsoft.com/office/drawing/2014/main" id="{2EEF10C2-6CB2-65F0-132B-CE055B642957}"/>
              </a:ext>
            </a:extLst>
          </p:cNvPr>
          <p:cNvSpPr txBox="1"/>
          <p:nvPr/>
        </p:nvSpPr>
        <p:spPr>
          <a:xfrm>
            <a:off x="3097082" y="3230724"/>
            <a:ext cx="1517197" cy="307777"/>
          </a:xfrm>
          <a:prstGeom prst="rect">
            <a:avLst/>
          </a:prstGeom>
          <a:noFill/>
        </p:spPr>
        <p:txBody>
          <a:bodyPr wrap="square" rtlCol="0">
            <a:spAutoFit/>
          </a:bodyPr>
          <a:lstStyle/>
          <a:p>
            <a:pPr algn="ctr"/>
            <a:r>
              <a:rPr lang="es-MX" sz="1400" i="1" spc="-100" dirty="0">
                <a:latin typeface="Arial" panose="020B0604020202020204" pitchFamily="34" charset="0"/>
                <a:cs typeface="Arial" panose="020B0604020202020204" pitchFamily="34" charset="0"/>
              </a:rPr>
              <a:t>Periodo previo</a:t>
            </a:r>
          </a:p>
        </p:txBody>
      </p:sp>
      <p:sp>
        <p:nvSpPr>
          <p:cNvPr id="23" name="TextBox 22">
            <a:extLst>
              <a:ext uri="{FF2B5EF4-FFF2-40B4-BE49-F238E27FC236}">
                <a16:creationId xmlns:a16="http://schemas.microsoft.com/office/drawing/2014/main" id="{B4483BCF-4E48-EB18-51D2-AE9D3693AAF1}"/>
              </a:ext>
            </a:extLst>
          </p:cNvPr>
          <p:cNvSpPr txBox="1"/>
          <p:nvPr/>
        </p:nvSpPr>
        <p:spPr>
          <a:xfrm>
            <a:off x="4239594" y="2273597"/>
            <a:ext cx="2185945" cy="523220"/>
          </a:xfrm>
          <a:prstGeom prst="rect">
            <a:avLst/>
          </a:prstGeom>
          <a:noFill/>
        </p:spPr>
        <p:txBody>
          <a:bodyPr wrap="square" rtlCol="0">
            <a:spAutoFit/>
          </a:bodyPr>
          <a:lstStyle/>
          <a:p>
            <a:pPr algn="ctr"/>
            <a:r>
              <a:rPr lang="es-MX" sz="1400" spc="-100" dirty="0">
                <a:latin typeface="Arial" panose="020B0604020202020204" pitchFamily="34" charset="0"/>
                <a:cs typeface="Arial" panose="020B0604020202020204" pitchFamily="34" charset="0"/>
              </a:rPr>
              <a:t>Primer trimestre de Nacimientos reportados</a:t>
            </a:r>
          </a:p>
        </p:txBody>
      </p:sp>
      <p:sp>
        <p:nvSpPr>
          <p:cNvPr id="24" name="Right Brace 23">
            <a:extLst>
              <a:ext uri="{FF2B5EF4-FFF2-40B4-BE49-F238E27FC236}">
                <a16:creationId xmlns:a16="http://schemas.microsoft.com/office/drawing/2014/main" id="{92ADFDFE-5D80-56D7-A907-A9976AACB046}"/>
              </a:ext>
            </a:extLst>
          </p:cNvPr>
          <p:cNvSpPr/>
          <p:nvPr/>
        </p:nvSpPr>
        <p:spPr>
          <a:xfrm rot="5400000">
            <a:off x="3810518" y="1769769"/>
            <a:ext cx="169189" cy="2749833"/>
          </a:xfrm>
          <a:prstGeom prst="rightBrace">
            <a:avLst>
              <a:gd name="adj1" fmla="val 66100"/>
              <a:gd name="adj2" fmla="val 50718"/>
            </a:avLst>
          </a:prstGeom>
          <a:ln>
            <a:solidFill>
              <a:srgbClr val="156082">
                <a:alpha val="4902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8" name="Right Brace 27">
            <a:extLst>
              <a:ext uri="{FF2B5EF4-FFF2-40B4-BE49-F238E27FC236}">
                <a16:creationId xmlns:a16="http://schemas.microsoft.com/office/drawing/2014/main" id="{9C2BCF4D-EC64-6306-2EEA-0170A07402A7}"/>
              </a:ext>
            </a:extLst>
          </p:cNvPr>
          <p:cNvSpPr/>
          <p:nvPr/>
        </p:nvSpPr>
        <p:spPr>
          <a:xfrm rot="5400000">
            <a:off x="6646634" y="1785314"/>
            <a:ext cx="169191" cy="2708275"/>
          </a:xfrm>
          <a:prstGeom prst="rightBrace">
            <a:avLst>
              <a:gd name="adj1" fmla="val 66100"/>
              <a:gd name="adj2" fmla="val 50718"/>
            </a:avLst>
          </a:prstGeom>
          <a:ln>
            <a:solidFill>
              <a:srgbClr val="156082">
                <a:alpha val="4902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30" name="TextBox 29">
            <a:extLst>
              <a:ext uri="{FF2B5EF4-FFF2-40B4-BE49-F238E27FC236}">
                <a16:creationId xmlns:a16="http://schemas.microsoft.com/office/drawing/2014/main" id="{12690D6B-E25C-5DE0-0B8B-B408B1589228}"/>
              </a:ext>
            </a:extLst>
          </p:cNvPr>
          <p:cNvSpPr txBox="1"/>
          <p:nvPr/>
        </p:nvSpPr>
        <p:spPr>
          <a:xfrm>
            <a:off x="5636451" y="3236199"/>
            <a:ext cx="2168148" cy="307777"/>
          </a:xfrm>
          <a:prstGeom prst="rect">
            <a:avLst/>
          </a:prstGeom>
          <a:noFill/>
        </p:spPr>
        <p:txBody>
          <a:bodyPr wrap="square" rtlCol="0">
            <a:spAutoFit/>
          </a:bodyPr>
          <a:lstStyle/>
          <a:p>
            <a:pPr algn="ctr"/>
            <a:r>
              <a:rPr lang="es-MX" sz="1400" i="1" spc="-100" dirty="0">
                <a:latin typeface="Arial" panose="020B0604020202020204" pitchFamily="34" charset="0"/>
                <a:cs typeface="Arial" panose="020B0604020202020204" pitchFamily="34" charset="0"/>
              </a:rPr>
              <a:t>Periodo de tratamiento</a:t>
            </a:r>
          </a:p>
        </p:txBody>
      </p:sp>
      <p:sp>
        <p:nvSpPr>
          <p:cNvPr id="33" name="TextBox 32">
            <a:extLst>
              <a:ext uri="{FF2B5EF4-FFF2-40B4-BE49-F238E27FC236}">
                <a16:creationId xmlns:a16="http://schemas.microsoft.com/office/drawing/2014/main" id="{6B1C06C3-C544-5EBA-59CB-A8D8600D3230}"/>
              </a:ext>
            </a:extLst>
          </p:cNvPr>
          <p:cNvSpPr txBox="1"/>
          <p:nvPr/>
        </p:nvSpPr>
        <p:spPr>
          <a:xfrm>
            <a:off x="2047979" y="2364879"/>
            <a:ext cx="2185945" cy="523220"/>
          </a:xfrm>
          <a:prstGeom prst="rect">
            <a:avLst/>
          </a:prstGeom>
          <a:noFill/>
        </p:spPr>
        <p:txBody>
          <a:bodyPr wrap="square" rtlCol="0">
            <a:spAutoFit/>
          </a:bodyPr>
          <a:lstStyle/>
          <a:p>
            <a:pPr algn="ctr"/>
            <a:r>
              <a:rPr lang="es-MX" sz="1400" spc="-100" dirty="0">
                <a:latin typeface="Arial" panose="020B0604020202020204" pitchFamily="34" charset="0"/>
                <a:cs typeface="Arial" panose="020B0604020202020204" pitchFamily="34" charset="0"/>
              </a:rPr>
              <a:t>Sin hospital de </a:t>
            </a:r>
          </a:p>
          <a:p>
            <a:pPr algn="ctr"/>
            <a:r>
              <a:rPr lang="es-MX" sz="1400" spc="-100" dirty="0">
                <a:latin typeface="Arial" panose="020B0604020202020204" pitchFamily="34" charset="0"/>
                <a:cs typeface="Arial" panose="020B0604020202020204" pitchFamily="34" charset="0"/>
              </a:rPr>
              <a:t>2do o 3er nivel</a:t>
            </a:r>
          </a:p>
        </p:txBody>
      </p:sp>
      <p:sp>
        <p:nvSpPr>
          <p:cNvPr id="35" name="TextBox 34">
            <a:extLst>
              <a:ext uri="{FF2B5EF4-FFF2-40B4-BE49-F238E27FC236}">
                <a16:creationId xmlns:a16="http://schemas.microsoft.com/office/drawing/2014/main" id="{4F049FBA-9A8D-B5D7-9DA3-3973FD0AA9EA}"/>
              </a:ext>
            </a:extLst>
          </p:cNvPr>
          <p:cNvSpPr txBox="1"/>
          <p:nvPr/>
        </p:nvSpPr>
        <p:spPr>
          <a:xfrm>
            <a:off x="6603339" y="2364879"/>
            <a:ext cx="2185945" cy="523220"/>
          </a:xfrm>
          <a:prstGeom prst="rect">
            <a:avLst/>
          </a:prstGeom>
          <a:noFill/>
        </p:spPr>
        <p:txBody>
          <a:bodyPr wrap="square" rtlCol="0">
            <a:spAutoFit/>
          </a:bodyPr>
          <a:lstStyle/>
          <a:p>
            <a:pPr algn="ctr"/>
            <a:r>
              <a:rPr lang="es-MX" sz="1400" spc="-100" dirty="0">
                <a:latin typeface="Arial" panose="020B0604020202020204" pitchFamily="34" charset="0"/>
                <a:cs typeface="Arial" panose="020B0604020202020204" pitchFamily="34" charset="0"/>
              </a:rPr>
              <a:t>Operación </a:t>
            </a:r>
          </a:p>
          <a:p>
            <a:pPr algn="ctr"/>
            <a:r>
              <a:rPr lang="es-MX" sz="1400" spc="-100" dirty="0">
                <a:latin typeface="Arial" panose="020B0604020202020204" pitchFamily="34" charset="0"/>
                <a:cs typeface="Arial" panose="020B0604020202020204" pitchFamily="34" charset="0"/>
              </a:rPr>
              <a:t>continua</a:t>
            </a:r>
          </a:p>
        </p:txBody>
      </p:sp>
      <p:sp>
        <p:nvSpPr>
          <p:cNvPr id="37" name="TextBox 36">
            <a:extLst>
              <a:ext uri="{FF2B5EF4-FFF2-40B4-BE49-F238E27FC236}">
                <a16:creationId xmlns:a16="http://schemas.microsoft.com/office/drawing/2014/main" id="{F8F12E5A-FD31-A3ED-3713-8DB0BE3CE391}"/>
              </a:ext>
            </a:extLst>
          </p:cNvPr>
          <p:cNvSpPr txBox="1"/>
          <p:nvPr/>
        </p:nvSpPr>
        <p:spPr>
          <a:xfrm>
            <a:off x="4746855" y="1904265"/>
            <a:ext cx="1190625" cy="369332"/>
          </a:xfrm>
          <a:prstGeom prst="rect">
            <a:avLst/>
          </a:prstGeom>
          <a:noFill/>
        </p:spPr>
        <p:txBody>
          <a:bodyPr wrap="square" rtlCol="0">
            <a:spAutoFit/>
          </a:bodyPr>
          <a:lstStyle/>
          <a:p>
            <a:pPr algn="ctr"/>
            <a:r>
              <a:rPr lang="es-MX" b="1" spc="-30" dirty="0">
                <a:solidFill>
                  <a:schemeClr val="accent4">
                    <a:lumMod val="75000"/>
                  </a:schemeClr>
                </a:solidFill>
                <a:latin typeface="Arial" panose="020B0604020202020204" pitchFamily="34" charset="0"/>
                <a:cs typeface="Arial" panose="020B0604020202020204" pitchFamily="34" charset="0"/>
              </a:rPr>
              <a:t>Apertura</a:t>
            </a:r>
          </a:p>
        </p:txBody>
      </p:sp>
      <p:cxnSp>
        <p:nvCxnSpPr>
          <p:cNvPr id="39" name="Straight Arrow Connector 38">
            <a:extLst>
              <a:ext uri="{FF2B5EF4-FFF2-40B4-BE49-F238E27FC236}">
                <a16:creationId xmlns:a16="http://schemas.microsoft.com/office/drawing/2014/main" id="{1866B6E8-8C72-0CD9-818A-C7BD9377B300}"/>
              </a:ext>
            </a:extLst>
          </p:cNvPr>
          <p:cNvCxnSpPr>
            <a:cxnSpLocks/>
            <a:stCxn id="11" idx="3"/>
          </p:cNvCxnSpPr>
          <p:nvPr/>
        </p:nvCxnSpPr>
        <p:spPr>
          <a:xfrm>
            <a:off x="2440219" y="4293442"/>
            <a:ext cx="5803899" cy="0"/>
          </a:xfrm>
          <a:prstGeom prst="straightConnector1">
            <a:avLst/>
          </a:prstGeom>
          <a:ln w="57150">
            <a:solidFill>
              <a:srgbClr val="496577"/>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E52240B-D7E0-7F92-28CD-745F1883350C}"/>
              </a:ext>
            </a:extLst>
          </p:cNvPr>
          <p:cNvSpPr txBox="1"/>
          <p:nvPr/>
        </p:nvSpPr>
        <p:spPr>
          <a:xfrm>
            <a:off x="2440218" y="3903440"/>
            <a:ext cx="5803900" cy="307777"/>
          </a:xfrm>
          <a:prstGeom prst="rect">
            <a:avLst/>
          </a:prstGeom>
          <a:noFill/>
        </p:spPr>
        <p:txBody>
          <a:bodyPr wrap="square" rtlCol="0">
            <a:spAutoFit/>
          </a:bodyPr>
          <a:lstStyle/>
          <a:p>
            <a:pPr algn="ctr"/>
            <a:r>
              <a:rPr lang="es-MX" sz="1400" spc="-100" dirty="0">
                <a:solidFill>
                  <a:srgbClr val="496577"/>
                </a:solidFill>
                <a:latin typeface="Arial" panose="020B0604020202020204" pitchFamily="34" charset="0"/>
                <a:cs typeface="Arial" panose="020B0604020202020204" pitchFamily="34" charset="0"/>
              </a:rPr>
              <a:t>Sin hospitales de 2do o 3er nivel durante todo el periodo</a:t>
            </a:r>
          </a:p>
        </p:txBody>
      </p:sp>
      <p:sp>
        <p:nvSpPr>
          <p:cNvPr id="47" name="TextBox 46">
            <a:extLst>
              <a:ext uri="{FF2B5EF4-FFF2-40B4-BE49-F238E27FC236}">
                <a16:creationId xmlns:a16="http://schemas.microsoft.com/office/drawing/2014/main" id="{E2C88A97-B37E-9EB8-F14B-AAF85B13D38C}"/>
              </a:ext>
            </a:extLst>
          </p:cNvPr>
          <p:cNvSpPr txBox="1"/>
          <p:nvPr/>
        </p:nvSpPr>
        <p:spPr>
          <a:xfrm>
            <a:off x="2368079" y="4369238"/>
            <a:ext cx="5803900" cy="307777"/>
          </a:xfrm>
          <a:prstGeom prst="rect">
            <a:avLst/>
          </a:prstGeom>
          <a:noFill/>
        </p:spPr>
        <p:txBody>
          <a:bodyPr wrap="square" rtlCol="0">
            <a:spAutoFit/>
          </a:bodyPr>
          <a:lstStyle/>
          <a:p>
            <a:pPr algn="ctr"/>
            <a:r>
              <a:rPr lang="es-MX" sz="1400" i="1" spc="-100" dirty="0">
                <a:solidFill>
                  <a:srgbClr val="496577"/>
                </a:solidFill>
                <a:latin typeface="Arial" panose="020B0604020202020204" pitchFamily="34" charset="0"/>
                <a:cs typeface="Arial" panose="020B0604020202020204" pitchFamily="34" charset="0"/>
              </a:rPr>
              <a:t>Fuera de los estados con municipios tratados</a:t>
            </a:r>
          </a:p>
        </p:txBody>
      </p:sp>
      <p:cxnSp>
        <p:nvCxnSpPr>
          <p:cNvPr id="49" name="Straight Connector 48">
            <a:extLst>
              <a:ext uri="{FF2B5EF4-FFF2-40B4-BE49-F238E27FC236}">
                <a16:creationId xmlns:a16="http://schemas.microsoft.com/office/drawing/2014/main" id="{B282F35D-E851-EFDC-24BB-417FBCA37ADE}"/>
              </a:ext>
            </a:extLst>
          </p:cNvPr>
          <p:cNvCxnSpPr>
            <a:cxnSpLocks/>
          </p:cNvCxnSpPr>
          <p:nvPr/>
        </p:nvCxnSpPr>
        <p:spPr>
          <a:xfrm>
            <a:off x="8679543" y="2016361"/>
            <a:ext cx="0" cy="4297353"/>
          </a:xfrm>
          <a:prstGeom prst="line">
            <a:avLst/>
          </a:prstGeom>
          <a:ln w="25400">
            <a:solidFill>
              <a:srgbClr val="0B76A0">
                <a:alpha val="49020"/>
              </a:srgbClr>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99BADB0-AB10-2099-62B3-31626357D954}"/>
              </a:ext>
            </a:extLst>
          </p:cNvPr>
          <p:cNvSpPr txBox="1"/>
          <p:nvPr/>
        </p:nvSpPr>
        <p:spPr>
          <a:xfrm>
            <a:off x="8838294" y="2053603"/>
            <a:ext cx="3031568" cy="923330"/>
          </a:xfrm>
          <a:prstGeom prst="rect">
            <a:avLst/>
          </a:prstGeom>
          <a:noFill/>
        </p:spPr>
        <p:txBody>
          <a:bodyPr wrap="square" rtlCol="0">
            <a:spAutoFit/>
          </a:bodyPr>
          <a:lstStyle/>
          <a:p>
            <a:pPr algn="ctr"/>
            <a:r>
              <a:rPr lang="es-MX" b="1" spc="-30" dirty="0">
                <a:solidFill>
                  <a:schemeClr val="accent4">
                    <a:lumMod val="75000"/>
                  </a:schemeClr>
                </a:solidFill>
                <a:latin typeface="Arial" panose="020B0604020202020204" pitchFamily="34" charset="0"/>
                <a:cs typeface="Arial" panose="020B0604020202020204" pitchFamily="34" charset="0"/>
              </a:rPr>
              <a:t>Diferencias en Diferencias</a:t>
            </a:r>
          </a:p>
          <a:p>
            <a:pPr algn="ctr"/>
            <a:r>
              <a:rPr lang="es-MX" b="1" spc="-30" dirty="0">
                <a:solidFill>
                  <a:schemeClr val="accent4">
                    <a:lumMod val="75000"/>
                  </a:schemeClr>
                </a:solidFill>
                <a:latin typeface="Arial" panose="020B0604020202020204" pitchFamily="34" charset="0"/>
                <a:cs typeface="Arial" panose="020B0604020202020204" pitchFamily="34" charset="0"/>
              </a:rPr>
              <a:t>Callaway y </a:t>
            </a:r>
            <a:r>
              <a:rPr lang="es-MX" b="1" spc="-30" dirty="0" err="1">
                <a:solidFill>
                  <a:schemeClr val="accent4">
                    <a:lumMod val="75000"/>
                  </a:schemeClr>
                </a:solidFill>
                <a:latin typeface="Arial" panose="020B0604020202020204" pitchFamily="34" charset="0"/>
                <a:cs typeface="Arial" panose="020B0604020202020204" pitchFamily="34" charset="0"/>
              </a:rPr>
              <a:t>Santa’Anna</a:t>
            </a:r>
            <a:r>
              <a:rPr lang="es-MX" b="1" spc="-30" dirty="0">
                <a:solidFill>
                  <a:schemeClr val="accent4">
                    <a:lumMod val="75000"/>
                  </a:schemeClr>
                </a:solidFill>
                <a:latin typeface="Arial" panose="020B0604020202020204" pitchFamily="34" charset="0"/>
                <a:cs typeface="Arial" panose="020B0604020202020204" pitchFamily="34" charset="0"/>
              </a:rPr>
              <a:t> (2021)</a:t>
            </a:r>
          </a:p>
        </p:txBody>
      </p:sp>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FBCBF776-21D7-0A42-2749-0A48A313E138}"/>
                  </a:ext>
                </a:extLst>
              </p:cNvPr>
              <p:cNvSpPr txBox="1"/>
              <p:nvPr/>
            </p:nvSpPr>
            <p:spPr>
              <a:xfrm>
                <a:off x="8960311" y="2943302"/>
                <a:ext cx="2687531" cy="630942"/>
              </a:xfrm>
              <a:prstGeom prst="rect">
                <a:avLst/>
              </a:prstGeom>
              <a:noFill/>
            </p:spPr>
            <p:txBody>
              <a:bodyPr wrap="none" lIns="0" tIns="0" rIns="0" bIns="0" rtlCol="0">
                <a:spAutoFit/>
              </a:bodyPr>
              <a:lstStyle/>
              <a:p>
                <a:pPr>
                  <a:spcAft>
                    <a:spcPts val="600"/>
                  </a:spcAft>
                </a:pPr>
                <a14:m>
                  <m:oMathPara xmlns:m="http://schemas.openxmlformats.org/officeDocument/2006/math">
                    <m:oMathParaPr>
                      <m:jc m:val="left"/>
                    </m:oMathParaPr>
                    <m:oMath>
                      <m:r>
                        <a:rPr lang="es-MX" b="0" i="1" smtClean="0">
                          <a:latin typeface="Cambria Math" panose="02040503050406030204" pitchFamily="18" charset="0"/>
                        </a:rPr>
                        <m:t>𝐴𝑇𝑇</m:t>
                      </m:r>
                      <m:d>
                        <m:dPr>
                          <m:ctrlPr>
                            <a:rPr lang="es-MX" b="0" i="1" smtClean="0">
                              <a:latin typeface="Cambria Math" panose="02040503050406030204" pitchFamily="18" charset="0"/>
                            </a:rPr>
                          </m:ctrlPr>
                        </m:dPr>
                        <m:e>
                          <m:r>
                            <a:rPr lang="es-MX" b="0" i="1" smtClean="0">
                              <a:latin typeface="Cambria Math" panose="02040503050406030204" pitchFamily="18" charset="0"/>
                            </a:rPr>
                            <m:t>𝑔</m:t>
                          </m:r>
                          <m:r>
                            <a:rPr lang="es-MX" b="0" i="1" smtClean="0">
                              <a:latin typeface="Cambria Math" panose="02040503050406030204" pitchFamily="18" charset="0"/>
                            </a:rPr>
                            <m:t>,</m:t>
                          </m:r>
                          <m:r>
                            <a:rPr lang="es-MX" b="0" i="1" smtClean="0">
                              <a:latin typeface="Cambria Math" panose="02040503050406030204" pitchFamily="18" charset="0"/>
                            </a:rPr>
                            <m:t>𝑡</m:t>
                          </m:r>
                        </m:e>
                      </m:d>
                      <m:r>
                        <a:rPr lang="es-MX" b="0" i="1" smtClean="0">
                          <a:latin typeface="Cambria Math" panose="02040503050406030204" pitchFamily="18" charset="0"/>
                          <a:ea typeface="Cambria Math" panose="02040503050406030204" pitchFamily="18" charset="0"/>
                        </a:rPr>
                        <m:t>=</m:t>
                      </m:r>
                    </m:oMath>
                  </m:oMathPara>
                </a14:m>
                <a:endParaRPr lang="es-MX" b="0" dirty="0">
                  <a:ea typeface="Cambria Math" panose="02040503050406030204" pitchFamily="18" charset="0"/>
                </a:endParaRPr>
              </a:p>
              <a:p>
                <a:r>
                  <a:rPr lang="es-MX" dirty="0"/>
                  <a: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Ε</m:t>
                    </m:r>
                    <m:r>
                      <a:rPr lang="es-MX" b="0" i="1" smtClean="0">
                        <a:latin typeface="Cambria Math" panose="02040503050406030204" pitchFamily="18" charset="0"/>
                        <a:ea typeface="Cambria Math" panose="02040503050406030204" pitchFamily="18" charset="0"/>
                      </a:rPr>
                      <m:t>[</m:t>
                    </m:r>
                    <m:sSub>
                      <m:sSubPr>
                        <m:ctrlPr>
                          <a:rPr lang="es-MX" b="0" i="1" smtClean="0">
                            <a:latin typeface="Cambria Math" panose="02040503050406030204" pitchFamily="18" charset="0"/>
                            <a:ea typeface="Cambria Math" panose="02040503050406030204" pitchFamily="18" charset="0"/>
                          </a:rPr>
                        </m:ctrlPr>
                      </m:sSubPr>
                      <m:e>
                        <m:r>
                          <a:rPr lang="es-MX" b="0" i="1" smtClean="0">
                            <a:latin typeface="Cambria Math" panose="02040503050406030204" pitchFamily="18" charset="0"/>
                            <a:ea typeface="Cambria Math" panose="02040503050406030204" pitchFamily="18" charset="0"/>
                          </a:rPr>
                          <m:t>𝑌</m:t>
                        </m:r>
                      </m:e>
                      <m:sub>
                        <m:r>
                          <a:rPr lang="en-US" b="0" i="1" smtClean="0">
                            <a:latin typeface="Cambria Math" panose="02040503050406030204" pitchFamily="18" charset="0"/>
                            <a:ea typeface="Cambria Math" panose="02040503050406030204" pitchFamily="18" charset="0"/>
                          </a:rPr>
                          <m:t>𝑡</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𝐺</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m:t>
                    </m:r>
                  </m:oMath>
                </a14:m>
                <a:endParaRPr lang="es-MX" dirty="0"/>
              </a:p>
            </p:txBody>
          </p:sp>
        </mc:Choice>
        <mc:Fallback>
          <p:sp>
            <p:nvSpPr>
              <p:cNvPr id="52" name="TextBox 51">
                <a:extLst>
                  <a:ext uri="{FF2B5EF4-FFF2-40B4-BE49-F238E27FC236}">
                    <a16:creationId xmlns:a16="http://schemas.microsoft.com/office/drawing/2014/main" id="{FBCBF776-21D7-0A42-2749-0A48A313E138}"/>
                  </a:ext>
                </a:extLst>
              </p:cNvPr>
              <p:cNvSpPr txBox="1">
                <a:spLocks noRot="1" noChangeAspect="1" noMove="1" noResize="1" noEditPoints="1" noAdjustHandles="1" noChangeArrowheads="1" noChangeShapeType="1" noTextEdit="1"/>
              </p:cNvSpPr>
              <p:nvPr/>
            </p:nvSpPr>
            <p:spPr>
              <a:xfrm>
                <a:off x="8960311" y="2943302"/>
                <a:ext cx="2687531" cy="630942"/>
              </a:xfrm>
              <a:prstGeom prst="rect">
                <a:avLst/>
              </a:prstGeom>
              <a:blipFill>
                <a:blip r:embed="rId2"/>
                <a:stretch>
                  <a:fillRect l="-3175" r="-3175" b="-16505"/>
                </a:stretch>
              </a:blipFill>
            </p:spPr>
            <p:txBody>
              <a:bodyPr/>
              <a:lstStyle/>
              <a:p>
                <a:r>
                  <a:rPr lang="es-MX">
                    <a:noFill/>
                  </a:rPr>
                  <a:t> </a:t>
                </a:r>
              </a:p>
            </p:txBody>
          </p:sp>
        </mc:Fallback>
      </mc:AlternateContent>
      <p:sp>
        <p:nvSpPr>
          <p:cNvPr id="54" name="TextBox 53">
            <a:extLst>
              <a:ext uri="{FF2B5EF4-FFF2-40B4-BE49-F238E27FC236}">
                <a16:creationId xmlns:a16="http://schemas.microsoft.com/office/drawing/2014/main" id="{A2227DA4-AA12-0CFB-B75E-125B81CC46F8}"/>
              </a:ext>
            </a:extLst>
          </p:cNvPr>
          <p:cNvSpPr txBox="1"/>
          <p:nvPr/>
        </p:nvSpPr>
        <p:spPr>
          <a:xfrm>
            <a:off x="8658808" y="3937470"/>
            <a:ext cx="3533192" cy="830997"/>
          </a:xfrm>
          <a:prstGeom prst="rect">
            <a:avLst/>
          </a:prstGeom>
          <a:noFill/>
        </p:spPr>
        <p:txBody>
          <a:bodyPr wrap="square" rtlCol="0">
            <a:spAutoFit/>
          </a:bodyPr>
          <a:lstStyle/>
          <a:p>
            <a:pPr algn="ctr"/>
            <a:r>
              <a:rPr lang="es-MX" sz="1600" spc="-100" dirty="0">
                <a:latin typeface="Arial" panose="020B0604020202020204" pitchFamily="34" charset="0"/>
                <a:cs typeface="Arial" panose="020B0604020202020204" pitchFamily="34" charset="0"/>
              </a:rPr>
              <a:t>Efectos por cohorte de apertura y trimestre, agregados como ATT promedio y en estudio de eventos</a:t>
            </a:r>
          </a:p>
        </p:txBody>
      </p:sp>
      <p:sp>
        <p:nvSpPr>
          <p:cNvPr id="55" name="Rectangle: Top Corners One Rounded and One Snipped 54">
            <a:extLst>
              <a:ext uri="{FF2B5EF4-FFF2-40B4-BE49-F238E27FC236}">
                <a16:creationId xmlns:a16="http://schemas.microsoft.com/office/drawing/2014/main" id="{AA0B2952-3F01-B4E3-9534-2EFEE432BDAE}"/>
              </a:ext>
            </a:extLst>
          </p:cNvPr>
          <p:cNvSpPr/>
          <p:nvPr/>
        </p:nvSpPr>
        <p:spPr>
          <a:xfrm>
            <a:off x="701543" y="5397259"/>
            <a:ext cx="2075543" cy="812798"/>
          </a:xfrm>
          <a:prstGeom prst="snipRound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6" name="TextBox 55">
            <a:extLst>
              <a:ext uri="{FF2B5EF4-FFF2-40B4-BE49-F238E27FC236}">
                <a16:creationId xmlns:a16="http://schemas.microsoft.com/office/drawing/2014/main" id="{105E61E2-52FE-5A12-8AF4-7E4296B42218}"/>
              </a:ext>
            </a:extLst>
          </p:cNvPr>
          <p:cNvSpPr txBox="1"/>
          <p:nvPr/>
        </p:nvSpPr>
        <p:spPr>
          <a:xfrm>
            <a:off x="673104" y="5495007"/>
            <a:ext cx="2095510" cy="646331"/>
          </a:xfrm>
          <a:prstGeom prst="rect">
            <a:avLst/>
          </a:prstGeom>
          <a:noFill/>
          <a:ln>
            <a:noFill/>
            <a:prstDash val="dashDot"/>
          </a:ln>
        </p:spPr>
        <p:txBody>
          <a:bodyPr wrap="none" rtlCol="0">
            <a:spAutoFit/>
          </a:bodyPr>
          <a:lstStyle/>
          <a:p>
            <a:r>
              <a:rPr lang="es-MX" spc="-100" noProof="0" dirty="0">
                <a:latin typeface="Arial" panose="020B0604020202020204" pitchFamily="34" charset="0"/>
                <a:cs typeface="Arial" panose="020B0604020202020204" pitchFamily="34" charset="0"/>
              </a:rPr>
              <a:t>No Anticipación </a:t>
            </a:r>
          </a:p>
          <a:p>
            <a:r>
              <a:rPr lang="es-MX" spc="-100" noProof="0" dirty="0">
                <a:latin typeface="Arial" panose="020B0604020202020204" pitchFamily="34" charset="0"/>
                <a:cs typeface="Arial" panose="020B0604020202020204" pitchFamily="34" charset="0"/>
              </a:rPr>
              <a:t>Tendencias paralelas</a:t>
            </a:r>
          </a:p>
        </p:txBody>
      </p:sp>
      <p:sp>
        <p:nvSpPr>
          <p:cNvPr id="58" name="TextBox 57">
            <a:extLst>
              <a:ext uri="{FF2B5EF4-FFF2-40B4-BE49-F238E27FC236}">
                <a16:creationId xmlns:a16="http://schemas.microsoft.com/office/drawing/2014/main" id="{3FD3D34F-04DE-E405-FC29-F58A33A994F9}"/>
              </a:ext>
            </a:extLst>
          </p:cNvPr>
          <p:cNvSpPr txBox="1"/>
          <p:nvPr/>
        </p:nvSpPr>
        <p:spPr>
          <a:xfrm>
            <a:off x="562775" y="5056956"/>
            <a:ext cx="1438376" cy="369332"/>
          </a:xfrm>
          <a:prstGeom prst="rect">
            <a:avLst/>
          </a:prstGeom>
          <a:noFill/>
        </p:spPr>
        <p:txBody>
          <a:bodyPr wrap="square" rtlCol="0">
            <a:spAutoFit/>
          </a:bodyPr>
          <a:lstStyle/>
          <a:p>
            <a:pPr algn="ctr"/>
            <a:r>
              <a:rPr lang="es-MX" i="1" spc="-30" dirty="0">
                <a:solidFill>
                  <a:schemeClr val="accent4">
                    <a:lumMod val="75000"/>
                  </a:schemeClr>
                </a:solidFill>
                <a:latin typeface="Arial" panose="020B0604020202020204" pitchFamily="34" charset="0"/>
                <a:cs typeface="Arial" panose="020B0604020202020204" pitchFamily="34" charset="0"/>
              </a:rPr>
              <a:t>Supuestos</a:t>
            </a:r>
          </a:p>
        </p:txBody>
      </p:sp>
      <p:sp>
        <p:nvSpPr>
          <p:cNvPr id="61" name="Rectangle: Top Corners One Rounded and One Snipped 60">
            <a:extLst>
              <a:ext uri="{FF2B5EF4-FFF2-40B4-BE49-F238E27FC236}">
                <a16:creationId xmlns:a16="http://schemas.microsoft.com/office/drawing/2014/main" id="{8EA2FB25-5063-8C58-AA4F-BC71D3D51DB0}"/>
              </a:ext>
            </a:extLst>
          </p:cNvPr>
          <p:cNvSpPr/>
          <p:nvPr/>
        </p:nvSpPr>
        <p:spPr>
          <a:xfrm>
            <a:off x="3271255" y="5397259"/>
            <a:ext cx="2387607" cy="812798"/>
          </a:xfrm>
          <a:prstGeom prst="snipRound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3" name="TextBox 62">
            <a:extLst>
              <a:ext uri="{FF2B5EF4-FFF2-40B4-BE49-F238E27FC236}">
                <a16:creationId xmlns:a16="http://schemas.microsoft.com/office/drawing/2014/main" id="{607B7802-8803-1109-763C-70A6573244B0}"/>
              </a:ext>
            </a:extLst>
          </p:cNvPr>
          <p:cNvSpPr txBox="1"/>
          <p:nvPr/>
        </p:nvSpPr>
        <p:spPr>
          <a:xfrm>
            <a:off x="3242816" y="5495007"/>
            <a:ext cx="2416046" cy="646331"/>
          </a:xfrm>
          <a:prstGeom prst="rect">
            <a:avLst/>
          </a:prstGeom>
          <a:noFill/>
          <a:ln>
            <a:noFill/>
            <a:prstDash val="dashDot"/>
          </a:ln>
        </p:spPr>
        <p:txBody>
          <a:bodyPr wrap="none" rtlCol="0">
            <a:spAutoFit/>
          </a:bodyPr>
          <a:lstStyle/>
          <a:p>
            <a:r>
              <a:rPr lang="en-US" spc="-100" dirty="0">
                <a:latin typeface="Arial" panose="020B0604020202020204" pitchFamily="34" charset="0"/>
                <a:cs typeface="Arial" panose="020B0604020202020204" pitchFamily="34" charset="0"/>
              </a:rPr>
              <a:t>E</a:t>
            </a:r>
            <a:r>
              <a:rPr lang="es-MX" spc="-100" dirty="0" err="1">
                <a:latin typeface="Arial" panose="020B0604020202020204" pitchFamily="34" charset="0"/>
                <a:cs typeface="Arial" panose="020B0604020202020204" pitchFamily="34" charset="0"/>
              </a:rPr>
              <a:t>rrores</a:t>
            </a:r>
            <a:r>
              <a:rPr lang="es-MX" spc="-100" dirty="0">
                <a:latin typeface="Arial" panose="020B0604020202020204" pitchFamily="34" charset="0"/>
                <a:cs typeface="Arial" panose="020B0604020202020204" pitchFamily="34" charset="0"/>
              </a:rPr>
              <a:t> estándar </a:t>
            </a:r>
          </a:p>
          <a:p>
            <a:r>
              <a:rPr lang="es-MX" spc="-100" dirty="0">
                <a:latin typeface="Arial" panose="020B0604020202020204" pitchFamily="34" charset="0"/>
                <a:cs typeface="Arial" panose="020B0604020202020204" pitchFamily="34" charset="0"/>
              </a:rPr>
              <a:t>agrupados por municipio</a:t>
            </a:r>
            <a:endParaRPr lang="es-MX" spc="-100" noProof="0" dirty="0">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983007C7-0114-C8DD-72CC-7989167CCB62}"/>
              </a:ext>
            </a:extLst>
          </p:cNvPr>
          <p:cNvSpPr txBox="1"/>
          <p:nvPr/>
        </p:nvSpPr>
        <p:spPr>
          <a:xfrm>
            <a:off x="3132487" y="5056956"/>
            <a:ext cx="1438376" cy="369332"/>
          </a:xfrm>
          <a:prstGeom prst="rect">
            <a:avLst/>
          </a:prstGeom>
          <a:noFill/>
        </p:spPr>
        <p:txBody>
          <a:bodyPr wrap="square" rtlCol="0">
            <a:spAutoFit/>
          </a:bodyPr>
          <a:lstStyle/>
          <a:p>
            <a:pPr algn="ctr"/>
            <a:r>
              <a:rPr lang="es-MX" i="1" spc="-30" dirty="0">
                <a:solidFill>
                  <a:schemeClr val="accent4">
                    <a:lumMod val="75000"/>
                  </a:schemeClr>
                </a:solidFill>
                <a:latin typeface="Arial" panose="020B0604020202020204" pitchFamily="34" charset="0"/>
                <a:cs typeface="Arial" panose="020B0604020202020204" pitchFamily="34" charset="0"/>
              </a:rPr>
              <a:t>Inferencia</a:t>
            </a:r>
          </a:p>
        </p:txBody>
      </p:sp>
      <p:sp>
        <p:nvSpPr>
          <p:cNvPr id="67" name="Rectangle: Top Corners One Rounded and One Snipped 66">
            <a:extLst>
              <a:ext uri="{FF2B5EF4-FFF2-40B4-BE49-F238E27FC236}">
                <a16:creationId xmlns:a16="http://schemas.microsoft.com/office/drawing/2014/main" id="{00B4FC3A-BECC-B003-DB0F-705C394D3D9F}"/>
              </a:ext>
            </a:extLst>
          </p:cNvPr>
          <p:cNvSpPr/>
          <p:nvPr/>
        </p:nvSpPr>
        <p:spPr>
          <a:xfrm>
            <a:off x="6175826" y="5397259"/>
            <a:ext cx="2031326" cy="812798"/>
          </a:xfrm>
          <a:prstGeom prst="snipRoundRect">
            <a:avLst/>
          </a:prstGeom>
          <a:noFill/>
          <a:ln>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9" name="TextBox 68">
            <a:extLst>
              <a:ext uri="{FF2B5EF4-FFF2-40B4-BE49-F238E27FC236}">
                <a16:creationId xmlns:a16="http://schemas.microsoft.com/office/drawing/2014/main" id="{BE0D32F1-0BC7-56EB-FB4E-DB0A719D698F}"/>
              </a:ext>
            </a:extLst>
          </p:cNvPr>
          <p:cNvSpPr txBox="1"/>
          <p:nvPr/>
        </p:nvSpPr>
        <p:spPr>
          <a:xfrm>
            <a:off x="6147386" y="5495007"/>
            <a:ext cx="2031325" cy="646331"/>
          </a:xfrm>
          <a:prstGeom prst="rect">
            <a:avLst/>
          </a:prstGeom>
          <a:noFill/>
          <a:ln>
            <a:noFill/>
            <a:prstDash val="dashDot"/>
          </a:ln>
        </p:spPr>
        <p:txBody>
          <a:bodyPr wrap="none" rtlCol="0">
            <a:spAutoFit/>
          </a:bodyPr>
          <a:lstStyle/>
          <a:p>
            <a:r>
              <a:rPr lang="es-MX" spc="-100" noProof="0" dirty="0">
                <a:latin typeface="Arial" panose="020B0604020202020204" pitchFamily="34" charset="0"/>
                <a:cs typeface="Arial" panose="020B0604020202020204" pitchFamily="34" charset="0"/>
              </a:rPr>
              <a:t>Nacimientos por </a:t>
            </a:r>
          </a:p>
          <a:p>
            <a:r>
              <a:rPr lang="es-MX" spc="-100" noProof="0" dirty="0">
                <a:latin typeface="Arial" panose="020B0604020202020204" pitchFamily="34" charset="0"/>
                <a:cs typeface="Arial" panose="020B0604020202020204" pitchFamily="34" charset="0"/>
              </a:rPr>
              <a:t>municipio y trimestre</a:t>
            </a:r>
          </a:p>
        </p:txBody>
      </p:sp>
      <p:sp>
        <p:nvSpPr>
          <p:cNvPr id="71" name="TextBox 70">
            <a:extLst>
              <a:ext uri="{FF2B5EF4-FFF2-40B4-BE49-F238E27FC236}">
                <a16:creationId xmlns:a16="http://schemas.microsoft.com/office/drawing/2014/main" id="{51444F56-F787-357D-6C53-81ED44D96298}"/>
              </a:ext>
            </a:extLst>
          </p:cNvPr>
          <p:cNvSpPr txBox="1"/>
          <p:nvPr/>
        </p:nvSpPr>
        <p:spPr>
          <a:xfrm>
            <a:off x="6037057" y="5056956"/>
            <a:ext cx="1438376" cy="369332"/>
          </a:xfrm>
          <a:prstGeom prst="rect">
            <a:avLst/>
          </a:prstGeom>
          <a:noFill/>
        </p:spPr>
        <p:txBody>
          <a:bodyPr wrap="square" rtlCol="0">
            <a:spAutoFit/>
          </a:bodyPr>
          <a:lstStyle/>
          <a:p>
            <a:pPr algn="ctr"/>
            <a:r>
              <a:rPr lang="es-MX" i="1" spc="-30" dirty="0">
                <a:solidFill>
                  <a:schemeClr val="accent4">
                    <a:lumMod val="75000"/>
                  </a:schemeClr>
                </a:solidFill>
                <a:latin typeface="Arial" panose="020B0604020202020204" pitchFamily="34" charset="0"/>
                <a:cs typeface="Arial" panose="020B0604020202020204" pitchFamily="34" charset="0"/>
              </a:rPr>
              <a:t>Ponderación</a:t>
            </a:r>
          </a:p>
        </p:txBody>
      </p:sp>
      <p:sp>
        <p:nvSpPr>
          <p:cNvPr id="74" name="TextBox 73">
            <a:extLst>
              <a:ext uri="{FF2B5EF4-FFF2-40B4-BE49-F238E27FC236}">
                <a16:creationId xmlns:a16="http://schemas.microsoft.com/office/drawing/2014/main" id="{BD0CD0B9-C94E-DD94-92E9-9907B15CFE03}"/>
              </a:ext>
            </a:extLst>
          </p:cNvPr>
          <p:cNvSpPr txBox="1"/>
          <p:nvPr/>
        </p:nvSpPr>
        <p:spPr>
          <a:xfrm>
            <a:off x="8658808" y="4990275"/>
            <a:ext cx="3533192" cy="1323439"/>
          </a:xfrm>
          <a:prstGeom prst="rect">
            <a:avLst/>
          </a:prstGeom>
          <a:noFill/>
        </p:spPr>
        <p:txBody>
          <a:bodyPr wrap="square" rtlCol="0">
            <a:spAutoFit/>
          </a:bodyPr>
          <a:lstStyle/>
          <a:p>
            <a:pPr algn="ctr"/>
            <a:r>
              <a:rPr lang="es-MX" sz="1600" spc="-100" dirty="0">
                <a:latin typeface="Arial" panose="020B0604020202020204" pitchFamily="34" charset="0"/>
                <a:cs typeface="Arial" panose="020B0604020202020204" pitchFamily="34" charset="0"/>
              </a:rPr>
              <a:t>Antes de las aperturas, los municipios tratados presentaban mayores desventajas socioeconómicas y de acceso, menor atención prenatal y peores resultados neonatales.</a:t>
            </a:r>
          </a:p>
        </p:txBody>
      </p:sp>
      <p:sp>
        <p:nvSpPr>
          <p:cNvPr id="76" name="text-3-2">
            <a:extLst>
              <a:ext uri="{FF2B5EF4-FFF2-40B4-BE49-F238E27FC236}">
                <a16:creationId xmlns:a16="http://schemas.microsoft.com/office/drawing/2014/main" id="{C2A3A7C3-205D-E4F5-DF9A-9A74583E967E}"/>
              </a:ext>
            </a:extLst>
          </p:cNvPr>
          <p:cNvSpPr>
            <a:spLocks noGrp="1"/>
          </p:cNvSpPr>
          <p:nvPr/>
        </p:nvSpPr>
        <p:spPr>
          <a:xfrm>
            <a:off x="10953750" y="6362700"/>
            <a:ext cx="628650" cy="285750"/>
          </a:xfrm>
          <a:prstGeom prst="rect">
            <a:avLst/>
          </a:prstGeom>
          <a:no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lang="en-US" sz="1275" b="0" dirty="0">
                <a:solidFill>
                  <a:srgbClr val="53646B"/>
                </a:solidFill>
                <a:latin typeface="DejaVu Sans"/>
                <a:ea typeface="DejaVu Sans"/>
                <a:cs typeface="DejaVu Sans"/>
              </a:rPr>
              <a:t>6</a:t>
            </a:r>
            <a:r>
              <a:rPr sz="1275" b="0" dirty="0">
                <a:solidFill>
                  <a:srgbClr val="53646B"/>
                </a:solidFill>
                <a:latin typeface="DejaVu Sans"/>
                <a:ea typeface="DejaVu Sans"/>
                <a:cs typeface="DejaVu Sans"/>
              </a:rPr>
              <a:t> / 18</a:t>
            </a:r>
          </a:p>
        </p:txBody>
      </p:sp>
    </p:spTree>
    <p:extLst>
      <p:ext uri="{BB962C8B-B14F-4D97-AF65-F5344CB8AC3E}">
        <p14:creationId xmlns:p14="http://schemas.microsoft.com/office/powerpoint/2010/main" val="4041400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4283B-DCDF-46D8-FA97-5C018A661771}"/>
            </a:ext>
          </a:extLst>
        </p:cNvPr>
        <p:cNvGrpSpPr/>
        <p:nvPr/>
      </p:nvGrpSpPr>
      <p:grpSpPr>
        <a:xfrm>
          <a:off x="0" y="0"/>
          <a:ext cx="0" cy="0"/>
          <a:chOff x="0" y="0"/>
          <a:chExt cx="0" cy="0"/>
        </a:xfrm>
      </p:grpSpPr>
      <p:sp>
        <p:nvSpPr>
          <p:cNvPr id="8" name="text-2-0">
            <a:extLst>
              <a:ext uri="{FF2B5EF4-FFF2-40B4-BE49-F238E27FC236}">
                <a16:creationId xmlns:a16="http://schemas.microsoft.com/office/drawing/2014/main" id="{D5B37DAA-8476-9354-536D-0DC89A13DACA}"/>
              </a:ext>
            </a:extLst>
          </p:cNvPr>
          <p:cNvSpPr>
            <a:spLocks noGrp="1"/>
          </p:cNvSpPr>
          <p:nvPr/>
        </p:nvSpPr>
        <p:spPr>
          <a:xfrm>
            <a:off x="609600" y="409575"/>
            <a:ext cx="10953750" cy="771525"/>
          </a:xfrm>
          <a:prstGeom prst="rect">
            <a:avLst/>
          </a:prstGeom>
          <a:noFill/>
          <a:ln w="0">
            <a:noFill/>
          </a:ln>
        </p:spPr>
        <p:txBody>
          <a:bodyPr wrap="square" lIns="0" tIns="0" rIns="0" bIns="0" anchor="t">
            <a:noAutofit/>
          </a:bodyPr>
          <a:lstStyle/>
          <a:p>
            <a:pPr>
              <a:defRPr sz="3225" b="1">
                <a:solidFill>
                  <a:srgbClr val="162E37"/>
                </a:solidFill>
                <a:latin typeface="DejaVu Sans"/>
                <a:ea typeface="DejaVu Sans"/>
                <a:cs typeface="DejaVu Sans"/>
              </a:defRPr>
            </a:pPr>
            <a:r>
              <a:rPr lang="es-MX" sz="2400" b="1" spc="-40" dirty="0">
                <a:solidFill>
                  <a:schemeClr val="accent4">
                    <a:lumMod val="75000"/>
                  </a:schemeClr>
                </a:solidFill>
                <a:latin typeface="Arial Black" panose="020B0A04020102020204" pitchFamily="34" charset="0"/>
              </a:rPr>
              <a:t>La Apertura del Primer Hospital Comunitario Mejora el APGAR, con Cambios Consistentes en el Acceso y el Proveedor de Atención</a:t>
            </a:r>
            <a:endParaRPr sz="2400" b="1" spc="-40" dirty="0">
              <a:solidFill>
                <a:schemeClr val="accent4">
                  <a:lumMod val="75000"/>
                </a:schemeClr>
              </a:solidFill>
              <a:latin typeface="Arial Black" panose="020B0A04020102020204" pitchFamily="34" charset="0"/>
              <a:ea typeface="DejaVu Sans"/>
              <a:cs typeface="DejaVu Sans"/>
            </a:endParaRPr>
          </a:p>
        </p:txBody>
      </p:sp>
      <p:sp>
        <p:nvSpPr>
          <p:cNvPr id="9" name="TextBox 8">
            <a:extLst>
              <a:ext uri="{FF2B5EF4-FFF2-40B4-BE49-F238E27FC236}">
                <a16:creationId xmlns:a16="http://schemas.microsoft.com/office/drawing/2014/main" id="{7CF11766-F248-070E-02CE-97C740A5E9C1}"/>
              </a:ext>
            </a:extLst>
          </p:cNvPr>
          <p:cNvSpPr txBox="1"/>
          <p:nvPr/>
        </p:nvSpPr>
        <p:spPr>
          <a:xfrm>
            <a:off x="533400" y="1184971"/>
            <a:ext cx="10953750" cy="400110"/>
          </a:xfrm>
          <a:prstGeom prst="rect">
            <a:avLst/>
          </a:prstGeom>
          <a:noFill/>
        </p:spPr>
        <p:txBody>
          <a:bodyPr wrap="square" rtlCol="0">
            <a:spAutoFit/>
          </a:bodyPr>
          <a:lstStyle/>
          <a:p>
            <a:r>
              <a:rPr lang="es-MX" sz="2000" i="1" spc="-130" dirty="0">
                <a:solidFill>
                  <a:schemeClr val="accent4">
                    <a:lumMod val="50000"/>
                  </a:schemeClr>
                </a:solidFill>
                <a:latin typeface="Arial" panose="020B0604020202020204" pitchFamily="34" charset="0"/>
                <a:cs typeface="Arial" panose="020B0604020202020204" pitchFamily="34" charset="0"/>
              </a:rPr>
              <a:t>El efecto en variables de peso al nacer tiene la dirección esperada pero no son estadísticamente significativos</a:t>
            </a:r>
          </a:p>
        </p:txBody>
      </p:sp>
      <p:sp>
        <p:nvSpPr>
          <p:cNvPr id="4" name="text-3-2">
            <a:extLst>
              <a:ext uri="{FF2B5EF4-FFF2-40B4-BE49-F238E27FC236}">
                <a16:creationId xmlns:a16="http://schemas.microsoft.com/office/drawing/2014/main" id="{EFE4B8A1-6621-3AF3-A877-7558B60E017C}"/>
              </a:ext>
            </a:extLst>
          </p:cNvPr>
          <p:cNvSpPr>
            <a:spLocks noGrp="1"/>
          </p:cNvSpPr>
          <p:nvPr/>
        </p:nvSpPr>
        <p:spPr>
          <a:xfrm>
            <a:off x="10953750" y="6362700"/>
            <a:ext cx="628650" cy="285750"/>
          </a:xfrm>
          <a:prstGeom prst="rect">
            <a:avLst/>
          </a:prstGeom>
          <a:no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lang="en-US" sz="1275" b="0" dirty="0">
                <a:solidFill>
                  <a:srgbClr val="53646B"/>
                </a:solidFill>
                <a:latin typeface="DejaVu Sans"/>
                <a:ea typeface="DejaVu Sans"/>
                <a:cs typeface="DejaVu Sans"/>
              </a:rPr>
              <a:t>6</a:t>
            </a:r>
            <a:r>
              <a:rPr sz="1275" b="0" dirty="0">
                <a:solidFill>
                  <a:srgbClr val="53646B"/>
                </a:solidFill>
                <a:latin typeface="DejaVu Sans"/>
                <a:ea typeface="DejaVu Sans"/>
                <a:cs typeface="DejaVu Sans"/>
              </a:rPr>
              <a:t> / 18</a:t>
            </a:r>
          </a:p>
        </p:txBody>
      </p:sp>
      <p:pic>
        <p:nvPicPr>
          <p:cNvPr id="10" name="Picture 9">
            <a:extLst>
              <a:ext uri="{FF2B5EF4-FFF2-40B4-BE49-F238E27FC236}">
                <a16:creationId xmlns:a16="http://schemas.microsoft.com/office/drawing/2014/main" id="{9A3EAE18-648E-AECD-09D8-7A989E43A80D}"/>
              </a:ext>
            </a:extLst>
          </p:cNvPr>
          <p:cNvPicPr>
            <a:picLocks noChangeAspect="1"/>
          </p:cNvPicPr>
          <p:nvPr/>
        </p:nvPicPr>
        <p:blipFill>
          <a:blip r:embed="rId3"/>
          <a:stretch/>
        </p:blipFill>
        <p:spPr>
          <a:xfrm>
            <a:off x="725713" y="2273416"/>
            <a:ext cx="3378405" cy="2161186"/>
          </a:xfrm>
          <a:prstGeom prst="rect">
            <a:avLst/>
          </a:prstGeom>
          <a:ln>
            <a:noFill/>
          </a:ln>
        </p:spPr>
      </p:pic>
      <p:sp>
        <p:nvSpPr>
          <p:cNvPr id="19" name="TextBox 18">
            <a:extLst>
              <a:ext uri="{FF2B5EF4-FFF2-40B4-BE49-F238E27FC236}">
                <a16:creationId xmlns:a16="http://schemas.microsoft.com/office/drawing/2014/main" id="{BC56215B-D91C-E711-6E63-DE387E203612}"/>
              </a:ext>
            </a:extLst>
          </p:cNvPr>
          <p:cNvSpPr txBox="1"/>
          <p:nvPr/>
        </p:nvSpPr>
        <p:spPr>
          <a:xfrm>
            <a:off x="2717932" y="1679473"/>
            <a:ext cx="1190625" cy="369332"/>
          </a:xfrm>
          <a:prstGeom prst="rect">
            <a:avLst/>
          </a:prstGeom>
          <a:noFill/>
        </p:spPr>
        <p:txBody>
          <a:bodyPr wrap="square" rtlCol="0">
            <a:spAutoFit/>
          </a:bodyPr>
          <a:lstStyle/>
          <a:p>
            <a:pPr algn="ctr"/>
            <a:r>
              <a:rPr lang="es-MX" b="1" spc="-30" dirty="0">
                <a:solidFill>
                  <a:schemeClr val="accent4">
                    <a:lumMod val="75000"/>
                  </a:schemeClr>
                </a:solidFill>
                <a:latin typeface="Arial" panose="020B0604020202020204" pitchFamily="34" charset="0"/>
                <a:cs typeface="Arial" panose="020B0604020202020204" pitchFamily="34" charset="0"/>
              </a:rPr>
              <a:t>APGAR</a:t>
            </a:r>
          </a:p>
        </p:txBody>
      </p:sp>
      <p:sp>
        <p:nvSpPr>
          <p:cNvPr id="22" name="TextBox 21">
            <a:extLst>
              <a:ext uri="{FF2B5EF4-FFF2-40B4-BE49-F238E27FC236}">
                <a16:creationId xmlns:a16="http://schemas.microsoft.com/office/drawing/2014/main" id="{5808E26D-6CE7-5865-B027-08762B984533}"/>
              </a:ext>
            </a:extLst>
          </p:cNvPr>
          <p:cNvSpPr txBox="1"/>
          <p:nvPr/>
        </p:nvSpPr>
        <p:spPr>
          <a:xfrm>
            <a:off x="4619984" y="2470266"/>
            <a:ext cx="1049296" cy="408623"/>
          </a:xfrm>
          <a:prstGeom prst="roundRect">
            <a:avLst/>
          </a:prstGeom>
          <a:noFill/>
          <a:ln>
            <a:solidFill>
              <a:schemeClr val="accent4">
                <a:lumMod val="75000"/>
              </a:schemeClr>
            </a:solidFill>
          </a:ln>
        </p:spPr>
        <p:txBody>
          <a:bodyPr wrap="square" rtlCol="0">
            <a:spAutoFit/>
          </a:bodyPr>
          <a:lstStyle/>
          <a:p>
            <a:pPr algn="ctr"/>
            <a:r>
              <a:rPr lang="es-MX" b="1" spc="-30" dirty="0">
                <a:solidFill>
                  <a:schemeClr val="accent4">
                    <a:lumMod val="75000"/>
                  </a:schemeClr>
                </a:solidFill>
                <a:latin typeface="Arial" panose="020B0604020202020204" pitchFamily="34" charset="0"/>
                <a:cs typeface="Arial" panose="020B0604020202020204" pitchFamily="34" charset="0"/>
              </a:rPr>
              <a:t>+0.222*</a:t>
            </a:r>
          </a:p>
        </p:txBody>
      </p:sp>
      <p:sp>
        <p:nvSpPr>
          <p:cNvPr id="24" name="TextBox 23">
            <a:extLst>
              <a:ext uri="{FF2B5EF4-FFF2-40B4-BE49-F238E27FC236}">
                <a16:creationId xmlns:a16="http://schemas.microsoft.com/office/drawing/2014/main" id="{ED084CFE-55C8-12D9-568E-AA229972597D}"/>
              </a:ext>
            </a:extLst>
          </p:cNvPr>
          <p:cNvSpPr txBox="1"/>
          <p:nvPr/>
        </p:nvSpPr>
        <p:spPr>
          <a:xfrm>
            <a:off x="4546600" y="2233121"/>
            <a:ext cx="956643" cy="307777"/>
          </a:xfrm>
          <a:prstGeom prst="rect">
            <a:avLst/>
          </a:prstGeom>
          <a:noFill/>
        </p:spPr>
        <p:txBody>
          <a:bodyPr wrap="square" rtlCol="0">
            <a:spAutoFit/>
          </a:bodyPr>
          <a:lstStyle/>
          <a:p>
            <a:r>
              <a:rPr lang="es-MX" sz="1400" i="1" spc="-30" dirty="0">
                <a:latin typeface="Arial" panose="020B0604020202020204" pitchFamily="34" charset="0"/>
                <a:cs typeface="Arial" panose="020B0604020202020204" pitchFamily="34" charset="0"/>
              </a:rPr>
              <a:t>Efecto</a:t>
            </a:r>
          </a:p>
        </p:txBody>
      </p:sp>
      <p:sp>
        <p:nvSpPr>
          <p:cNvPr id="27" name="TextBox 26">
            <a:extLst>
              <a:ext uri="{FF2B5EF4-FFF2-40B4-BE49-F238E27FC236}">
                <a16:creationId xmlns:a16="http://schemas.microsoft.com/office/drawing/2014/main" id="{40AFB9EA-BEDE-22C3-22FC-421FAF0DB992}"/>
              </a:ext>
            </a:extLst>
          </p:cNvPr>
          <p:cNvSpPr txBox="1"/>
          <p:nvPr/>
        </p:nvSpPr>
        <p:spPr>
          <a:xfrm>
            <a:off x="4546600" y="2998583"/>
            <a:ext cx="1422399" cy="307777"/>
          </a:xfrm>
          <a:prstGeom prst="rect">
            <a:avLst/>
          </a:prstGeom>
          <a:noFill/>
        </p:spPr>
        <p:txBody>
          <a:bodyPr wrap="square" rtlCol="0">
            <a:spAutoFit/>
          </a:bodyPr>
          <a:lstStyle/>
          <a:p>
            <a:r>
              <a:rPr lang="es-MX" sz="1400" i="1" spc="-30" dirty="0">
                <a:latin typeface="Arial" panose="020B0604020202020204" pitchFamily="34" charset="0"/>
                <a:cs typeface="Arial" panose="020B0604020202020204" pitchFamily="34" charset="0"/>
              </a:rPr>
              <a:t>Relativo</a:t>
            </a:r>
          </a:p>
        </p:txBody>
      </p:sp>
      <p:sp>
        <p:nvSpPr>
          <p:cNvPr id="30" name="TextBox 29">
            <a:extLst>
              <a:ext uri="{FF2B5EF4-FFF2-40B4-BE49-F238E27FC236}">
                <a16:creationId xmlns:a16="http://schemas.microsoft.com/office/drawing/2014/main" id="{C7B9F37E-C3CA-F3A0-98F2-D2358AF74463}"/>
              </a:ext>
            </a:extLst>
          </p:cNvPr>
          <p:cNvSpPr txBox="1"/>
          <p:nvPr/>
        </p:nvSpPr>
        <p:spPr>
          <a:xfrm>
            <a:off x="4619983" y="3247488"/>
            <a:ext cx="1049297" cy="408623"/>
          </a:xfrm>
          <a:prstGeom prst="roundRect">
            <a:avLst/>
          </a:prstGeom>
          <a:noFill/>
          <a:ln>
            <a:solidFill>
              <a:schemeClr val="accent4">
                <a:lumMod val="75000"/>
              </a:schemeClr>
            </a:solidFill>
          </a:ln>
        </p:spPr>
        <p:txBody>
          <a:bodyPr wrap="square" rtlCol="0">
            <a:spAutoFit/>
          </a:bodyPr>
          <a:lstStyle/>
          <a:p>
            <a:pPr algn="ctr"/>
            <a:r>
              <a:rPr lang="es-MX" b="1" spc="-30" dirty="0">
                <a:solidFill>
                  <a:schemeClr val="accent4">
                    <a:lumMod val="75000"/>
                  </a:schemeClr>
                </a:solidFill>
                <a:latin typeface="Arial" panose="020B0604020202020204" pitchFamily="34" charset="0"/>
                <a:cs typeface="Arial" panose="020B0604020202020204" pitchFamily="34" charset="0"/>
              </a:rPr>
              <a:t>2.5%</a:t>
            </a:r>
          </a:p>
        </p:txBody>
      </p:sp>
      <p:sp>
        <p:nvSpPr>
          <p:cNvPr id="32" name="TextBox 31">
            <a:extLst>
              <a:ext uri="{FF2B5EF4-FFF2-40B4-BE49-F238E27FC236}">
                <a16:creationId xmlns:a16="http://schemas.microsoft.com/office/drawing/2014/main" id="{124DCED8-A395-1242-A6CB-60E72CD1E76D}"/>
              </a:ext>
            </a:extLst>
          </p:cNvPr>
          <p:cNvSpPr txBox="1"/>
          <p:nvPr/>
        </p:nvSpPr>
        <p:spPr>
          <a:xfrm>
            <a:off x="2684595" y="2523087"/>
            <a:ext cx="1257300"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Tratamiento</a:t>
            </a:r>
          </a:p>
        </p:txBody>
      </p:sp>
      <p:sp>
        <p:nvSpPr>
          <p:cNvPr id="34" name="TextBox 33">
            <a:extLst>
              <a:ext uri="{FF2B5EF4-FFF2-40B4-BE49-F238E27FC236}">
                <a16:creationId xmlns:a16="http://schemas.microsoft.com/office/drawing/2014/main" id="{D5085B32-C50C-F54A-CECF-966F2FBC2A82}"/>
              </a:ext>
            </a:extLst>
          </p:cNvPr>
          <p:cNvSpPr txBox="1"/>
          <p:nvPr/>
        </p:nvSpPr>
        <p:spPr>
          <a:xfrm>
            <a:off x="1061013" y="2523087"/>
            <a:ext cx="1257300" cy="307777"/>
          </a:xfrm>
          <a:prstGeom prst="rect">
            <a:avLst/>
          </a:prstGeom>
          <a:noFill/>
        </p:spPr>
        <p:txBody>
          <a:bodyPr wrap="square" rtlCol="0">
            <a:spAutoFit/>
          </a:bodyPr>
          <a:lstStyle/>
          <a:p>
            <a:pPr algn="ctr"/>
            <a:r>
              <a:rPr lang="es-MX" sz="1400" i="1" spc="-30" dirty="0">
                <a:solidFill>
                  <a:schemeClr val="bg2">
                    <a:lumMod val="50000"/>
                  </a:schemeClr>
                </a:solidFill>
                <a:latin typeface="Arial" panose="020B0604020202020204" pitchFamily="34" charset="0"/>
                <a:cs typeface="Arial" panose="020B0604020202020204" pitchFamily="34" charset="0"/>
              </a:rPr>
              <a:t>Antes</a:t>
            </a:r>
          </a:p>
        </p:txBody>
      </p:sp>
      <p:sp>
        <p:nvSpPr>
          <p:cNvPr id="37" name="TextBox 36">
            <a:extLst>
              <a:ext uri="{FF2B5EF4-FFF2-40B4-BE49-F238E27FC236}">
                <a16:creationId xmlns:a16="http://schemas.microsoft.com/office/drawing/2014/main" id="{5DB7575C-E425-25CC-4EA4-AE7DBA0FB66F}"/>
              </a:ext>
            </a:extLst>
          </p:cNvPr>
          <p:cNvSpPr txBox="1"/>
          <p:nvPr/>
        </p:nvSpPr>
        <p:spPr>
          <a:xfrm>
            <a:off x="1936593" y="2174464"/>
            <a:ext cx="956643" cy="307777"/>
          </a:xfrm>
          <a:prstGeom prst="rect">
            <a:avLst/>
          </a:prstGeom>
          <a:noFill/>
        </p:spPr>
        <p:txBody>
          <a:bodyPr wrap="square" rtlCol="0">
            <a:spAutoFit/>
          </a:bodyPr>
          <a:lstStyle/>
          <a:p>
            <a:r>
              <a:rPr lang="es-MX" sz="1400" i="1" spc="-30" dirty="0">
                <a:solidFill>
                  <a:schemeClr val="accent4">
                    <a:lumMod val="75000"/>
                  </a:schemeClr>
                </a:solidFill>
                <a:latin typeface="Arial" panose="020B0604020202020204" pitchFamily="34" charset="0"/>
                <a:cs typeface="Arial" panose="020B0604020202020204" pitchFamily="34" charset="0"/>
              </a:rPr>
              <a:t>Apertura</a:t>
            </a:r>
          </a:p>
        </p:txBody>
      </p:sp>
      <p:sp>
        <p:nvSpPr>
          <p:cNvPr id="40" name="TextBox 39">
            <a:extLst>
              <a:ext uri="{FF2B5EF4-FFF2-40B4-BE49-F238E27FC236}">
                <a16:creationId xmlns:a16="http://schemas.microsoft.com/office/drawing/2014/main" id="{C303B6D1-ADA2-97B7-2CFD-1D486EC878FE}"/>
              </a:ext>
            </a:extLst>
          </p:cNvPr>
          <p:cNvSpPr txBox="1"/>
          <p:nvPr/>
        </p:nvSpPr>
        <p:spPr>
          <a:xfrm>
            <a:off x="4546600" y="3811939"/>
            <a:ext cx="1422399" cy="307777"/>
          </a:xfrm>
          <a:prstGeom prst="rect">
            <a:avLst/>
          </a:prstGeom>
          <a:noFill/>
        </p:spPr>
        <p:txBody>
          <a:bodyPr wrap="square" rtlCol="0">
            <a:spAutoFit/>
          </a:bodyPr>
          <a:lstStyle/>
          <a:p>
            <a:r>
              <a:rPr lang="es-MX" sz="1400" i="1" spc="-30" dirty="0">
                <a:latin typeface="Arial" panose="020B0604020202020204" pitchFamily="34" charset="0"/>
                <a:cs typeface="Arial" panose="020B0604020202020204" pitchFamily="34" charset="0"/>
              </a:rPr>
              <a:t>Brecha</a:t>
            </a:r>
          </a:p>
        </p:txBody>
      </p:sp>
      <p:sp>
        <p:nvSpPr>
          <p:cNvPr id="42" name="TextBox 41">
            <a:extLst>
              <a:ext uri="{FF2B5EF4-FFF2-40B4-BE49-F238E27FC236}">
                <a16:creationId xmlns:a16="http://schemas.microsoft.com/office/drawing/2014/main" id="{E6F6E03A-ECAA-54C9-BF20-A29947D6EC56}"/>
              </a:ext>
            </a:extLst>
          </p:cNvPr>
          <p:cNvSpPr txBox="1"/>
          <p:nvPr/>
        </p:nvSpPr>
        <p:spPr>
          <a:xfrm>
            <a:off x="4619983" y="4060844"/>
            <a:ext cx="1049297" cy="408623"/>
          </a:xfrm>
          <a:prstGeom prst="roundRect">
            <a:avLst/>
          </a:prstGeom>
          <a:noFill/>
          <a:ln>
            <a:solidFill>
              <a:schemeClr val="accent4">
                <a:lumMod val="75000"/>
              </a:schemeClr>
            </a:solidFill>
          </a:ln>
        </p:spPr>
        <p:txBody>
          <a:bodyPr wrap="square" rtlCol="0">
            <a:spAutoFit/>
          </a:bodyPr>
          <a:lstStyle/>
          <a:p>
            <a:pPr algn="ctr"/>
            <a:r>
              <a:rPr lang="es-MX" b="1" spc="-30" dirty="0">
                <a:solidFill>
                  <a:schemeClr val="accent4">
                    <a:lumMod val="75000"/>
                  </a:schemeClr>
                </a:solidFill>
                <a:latin typeface="Arial" panose="020B0604020202020204" pitchFamily="34" charset="0"/>
                <a:cs typeface="Arial" panose="020B0604020202020204" pitchFamily="34" charset="0"/>
              </a:rPr>
              <a:t>58.8%</a:t>
            </a:r>
          </a:p>
        </p:txBody>
      </p:sp>
      <p:sp>
        <p:nvSpPr>
          <p:cNvPr id="45" name="TextBox 44">
            <a:extLst>
              <a:ext uri="{FF2B5EF4-FFF2-40B4-BE49-F238E27FC236}">
                <a16:creationId xmlns:a16="http://schemas.microsoft.com/office/drawing/2014/main" id="{46C144CA-D5B2-5CF8-FB2A-1138BDA0A2F2}"/>
              </a:ext>
            </a:extLst>
          </p:cNvPr>
          <p:cNvSpPr txBox="1"/>
          <p:nvPr/>
        </p:nvSpPr>
        <p:spPr>
          <a:xfrm>
            <a:off x="983358" y="4236489"/>
            <a:ext cx="3648167"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Trimestres antes y después de apertura</a:t>
            </a:r>
          </a:p>
        </p:txBody>
      </p:sp>
      <p:sp>
        <p:nvSpPr>
          <p:cNvPr id="49" name="TextBox 48">
            <a:extLst>
              <a:ext uri="{FF2B5EF4-FFF2-40B4-BE49-F238E27FC236}">
                <a16:creationId xmlns:a16="http://schemas.microsoft.com/office/drawing/2014/main" id="{D555290D-15D5-F752-40EE-E98604E52469}"/>
              </a:ext>
            </a:extLst>
          </p:cNvPr>
          <p:cNvSpPr txBox="1"/>
          <p:nvPr/>
        </p:nvSpPr>
        <p:spPr>
          <a:xfrm rot="16200000">
            <a:off x="-327271" y="3085784"/>
            <a:ext cx="1824083" cy="307777"/>
          </a:xfrm>
          <a:prstGeom prst="rect">
            <a:avLst/>
          </a:prstGeom>
          <a:noFill/>
        </p:spPr>
        <p:txBody>
          <a:bodyPr wrap="square" rtlCol="0">
            <a:spAutoFit/>
          </a:bodyPr>
          <a:lstStyle/>
          <a:p>
            <a:pPr algn="ctr"/>
            <a:r>
              <a:rPr lang="es-MX" sz="1400" i="1" spc="-30" dirty="0">
                <a:solidFill>
                  <a:schemeClr val="bg2">
                    <a:lumMod val="50000"/>
                  </a:schemeClr>
                </a:solidFill>
                <a:latin typeface="Arial" panose="020B0604020202020204" pitchFamily="34" charset="0"/>
                <a:cs typeface="Arial" panose="020B0604020202020204" pitchFamily="34" charset="0"/>
              </a:rPr>
              <a:t>Efecto de apertura</a:t>
            </a:r>
          </a:p>
        </p:txBody>
      </p:sp>
      <p:pic>
        <p:nvPicPr>
          <p:cNvPr id="51" name="Picture 50">
            <a:extLst>
              <a:ext uri="{FF2B5EF4-FFF2-40B4-BE49-F238E27FC236}">
                <a16:creationId xmlns:a16="http://schemas.microsoft.com/office/drawing/2014/main" id="{14F2C837-717B-01C0-86C5-CEBD807503B4}"/>
              </a:ext>
            </a:extLst>
          </p:cNvPr>
          <p:cNvPicPr>
            <a:picLocks noChangeAspect="1"/>
          </p:cNvPicPr>
          <p:nvPr/>
        </p:nvPicPr>
        <p:blipFill>
          <a:blip r:embed="rId4"/>
          <a:srcRect l="27510" b="45699"/>
          <a:stretch>
            <a:fillRect/>
          </a:stretch>
        </p:blipFill>
        <p:spPr>
          <a:xfrm>
            <a:off x="7032063" y="5310379"/>
            <a:ext cx="1702362" cy="763176"/>
          </a:xfrm>
          <a:prstGeom prst="rect">
            <a:avLst/>
          </a:prstGeom>
        </p:spPr>
      </p:pic>
      <p:sp>
        <p:nvSpPr>
          <p:cNvPr id="53" name="TextBox 52">
            <a:extLst>
              <a:ext uri="{FF2B5EF4-FFF2-40B4-BE49-F238E27FC236}">
                <a16:creationId xmlns:a16="http://schemas.microsoft.com/office/drawing/2014/main" id="{06426523-0792-FFCD-2213-96763B879623}"/>
              </a:ext>
            </a:extLst>
          </p:cNvPr>
          <p:cNvSpPr txBox="1"/>
          <p:nvPr/>
        </p:nvSpPr>
        <p:spPr>
          <a:xfrm>
            <a:off x="7029648" y="4742689"/>
            <a:ext cx="1185896" cy="338554"/>
          </a:xfrm>
          <a:prstGeom prst="rect">
            <a:avLst/>
          </a:prstGeom>
          <a:noFill/>
        </p:spPr>
        <p:txBody>
          <a:bodyPr wrap="square" rtlCol="0">
            <a:spAutoFit/>
          </a:bodyPr>
          <a:lstStyle/>
          <a:p>
            <a:r>
              <a:rPr lang="es-MX" sz="1600" i="1" spc="-30" dirty="0" err="1">
                <a:solidFill>
                  <a:schemeClr val="accent4">
                    <a:lumMod val="75000"/>
                  </a:schemeClr>
                </a:solidFill>
                <a:latin typeface="Arial" panose="020B0604020202020204" pitchFamily="34" charset="0"/>
                <a:cs typeface="Arial" panose="020B0604020202020204" pitchFamily="34" charset="0"/>
              </a:rPr>
              <a:t>Spillovers</a:t>
            </a:r>
            <a:endParaRPr lang="es-MX" sz="1600" i="1" spc="-30" dirty="0">
              <a:solidFill>
                <a:schemeClr val="accent4">
                  <a:lumMod val="75000"/>
                </a:schemeClr>
              </a:solidFill>
              <a:latin typeface="Arial" panose="020B0604020202020204" pitchFamily="34" charset="0"/>
              <a:cs typeface="Arial" panose="020B0604020202020204" pitchFamily="34" charset="0"/>
            </a:endParaRPr>
          </a:p>
        </p:txBody>
      </p:sp>
      <p:pic>
        <p:nvPicPr>
          <p:cNvPr id="55" name="Picture 54">
            <a:extLst>
              <a:ext uri="{FF2B5EF4-FFF2-40B4-BE49-F238E27FC236}">
                <a16:creationId xmlns:a16="http://schemas.microsoft.com/office/drawing/2014/main" id="{CD4441AA-C1F1-336C-37AF-A527EBD6C307}"/>
              </a:ext>
            </a:extLst>
          </p:cNvPr>
          <p:cNvPicPr>
            <a:picLocks noChangeAspect="1"/>
          </p:cNvPicPr>
          <p:nvPr/>
        </p:nvPicPr>
        <p:blipFill>
          <a:blip r:embed="rId4"/>
          <a:srcRect l="27510" t="78101"/>
          <a:stretch>
            <a:fillRect/>
          </a:stretch>
        </p:blipFill>
        <p:spPr>
          <a:xfrm>
            <a:off x="7032063" y="6058971"/>
            <a:ext cx="1702362" cy="307777"/>
          </a:xfrm>
          <a:prstGeom prst="rect">
            <a:avLst/>
          </a:prstGeom>
        </p:spPr>
      </p:pic>
      <p:sp>
        <p:nvSpPr>
          <p:cNvPr id="59" name="TextBox 58">
            <a:extLst>
              <a:ext uri="{FF2B5EF4-FFF2-40B4-BE49-F238E27FC236}">
                <a16:creationId xmlns:a16="http://schemas.microsoft.com/office/drawing/2014/main" id="{BB9B5E05-957F-62DC-34EE-88FA0D7F7D96}"/>
              </a:ext>
            </a:extLst>
          </p:cNvPr>
          <p:cNvSpPr txBox="1"/>
          <p:nvPr/>
        </p:nvSpPr>
        <p:spPr>
          <a:xfrm>
            <a:off x="6210300" y="5310379"/>
            <a:ext cx="876425"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Tratados</a:t>
            </a:r>
          </a:p>
        </p:txBody>
      </p:sp>
      <p:sp>
        <p:nvSpPr>
          <p:cNvPr id="61" name="TextBox 60">
            <a:extLst>
              <a:ext uri="{FF2B5EF4-FFF2-40B4-BE49-F238E27FC236}">
                <a16:creationId xmlns:a16="http://schemas.microsoft.com/office/drawing/2014/main" id="{E9510EFE-6BB1-79AE-CC2E-DA5D05CCF6D1}"/>
              </a:ext>
            </a:extLst>
          </p:cNvPr>
          <p:cNvSpPr txBox="1"/>
          <p:nvPr/>
        </p:nvSpPr>
        <p:spPr>
          <a:xfrm>
            <a:off x="6210299" y="5722619"/>
            <a:ext cx="876425"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Vecinos</a:t>
            </a:r>
          </a:p>
        </p:txBody>
      </p:sp>
      <p:sp>
        <p:nvSpPr>
          <p:cNvPr id="63" name="TextBox 62">
            <a:extLst>
              <a:ext uri="{FF2B5EF4-FFF2-40B4-BE49-F238E27FC236}">
                <a16:creationId xmlns:a16="http://schemas.microsoft.com/office/drawing/2014/main" id="{0665AC66-DB0C-FD7F-6E96-BF2C070FB67C}"/>
              </a:ext>
            </a:extLst>
          </p:cNvPr>
          <p:cNvSpPr txBox="1"/>
          <p:nvPr/>
        </p:nvSpPr>
        <p:spPr>
          <a:xfrm>
            <a:off x="6962900" y="6214570"/>
            <a:ext cx="1881064" cy="307777"/>
          </a:xfrm>
          <a:prstGeom prst="rect">
            <a:avLst/>
          </a:prstGeom>
          <a:solidFill>
            <a:schemeClr val="bg1"/>
          </a:solidFill>
        </p:spPr>
        <p:txBody>
          <a:bodyPr wrap="square" rtlCol="0">
            <a:spAutoFit/>
          </a:bodyPr>
          <a:lstStyle/>
          <a:p>
            <a:r>
              <a:rPr lang="es-MX" sz="1400" spc="-30" dirty="0">
                <a:latin typeface="Arial" panose="020B0604020202020204" pitchFamily="34" charset="0"/>
                <a:cs typeface="Arial" panose="020B0604020202020204" pitchFamily="34" charset="0"/>
              </a:rPr>
              <a:t>0    0.1   0.2   0.3    0.4  </a:t>
            </a:r>
          </a:p>
        </p:txBody>
      </p:sp>
      <p:cxnSp>
        <p:nvCxnSpPr>
          <p:cNvPr id="67" name="Straight Connector 66">
            <a:extLst>
              <a:ext uri="{FF2B5EF4-FFF2-40B4-BE49-F238E27FC236}">
                <a16:creationId xmlns:a16="http://schemas.microsoft.com/office/drawing/2014/main" id="{71D60965-3776-5935-2DFE-75BAFED94F4B}"/>
              </a:ext>
            </a:extLst>
          </p:cNvPr>
          <p:cNvCxnSpPr>
            <a:cxnSpLocks/>
          </p:cNvCxnSpPr>
          <p:nvPr/>
        </p:nvCxnSpPr>
        <p:spPr>
          <a:xfrm>
            <a:off x="7089213" y="6147894"/>
            <a:ext cx="0" cy="861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41FBF6D-114B-8BDD-9179-0DD3C2E78075}"/>
              </a:ext>
            </a:extLst>
          </p:cNvPr>
          <p:cNvCxnSpPr>
            <a:cxnSpLocks/>
          </p:cNvCxnSpPr>
          <p:nvPr/>
        </p:nvCxnSpPr>
        <p:spPr>
          <a:xfrm>
            <a:off x="7463069" y="6147894"/>
            <a:ext cx="0" cy="861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D01D338-4D51-20CC-B82E-58A4FC4477CC}"/>
              </a:ext>
            </a:extLst>
          </p:cNvPr>
          <p:cNvCxnSpPr>
            <a:cxnSpLocks/>
          </p:cNvCxnSpPr>
          <p:nvPr/>
        </p:nvCxnSpPr>
        <p:spPr>
          <a:xfrm>
            <a:off x="7841688" y="6147894"/>
            <a:ext cx="0" cy="861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DA8ACF6-697A-A95C-39E3-16CEE912D987}"/>
              </a:ext>
            </a:extLst>
          </p:cNvPr>
          <p:cNvCxnSpPr>
            <a:cxnSpLocks/>
          </p:cNvCxnSpPr>
          <p:nvPr/>
        </p:nvCxnSpPr>
        <p:spPr>
          <a:xfrm>
            <a:off x="8215544" y="6147894"/>
            <a:ext cx="0" cy="861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0D2DD80-FFDA-93FA-8806-308E2DAEEB21}"/>
              </a:ext>
            </a:extLst>
          </p:cNvPr>
          <p:cNvCxnSpPr>
            <a:cxnSpLocks/>
          </p:cNvCxnSpPr>
          <p:nvPr/>
        </p:nvCxnSpPr>
        <p:spPr>
          <a:xfrm>
            <a:off x="8587019" y="6147894"/>
            <a:ext cx="0" cy="861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21A8F60B-CE62-938D-010C-FA25C693DE08}"/>
              </a:ext>
            </a:extLst>
          </p:cNvPr>
          <p:cNvCxnSpPr>
            <a:cxnSpLocks/>
          </p:cNvCxnSpPr>
          <p:nvPr/>
        </p:nvCxnSpPr>
        <p:spPr>
          <a:xfrm flipH="1">
            <a:off x="6998957" y="5881625"/>
            <a:ext cx="902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CDD3FD7-BCEB-E45E-9DE0-C234D922D54E}"/>
              </a:ext>
            </a:extLst>
          </p:cNvPr>
          <p:cNvCxnSpPr>
            <a:cxnSpLocks/>
          </p:cNvCxnSpPr>
          <p:nvPr/>
        </p:nvCxnSpPr>
        <p:spPr>
          <a:xfrm flipH="1">
            <a:off x="6998957" y="5472050"/>
            <a:ext cx="902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8" name="Picture 77">
            <a:extLst>
              <a:ext uri="{FF2B5EF4-FFF2-40B4-BE49-F238E27FC236}">
                <a16:creationId xmlns:a16="http://schemas.microsoft.com/office/drawing/2014/main" id="{4E2D3F06-9926-2E5F-9167-3F2A6748C612}"/>
              </a:ext>
            </a:extLst>
          </p:cNvPr>
          <p:cNvPicPr>
            <a:picLocks noChangeAspect="1"/>
          </p:cNvPicPr>
          <p:nvPr/>
        </p:nvPicPr>
        <p:blipFill>
          <a:blip r:embed="rId5"/>
          <a:srcRect l="25265" r="11271"/>
          <a:stretch>
            <a:fillRect/>
          </a:stretch>
        </p:blipFill>
        <p:spPr>
          <a:xfrm>
            <a:off x="9926086" y="5181925"/>
            <a:ext cx="1759266" cy="1317531"/>
          </a:xfrm>
          <a:prstGeom prst="rect">
            <a:avLst/>
          </a:prstGeom>
        </p:spPr>
      </p:pic>
      <p:sp>
        <p:nvSpPr>
          <p:cNvPr id="80" name="TextBox 79">
            <a:extLst>
              <a:ext uri="{FF2B5EF4-FFF2-40B4-BE49-F238E27FC236}">
                <a16:creationId xmlns:a16="http://schemas.microsoft.com/office/drawing/2014/main" id="{DA5BDDF5-7145-F79B-CF4B-B2568F3E9620}"/>
              </a:ext>
            </a:extLst>
          </p:cNvPr>
          <p:cNvSpPr txBox="1"/>
          <p:nvPr/>
        </p:nvSpPr>
        <p:spPr>
          <a:xfrm>
            <a:off x="9964778" y="6340673"/>
            <a:ext cx="2028467" cy="307777"/>
          </a:xfrm>
          <a:prstGeom prst="rect">
            <a:avLst/>
          </a:prstGeom>
          <a:solidFill>
            <a:schemeClr val="bg1"/>
          </a:solidFill>
        </p:spPr>
        <p:txBody>
          <a:bodyPr wrap="square" rtlCol="0">
            <a:spAutoFit/>
          </a:bodyPr>
          <a:lstStyle/>
          <a:p>
            <a:r>
              <a:rPr lang="es-MX" sz="1400" spc="-30" dirty="0">
                <a:latin typeface="Arial" panose="020B0604020202020204" pitchFamily="34" charset="0"/>
                <a:cs typeface="Arial" panose="020B0604020202020204" pitchFamily="34" charset="0"/>
              </a:rPr>
              <a:t>0   0.2   0.4  0.6  0.8   </a:t>
            </a:r>
          </a:p>
        </p:txBody>
      </p:sp>
      <p:sp>
        <p:nvSpPr>
          <p:cNvPr id="82" name="TextBox 81">
            <a:extLst>
              <a:ext uri="{FF2B5EF4-FFF2-40B4-BE49-F238E27FC236}">
                <a16:creationId xmlns:a16="http://schemas.microsoft.com/office/drawing/2014/main" id="{26A51D7B-E21C-7BC5-5ACF-1D54EED095D4}"/>
              </a:ext>
            </a:extLst>
          </p:cNvPr>
          <p:cNvSpPr txBox="1"/>
          <p:nvPr/>
        </p:nvSpPr>
        <p:spPr>
          <a:xfrm>
            <a:off x="9033655" y="5149592"/>
            <a:ext cx="876425"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Tratados</a:t>
            </a:r>
          </a:p>
        </p:txBody>
      </p:sp>
      <p:sp>
        <p:nvSpPr>
          <p:cNvPr id="84" name="TextBox 83">
            <a:extLst>
              <a:ext uri="{FF2B5EF4-FFF2-40B4-BE49-F238E27FC236}">
                <a16:creationId xmlns:a16="http://schemas.microsoft.com/office/drawing/2014/main" id="{01039DE3-5936-5F08-FB72-AAE9E2ADAC03}"/>
              </a:ext>
            </a:extLst>
          </p:cNvPr>
          <p:cNvSpPr txBox="1"/>
          <p:nvPr/>
        </p:nvSpPr>
        <p:spPr>
          <a:xfrm>
            <a:off x="9033655" y="5374281"/>
            <a:ext cx="876425"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Todos</a:t>
            </a:r>
          </a:p>
        </p:txBody>
      </p:sp>
      <p:sp>
        <p:nvSpPr>
          <p:cNvPr id="86" name="TextBox 85">
            <a:extLst>
              <a:ext uri="{FF2B5EF4-FFF2-40B4-BE49-F238E27FC236}">
                <a16:creationId xmlns:a16="http://schemas.microsoft.com/office/drawing/2014/main" id="{22D1E8A8-4809-EAF6-1111-20D812E990A3}"/>
              </a:ext>
            </a:extLst>
          </p:cNvPr>
          <p:cNvSpPr txBox="1"/>
          <p:nvPr/>
        </p:nvSpPr>
        <p:spPr>
          <a:xfrm>
            <a:off x="9056011" y="5598167"/>
            <a:ext cx="876425"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SSa</a:t>
            </a:r>
          </a:p>
        </p:txBody>
      </p:sp>
      <p:sp>
        <p:nvSpPr>
          <p:cNvPr id="88" name="TextBox 87">
            <a:extLst>
              <a:ext uri="{FF2B5EF4-FFF2-40B4-BE49-F238E27FC236}">
                <a16:creationId xmlns:a16="http://schemas.microsoft.com/office/drawing/2014/main" id="{78CD9631-123E-CBF3-C842-29B64920E22D}"/>
              </a:ext>
            </a:extLst>
          </p:cNvPr>
          <p:cNvSpPr txBox="1"/>
          <p:nvPr/>
        </p:nvSpPr>
        <p:spPr>
          <a:xfrm>
            <a:off x="9052836" y="5817411"/>
            <a:ext cx="876425"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Privados</a:t>
            </a:r>
          </a:p>
        </p:txBody>
      </p:sp>
      <p:sp>
        <p:nvSpPr>
          <p:cNvPr id="90" name="TextBox 89">
            <a:extLst>
              <a:ext uri="{FF2B5EF4-FFF2-40B4-BE49-F238E27FC236}">
                <a16:creationId xmlns:a16="http://schemas.microsoft.com/office/drawing/2014/main" id="{4C0AE628-740F-78C3-B7E5-193C3B90FFB2}"/>
              </a:ext>
            </a:extLst>
          </p:cNvPr>
          <p:cNvSpPr txBox="1"/>
          <p:nvPr/>
        </p:nvSpPr>
        <p:spPr>
          <a:xfrm>
            <a:off x="9049661" y="6030941"/>
            <a:ext cx="876425"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Marg</a:t>
            </a:r>
          </a:p>
        </p:txBody>
      </p:sp>
      <p:cxnSp>
        <p:nvCxnSpPr>
          <p:cNvPr id="91" name="Straight Connector 90">
            <a:extLst>
              <a:ext uri="{FF2B5EF4-FFF2-40B4-BE49-F238E27FC236}">
                <a16:creationId xmlns:a16="http://schemas.microsoft.com/office/drawing/2014/main" id="{21556701-5CBA-6670-EA80-DB60981FB7B9}"/>
              </a:ext>
            </a:extLst>
          </p:cNvPr>
          <p:cNvCxnSpPr>
            <a:cxnSpLocks/>
          </p:cNvCxnSpPr>
          <p:nvPr/>
        </p:nvCxnSpPr>
        <p:spPr>
          <a:xfrm>
            <a:off x="6096000" y="4659240"/>
            <a:ext cx="5762625" cy="0"/>
          </a:xfrm>
          <a:prstGeom prst="line">
            <a:avLst/>
          </a:prstGeom>
          <a:ln w="12700">
            <a:solidFill>
              <a:srgbClr val="0B76A0">
                <a:alpha val="49020"/>
              </a:srgbClr>
            </a:solidFill>
            <a:prstDash val="dashDot"/>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1830787B-25F7-8610-E465-65A086EAF6B6}"/>
              </a:ext>
            </a:extLst>
          </p:cNvPr>
          <p:cNvSpPr txBox="1"/>
          <p:nvPr/>
        </p:nvSpPr>
        <p:spPr>
          <a:xfrm>
            <a:off x="9945698" y="4752691"/>
            <a:ext cx="1617651" cy="338554"/>
          </a:xfrm>
          <a:prstGeom prst="rect">
            <a:avLst/>
          </a:prstGeom>
          <a:noFill/>
        </p:spPr>
        <p:txBody>
          <a:bodyPr wrap="square" rtlCol="0">
            <a:spAutoFit/>
          </a:bodyPr>
          <a:lstStyle/>
          <a:p>
            <a:r>
              <a:rPr lang="es-MX" sz="1600" i="1" spc="-30" dirty="0">
                <a:solidFill>
                  <a:schemeClr val="accent4">
                    <a:lumMod val="75000"/>
                  </a:schemeClr>
                </a:solidFill>
                <a:latin typeface="Arial" panose="020B0604020202020204" pitchFamily="34" charset="0"/>
                <a:cs typeface="Arial" panose="020B0604020202020204" pitchFamily="34" charset="0"/>
              </a:rPr>
              <a:t>Otras Aperturas</a:t>
            </a:r>
          </a:p>
        </p:txBody>
      </p:sp>
      <p:cxnSp>
        <p:nvCxnSpPr>
          <p:cNvPr id="98" name="Straight Connector 97">
            <a:extLst>
              <a:ext uri="{FF2B5EF4-FFF2-40B4-BE49-F238E27FC236}">
                <a16:creationId xmlns:a16="http://schemas.microsoft.com/office/drawing/2014/main" id="{71324BBC-8725-3A66-2273-A24852D94E42}"/>
              </a:ext>
            </a:extLst>
          </p:cNvPr>
          <p:cNvCxnSpPr>
            <a:cxnSpLocks/>
          </p:cNvCxnSpPr>
          <p:nvPr/>
        </p:nvCxnSpPr>
        <p:spPr>
          <a:xfrm>
            <a:off x="10091969" y="6280592"/>
            <a:ext cx="0" cy="861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8F96BF66-1E3D-F695-40D1-92FF0B565BBA}"/>
              </a:ext>
            </a:extLst>
          </p:cNvPr>
          <p:cNvCxnSpPr>
            <a:cxnSpLocks/>
          </p:cNvCxnSpPr>
          <p:nvPr/>
        </p:nvCxnSpPr>
        <p:spPr>
          <a:xfrm>
            <a:off x="10425344" y="6280592"/>
            <a:ext cx="0" cy="861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6F385B4E-34DA-2D61-F1B7-5A5B1254FDC5}"/>
              </a:ext>
            </a:extLst>
          </p:cNvPr>
          <p:cNvCxnSpPr>
            <a:cxnSpLocks/>
          </p:cNvCxnSpPr>
          <p:nvPr/>
        </p:nvCxnSpPr>
        <p:spPr>
          <a:xfrm>
            <a:off x="10761101" y="6280592"/>
            <a:ext cx="0" cy="861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99DA69D8-A0F6-7148-F022-D564378DB6C0}"/>
              </a:ext>
            </a:extLst>
          </p:cNvPr>
          <p:cNvCxnSpPr>
            <a:cxnSpLocks/>
          </p:cNvCxnSpPr>
          <p:nvPr/>
        </p:nvCxnSpPr>
        <p:spPr>
          <a:xfrm>
            <a:off x="11080189" y="6280592"/>
            <a:ext cx="0" cy="861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559FC602-03E4-6E9C-E348-7CEDD47B465C}"/>
              </a:ext>
            </a:extLst>
          </p:cNvPr>
          <p:cNvCxnSpPr>
            <a:cxnSpLocks/>
          </p:cNvCxnSpPr>
          <p:nvPr/>
        </p:nvCxnSpPr>
        <p:spPr>
          <a:xfrm>
            <a:off x="11415945" y="6280592"/>
            <a:ext cx="0" cy="861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29B3250D-1C3E-99FF-C964-F7FBC93A4064}"/>
              </a:ext>
            </a:extLst>
          </p:cNvPr>
          <p:cNvCxnSpPr>
            <a:cxnSpLocks/>
          </p:cNvCxnSpPr>
          <p:nvPr/>
        </p:nvCxnSpPr>
        <p:spPr>
          <a:xfrm flipH="1">
            <a:off x="9867450" y="5971299"/>
            <a:ext cx="902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9553B46-DBC1-DCF8-CC75-8BF61531B2B8}"/>
              </a:ext>
            </a:extLst>
          </p:cNvPr>
          <p:cNvCxnSpPr>
            <a:cxnSpLocks/>
          </p:cNvCxnSpPr>
          <p:nvPr/>
        </p:nvCxnSpPr>
        <p:spPr>
          <a:xfrm flipH="1">
            <a:off x="9873248" y="6188778"/>
            <a:ext cx="902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D224B5A2-9A4C-A2E2-5B0C-85B8E687074A}"/>
              </a:ext>
            </a:extLst>
          </p:cNvPr>
          <p:cNvCxnSpPr>
            <a:cxnSpLocks/>
          </p:cNvCxnSpPr>
          <p:nvPr/>
        </p:nvCxnSpPr>
        <p:spPr>
          <a:xfrm flipH="1">
            <a:off x="9867450" y="5754408"/>
            <a:ext cx="902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72B037A-57C5-2BD2-1438-479E7412D384}"/>
              </a:ext>
            </a:extLst>
          </p:cNvPr>
          <p:cNvCxnSpPr>
            <a:cxnSpLocks/>
          </p:cNvCxnSpPr>
          <p:nvPr/>
        </p:nvCxnSpPr>
        <p:spPr>
          <a:xfrm flipH="1">
            <a:off x="9867450" y="5531920"/>
            <a:ext cx="902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3E0FA26-93DF-C8CD-8BB4-BE94D45A85B7}"/>
              </a:ext>
            </a:extLst>
          </p:cNvPr>
          <p:cNvCxnSpPr>
            <a:cxnSpLocks/>
          </p:cNvCxnSpPr>
          <p:nvPr/>
        </p:nvCxnSpPr>
        <p:spPr>
          <a:xfrm flipH="1">
            <a:off x="9870867" y="5327132"/>
            <a:ext cx="9025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06BED39-D4C3-CB1C-DDE5-CEF45940B6D8}"/>
              </a:ext>
            </a:extLst>
          </p:cNvPr>
          <p:cNvCxnSpPr>
            <a:cxnSpLocks/>
          </p:cNvCxnSpPr>
          <p:nvPr/>
        </p:nvCxnSpPr>
        <p:spPr>
          <a:xfrm>
            <a:off x="6096000" y="1773589"/>
            <a:ext cx="0" cy="2883106"/>
          </a:xfrm>
          <a:prstGeom prst="line">
            <a:avLst/>
          </a:prstGeom>
          <a:ln w="9525">
            <a:solidFill>
              <a:srgbClr val="0B76A0">
                <a:alpha val="49020"/>
              </a:srgbClr>
            </a:solidFill>
            <a:prstDash val="dashDot"/>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B9350133-51AB-940B-219C-577218985A0C}"/>
              </a:ext>
            </a:extLst>
          </p:cNvPr>
          <p:cNvSpPr txBox="1"/>
          <p:nvPr/>
        </p:nvSpPr>
        <p:spPr>
          <a:xfrm>
            <a:off x="7526714" y="1679473"/>
            <a:ext cx="2995844" cy="369332"/>
          </a:xfrm>
          <a:prstGeom prst="rect">
            <a:avLst/>
          </a:prstGeom>
          <a:noFill/>
        </p:spPr>
        <p:txBody>
          <a:bodyPr wrap="square" rtlCol="0">
            <a:spAutoFit/>
          </a:bodyPr>
          <a:lstStyle/>
          <a:p>
            <a:pPr algn="ctr"/>
            <a:r>
              <a:rPr lang="es-MX" b="1" spc="-30" dirty="0">
                <a:solidFill>
                  <a:schemeClr val="accent4">
                    <a:lumMod val="75000"/>
                  </a:schemeClr>
                </a:solidFill>
                <a:latin typeface="Arial" panose="020B0604020202020204" pitchFamily="34" charset="0"/>
                <a:cs typeface="Arial" panose="020B0604020202020204" pitchFamily="34" charset="0"/>
              </a:rPr>
              <a:t>Mecanismos plausibles</a:t>
            </a:r>
          </a:p>
        </p:txBody>
      </p:sp>
      <p:pic>
        <p:nvPicPr>
          <p:cNvPr id="116" name="Picture 115">
            <a:extLst>
              <a:ext uri="{FF2B5EF4-FFF2-40B4-BE49-F238E27FC236}">
                <a16:creationId xmlns:a16="http://schemas.microsoft.com/office/drawing/2014/main" id="{9256C928-1C0E-8BC1-4CDF-434D18DC6ADF}"/>
              </a:ext>
            </a:extLst>
          </p:cNvPr>
          <p:cNvPicPr>
            <a:picLocks noChangeAspect="1"/>
          </p:cNvPicPr>
          <p:nvPr/>
        </p:nvPicPr>
        <p:blipFill>
          <a:blip r:embed="rId6"/>
          <a:srcRect l="14824" r="5157"/>
          <a:stretch>
            <a:fillRect/>
          </a:stretch>
        </p:blipFill>
        <p:spPr>
          <a:xfrm>
            <a:off x="7581900" y="2042746"/>
            <a:ext cx="3998216" cy="2470390"/>
          </a:xfrm>
          <a:prstGeom prst="rect">
            <a:avLst/>
          </a:prstGeom>
        </p:spPr>
      </p:pic>
      <p:sp>
        <p:nvSpPr>
          <p:cNvPr id="118" name="TextBox 117">
            <a:extLst>
              <a:ext uri="{FF2B5EF4-FFF2-40B4-BE49-F238E27FC236}">
                <a16:creationId xmlns:a16="http://schemas.microsoft.com/office/drawing/2014/main" id="{1D956931-3C84-781D-561C-383048C7F580}"/>
              </a:ext>
            </a:extLst>
          </p:cNvPr>
          <p:cNvSpPr txBox="1"/>
          <p:nvPr/>
        </p:nvSpPr>
        <p:spPr>
          <a:xfrm>
            <a:off x="7622721" y="4279856"/>
            <a:ext cx="4164699" cy="307777"/>
          </a:xfrm>
          <a:prstGeom prst="rect">
            <a:avLst/>
          </a:prstGeom>
          <a:solidFill>
            <a:schemeClr val="bg1"/>
          </a:solidFill>
        </p:spPr>
        <p:txBody>
          <a:bodyPr wrap="square" rtlCol="0">
            <a:spAutoFit/>
          </a:bodyPr>
          <a:lstStyle/>
          <a:p>
            <a:r>
              <a:rPr lang="es-MX" sz="1400" spc="-30" dirty="0">
                <a:latin typeface="Arial" panose="020B0604020202020204" pitchFamily="34" charset="0"/>
                <a:cs typeface="Arial" panose="020B0604020202020204" pitchFamily="34" charset="0"/>
              </a:rPr>
              <a:t>-0.1               0              0.1             0.2              0.3  </a:t>
            </a:r>
          </a:p>
        </p:txBody>
      </p:sp>
      <p:sp>
        <p:nvSpPr>
          <p:cNvPr id="120" name="TextBox 119">
            <a:extLst>
              <a:ext uri="{FF2B5EF4-FFF2-40B4-BE49-F238E27FC236}">
                <a16:creationId xmlns:a16="http://schemas.microsoft.com/office/drawing/2014/main" id="{D3F60945-CF50-23FE-B1E7-6278F9115811}"/>
              </a:ext>
            </a:extLst>
          </p:cNvPr>
          <p:cNvSpPr txBox="1"/>
          <p:nvPr/>
        </p:nvSpPr>
        <p:spPr>
          <a:xfrm>
            <a:off x="6426698" y="2019738"/>
            <a:ext cx="1131103"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Consultas</a:t>
            </a:r>
          </a:p>
        </p:txBody>
      </p:sp>
      <p:sp>
        <p:nvSpPr>
          <p:cNvPr id="122" name="TextBox 121">
            <a:extLst>
              <a:ext uri="{FF2B5EF4-FFF2-40B4-BE49-F238E27FC236}">
                <a16:creationId xmlns:a16="http://schemas.microsoft.com/office/drawing/2014/main" id="{A40FDEE0-4D16-6802-2A7A-903EF5AEEDDF}"/>
              </a:ext>
            </a:extLst>
          </p:cNvPr>
          <p:cNvSpPr txBox="1"/>
          <p:nvPr/>
        </p:nvSpPr>
        <p:spPr>
          <a:xfrm>
            <a:off x="6427286" y="2262670"/>
            <a:ext cx="1221872"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1er Trimestre</a:t>
            </a:r>
          </a:p>
        </p:txBody>
      </p:sp>
      <p:sp>
        <p:nvSpPr>
          <p:cNvPr id="124" name="TextBox 123">
            <a:extLst>
              <a:ext uri="{FF2B5EF4-FFF2-40B4-BE49-F238E27FC236}">
                <a16:creationId xmlns:a16="http://schemas.microsoft.com/office/drawing/2014/main" id="{F58EEAFB-7F25-BB84-80B5-A5F789B5DB2E}"/>
              </a:ext>
            </a:extLst>
          </p:cNvPr>
          <p:cNvSpPr txBox="1"/>
          <p:nvPr/>
        </p:nvSpPr>
        <p:spPr>
          <a:xfrm>
            <a:off x="6436226" y="2482241"/>
            <a:ext cx="1221872"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Gestación</a:t>
            </a:r>
            <a:r>
              <a:rPr lang="es-MX" sz="1400" i="1" spc="-30" baseline="30000" dirty="0">
                <a:solidFill>
                  <a:schemeClr val="bg2">
                    <a:lumMod val="50000"/>
                  </a:schemeClr>
                </a:solidFill>
                <a:latin typeface="Arial" panose="020B0604020202020204" pitchFamily="34" charset="0"/>
                <a:cs typeface="Arial" panose="020B0604020202020204" pitchFamily="34" charset="0"/>
              </a:rPr>
              <a:t>†</a:t>
            </a:r>
          </a:p>
        </p:txBody>
      </p:sp>
      <p:sp>
        <p:nvSpPr>
          <p:cNvPr id="126" name="TextBox 125">
            <a:extLst>
              <a:ext uri="{FF2B5EF4-FFF2-40B4-BE49-F238E27FC236}">
                <a16:creationId xmlns:a16="http://schemas.microsoft.com/office/drawing/2014/main" id="{44EE60D4-0260-B2FC-E4E4-4EEA8EF4E638}"/>
              </a:ext>
            </a:extLst>
          </p:cNvPr>
          <p:cNvSpPr txBox="1"/>
          <p:nvPr/>
        </p:nvSpPr>
        <p:spPr>
          <a:xfrm>
            <a:off x="6460325" y="2742127"/>
            <a:ext cx="1221872"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Pretérmino</a:t>
            </a:r>
          </a:p>
        </p:txBody>
      </p:sp>
      <p:sp>
        <p:nvSpPr>
          <p:cNvPr id="128" name="TextBox 127">
            <a:extLst>
              <a:ext uri="{FF2B5EF4-FFF2-40B4-BE49-F238E27FC236}">
                <a16:creationId xmlns:a16="http://schemas.microsoft.com/office/drawing/2014/main" id="{0A1B3421-8B16-E839-7B77-55C18AEADE9F}"/>
              </a:ext>
            </a:extLst>
          </p:cNvPr>
          <p:cNvSpPr txBox="1"/>
          <p:nvPr/>
        </p:nvSpPr>
        <p:spPr>
          <a:xfrm>
            <a:off x="6460325" y="2966096"/>
            <a:ext cx="1221872"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Municipio</a:t>
            </a:r>
            <a:r>
              <a:rPr lang="es-MX" sz="1400" i="1" spc="-30" baseline="30000" dirty="0">
                <a:solidFill>
                  <a:schemeClr val="bg2">
                    <a:lumMod val="50000"/>
                  </a:schemeClr>
                </a:solidFill>
                <a:latin typeface="Arial" panose="020B0604020202020204" pitchFamily="34" charset="0"/>
                <a:cs typeface="Arial" panose="020B0604020202020204" pitchFamily="34" charset="0"/>
              </a:rPr>
              <a:t> †</a:t>
            </a:r>
            <a:endParaRPr lang="es-MX" sz="1400" i="1" spc="-30" dirty="0">
              <a:solidFill>
                <a:schemeClr val="bg2">
                  <a:lumMod val="50000"/>
                </a:schemeClr>
              </a:solidFill>
              <a:latin typeface="Arial" panose="020B0604020202020204" pitchFamily="34" charset="0"/>
              <a:cs typeface="Arial" panose="020B0604020202020204" pitchFamily="34" charset="0"/>
            </a:endParaRPr>
          </a:p>
        </p:txBody>
      </p:sp>
      <p:sp>
        <p:nvSpPr>
          <p:cNvPr id="130" name="TextBox 129">
            <a:extLst>
              <a:ext uri="{FF2B5EF4-FFF2-40B4-BE49-F238E27FC236}">
                <a16:creationId xmlns:a16="http://schemas.microsoft.com/office/drawing/2014/main" id="{FC6A84AE-D982-1ED0-CD46-623F1FCDC651}"/>
              </a:ext>
            </a:extLst>
          </p:cNvPr>
          <p:cNvSpPr txBox="1"/>
          <p:nvPr/>
        </p:nvSpPr>
        <p:spPr>
          <a:xfrm>
            <a:off x="6460325" y="3205199"/>
            <a:ext cx="1221872"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Privados</a:t>
            </a:r>
            <a:r>
              <a:rPr lang="es-MX" sz="1400" i="1" spc="-30" baseline="30000" dirty="0">
                <a:solidFill>
                  <a:schemeClr val="bg2">
                    <a:lumMod val="50000"/>
                  </a:schemeClr>
                </a:solidFill>
                <a:latin typeface="Arial" panose="020B0604020202020204" pitchFamily="34" charset="0"/>
                <a:cs typeface="Arial" panose="020B0604020202020204" pitchFamily="34" charset="0"/>
              </a:rPr>
              <a:t> †</a:t>
            </a:r>
            <a:endParaRPr lang="es-MX" sz="1400" i="1" spc="-30" dirty="0">
              <a:solidFill>
                <a:schemeClr val="bg2">
                  <a:lumMod val="50000"/>
                </a:schemeClr>
              </a:solidFill>
              <a:latin typeface="Arial" panose="020B0604020202020204" pitchFamily="34" charset="0"/>
              <a:cs typeface="Arial" panose="020B0604020202020204" pitchFamily="34" charset="0"/>
            </a:endParaRPr>
          </a:p>
        </p:txBody>
      </p:sp>
      <p:sp>
        <p:nvSpPr>
          <p:cNvPr id="132" name="TextBox 131">
            <a:extLst>
              <a:ext uri="{FF2B5EF4-FFF2-40B4-BE49-F238E27FC236}">
                <a16:creationId xmlns:a16="http://schemas.microsoft.com/office/drawing/2014/main" id="{9F46477D-5DF9-6BAD-9F7F-6C9134899805}"/>
              </a:ext>
            </a:extLst>
          </p:cNvPr>
          <p:cNvSpPr txBox="1"/>
          <p:nvPr/>
        </p:nvSpPr>
        <p:spPr>
          <a:xfrm>
            <a:off x="6459273" y="3435449"/>
            <a:ext cx="1221872"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Hogar</a:t>
            </a:r>
          </a:p>
        </p:txBody>
      </p:sp>
      <p:sp>
        <p:nvSpPr>
          <p:cNvPr id="134" name="TextBox 133">
            <a:extLst>
              <a:ext uri="{FF2B5EF4-FFF2-40B4-BE49-F238E27FC236}">
                <a16:creationId xmlns:a16="http://schemas.microsoft.com/office/drawing/2014/main" id="{BC7672D1-FC91-2E55-EF67-CA51D8D9AB3B}"/>
              </a:ext>
            </a:extLst>
          </p:cNvPr>
          <p:cNvSpPr txBox="1"/>
          <p:nvPr/>
        </p:nvSpPr>
        <p:spPr>
          <a:xfrm>
            <a:off x="6459273" y="3665447"/>
            <a:ext cx="1221872"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SP</a:t>
            </a:r>
            <a:r>
              <a:rPr lang="es-MX" sz="1400" i="1" spc="-30" baseline="30000" dirty="0">
                <a:solidFill>
                  <a:schemeClr val="bg2">
                    <a:lumMod val="50000"/>
                  </a:schemeClr>
                </a:solidFill>
                <a:latin typeface="Arial" panose="020B0604020202020204" pitchFamily="34" charset="0"/>
                <a:cs typeface="Arial" panose="020B0604020202020204" pitchFamily="34" charset="0"/>
              </a:rPr>
              <a:t> †</a:t>
            </a:r>
            <a:endParaRPr lang="es-MX" sz="1400" i="1" spc="-30" dirty="0">
              <a:solidFill>
                <a:schemeClr val="bg2">
                  <a:lumMod val="50000"/>
                </a:schemeClr>
              </a:solidFill>
              <a:latin typeface="Arial" panose="020B0604020202020204" pitchFamily="34" charset="0"/>
              <a:cs typeface="Arial" panose="020B0604020202020204" pitchFamily="34" charset="0"/>
            </a:endParaRPr>
          </a:p>
        </p:txBody>
      </p:sp>
      <p:sp>
        <p:nvSpPr>
          <p:cNvPr id="136" name="TextBox 135">
            <a:extLst>
              <a:ext uri="{FF2B5EF4-FFF2-40B4-BE49-F238E27FC236}">
                <a16:creationId xmlns:a16="http://schemas.microsoft.com/office/drawing/2014/main" id="{3EF9F7D1-231C-9BFE-49EA-E5248296F26B}"/>
              </a:ext>
            </a:extLst>
          </p:cNvPr>
          <p:cNvSpPr txBox="1"/>
          <p:nvPr/>
        </p:nvSpPr>
        <p:spPr>
          <a:xfrm>
            <a:off x="6459273" y="3895697"/>
            <a:ext cx="1221872" cy="307777"/>
          </a:xfrm>
          <a:prstGeom prst="rect">
            <a:avLst/>
          </a:prstGeom>
          <a:noFill/>
        </p:spPr>
        <p:txBody>
          <a:bodyPr wrap="square" rtlCol="0">
            <a:spAutoFit/>
          </a:bodyPr>
          <a:lstStyle/>
          <a:p>
            <a:r>
              <a:rPr lang="es-MX" sz="1400" i="1" spc="-30" dirty="0">
                <a:solidFill>
                  <a:schemeClr val="bg2">
                    <a:lumMod val="50000"/>
                  </a:schemeClr>
                </a:solidFill>
                <a:latin typeface="Arial" panose="020B0604020202020204" pitchFamily="34" charset="0"/>
                <a:cs typeface="Arial" panose="020B0604020202020204" pitchFamily="34" charset="0"/>
              </a:rPr>
              <a:t>IMSS</a:t>
            </a:r>
          </a:p>
        </p:txBody>
      </p:sp>
      <p:sp>
        <p:nvSpPr>
          <p:cNvPr id="140" name="TextBox 139">
            <a:extLst>
              <a:ext uri="{FF2B5EF4-FFF2-40B4-BE49-F238E27FC236}">
                <a16:creationId xmlns:a16="http://schemas.microsoft.com/office/drawing/2014/main" id="{CBFCBA1F-4423-E7D5-1C0C-2E32E5C9DACD}"/>
              </a:ext>
            </a:extLst>
          </p:cNvPr>
          <p:cNvSpPr txBox="1"/>
          <p:nvPr/>
        </p:nvSpPr>
        <p:spPr>
          <a:xfrm>
            <a:off x="458709" y="5008569"/>
            <a:ext cx="5558942" cy="1532334"/>
          </a:xfrm>
          <a:prstGeom prst="roundRect">
            <a:avLst/>
          </a:prstGeom>
          <a:noFill/>
          <a:ln>
            <a:solidFill>
              <a:schemeClr val="accent4">
                <a:lumMod val="75000"/>
              </a:schemeClr>
            </a:solidFill>
            <a:prstDash val="dashDot"/>
          </a:ln>
        </p:spPr>
        <p:txBody>
          <a:bodyPr wrap="square" rtlCol="0">
            <a:spAutoFit/>
          </a:bodyPr>
          <a:lstStyle/>
          <a:p>
            <a:r>
              <a:rPr lang="es-MX" sz="1400" spc="-100" dirty="0">
                <a:latin typeface="Arial" panose="020B0604020202020204" pitchFamily="34" charset="0"/>
                <a:cs typeface="Arial" panose="020B0604020202020204" pitchFamily="34" charset="0"/>
              </a:rPr>
              <a:t>El resultado de APGAR es robusto en dirección y razonablemente estable en magnitud: permanece positivo en las once especificaciones al modificar controles, muestras, estimadores y ponderaciones. Las estimaciones se concentran entre 0.194 y 0.305 puntos, salvo el mayor efecto en municipios de alta marginación (0.545). Aunque varias son significativas solo al 10%, la ausencia de </a:t>
            </a:r>
            <a:r>
              <a:rPr lang="es-MX" sz="1400" spc="-100" dirty="0" err="1">
                <a:latin typeface="Arial" panose="020B0604020202020204" pitchFamily="34" charset="0"/>
                <a:cs typeface="Arial" panose="020B0604020202020204" pitchFamily="34" charset="0"/>
              </a:rPr>
              <a:t>pre-tendencias</a:t>
            </a:r>
            <a:r>
              <a:rPr lang="es-MX" sz="1400" spc="-100" dirty="0">
                <a:latin typeface="Arial" panose="020B0604020202020204" pitchFamily="34" charset="0"/>
                <a:cs typeface="Arial" panose="020B0604020202020204" pitchFamily="34" charset="0"/>
              </a:rPr>
              <a:t> (p=0.76) respalda el resultado.</a:t>
            </a:r>
          </a:p>
        </p:txBody>
      </p:sp>
      <p:sp>
        <p:nvSpPr>
          <p:cNvPr id="144" name="TextBox 143">
            <a:extLst>
              <a:ext uri="{FF2B5EF4-FFF2-40B4-BE49-F238E27FC236}">
                <a16:creationId xmlns:a16="http://schemas.microsoft.com/office/drawing/2014/main" id="{96C279A9-E7B8-4E75-7E05-C108F676D373}"/>
              </a:ext>
            </a:extLst>
          </p:cNvPr>
          <p:cNvSpPr txBox="1"/>
          <p:nvPr/>
        </p:nvSpPr>
        <p:spPr>
          <a:xfrm>
            <a:off x="390409" y="4719101"/>
            <a:ext cx="1546183" cy="338554"/>
          </a:xfrm>
          <a:prstGeom prst="rect">
            <a:avLst/>
          </a:prstGeom>
          <a:noFill/>
        </p:spPr>
        <p:txBody>
          <a:bodyPr wrap="square" rtlCol="0">
            <a:spAutoFit/>
          </a:bodyPr>
          <a:lstStyle/>
          <a:p>
            <a:r>
              <a:rPr lang="es-MX" sz="1600" i="1" spc="-30" dirty="0">
                <a:solidFill>
                  <a:schemeClr val="accent4">
                    <a:lumMod val="75000"/>
                  </a:schemeClr>
                </a:solidFill>
                <a:latin typeface="Arial" panose="020B0604020202020204" pitchFamily="34" charset="0"/>
                <a:cs typeface="Arial" panose="020B0604020202020204" pitchFamily="34" charset="0"/>
              </a:rPr>
              <a:t>Robusteces</a:t>
            </a:r>
          </a:p>
        </p:txBody>
      </p:sp>
    </p:spTree>
    <p:extLst>
      <p:ext uri="{BB962C8B-B14F-4D97-AF65-F5344CB8AC3E}">
        <p14:creationId xmlns:p14="http://schemas.microsoft.com/office/powerpoint/2010/main" val="112577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2B978-8FD6-82C7-C584-478968DEB93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447D2BA-9C8C-4870-91DA-4F4FBC2045B4}"/>
              </a:ext>
            </a:extLst>
          </p:cNvPr>
          <p:cNvSpPr/>
          <p:nvPr/>
        </p:nvSpPr>
        <p:spPr>
          <a:xfrm>
            <a:off x="-26585" y="-1"/>
            <a:ext cx="5133170" cy="6858000"/>
          </a:xfrm>
          <a:prstGeom prst="rect">
            <a:avLst/>
          </a:prstGeom>
          <a:solidFill>
            <a:srgbClr val="61CB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rgbClr val="00B0F0"/>
              </a:solidFill>
            </a:endParaRPr>
          </a:p>
        </p:txBody>
      </p:sp>
      <p:sp>
        <p:nvSpPr>
          <p:cNvPr id="3" name="TextBox 2">
            <a:extLst>
              <a:ext uri="{FF2B5EF4-FFF2-40B4-BE49-F238E27FC236}">
                <a16:creationId xmlns:a16="http://schemas.microsoft.com/office/drawing/2014/main" id="{28F98C87-0EB9-5F74-0B85-4B66A4453760}"/>
              </a:ext>
            </a:extLst>
          </p:cNvPr>
          <p:cNvSpPr txBox="1"/>
          <p:nvPr/>
        </p:nvSpPr>
        <p:spPr>
          <a:xfrm>
            <a:off x="441124" y="2705724"/>
            <a:ext cx="4819650" cy="1446550"/>
          </a:xfrm>
          <a:prstGeom prst="rect">
            <a:avLst/>
          </a:prstGeom>
          <a:noFill/>
        </p:spPr>
        <p:txBody>
          <a:bodyPr wrap="square" rtlCol="0">
            <a:spAutoFit/>
          </a:bodyPr>
          <a:lstStyle/>
          <a:p>
            <a:r>
              <a:rPr lang="es-MX" sz="4400" dirty="0">
                <a:solidFill>
                  <a:schemeClr val="bg1"/>
                </a:solidFill>
                <a:latin typeface="Arial Black" panose="020B0A04020102020204" pitchFamily="34" charset="0"/>
              </a:rPr>
              <a:t>2. Cobertura Financiera</a:t>
            </a:r>
          </a:p>
        </p:txBody>
      </p:sp>
      <p:sp>
        <p:nvSpPr>
          <p:cNvPr id="10" name="text-3-2">
            <a:extLst>
              <a:ext uri="{FF2B5EF4-FFF2-40B4-BE49-F238E27FC236}">
                <a16:creationId xmlns:a16="http://schemas.microsoft.com/office/drawing/2014/main" id="{FF237338-6A63-2738-6213-DD5579BBC5C4}"/>
              </a:ext>
            </a:extLst>
          </p:cNvPr>
          <p:cNvSpPr>
            <a:spLocks noGrp="1"/>
          </p:cNvSpPr>
          <p:nvPr/>
        </p:nvSpPr>
        <p:spPr>
          <a:xfrm>
            <a:off x="10953750" y="6362700"/>
            <a:ext cx="628650" cy="285750"/>
          </a:xfrm>
          <a:prstGeom prst="rect">
            <a:avLst/>
          </a:prstGeom>
          <a:no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lang="en-US" sz="1275" b="0" dirty="0">
                <a:solidFill>
                  <a:srgbClr val="53646B"/>
                </a:solidFill>
                <a:latin typeface="DejaVu Sans"/>
                <a:ea typeface="DejaVu Sans"/>
                <a:cs typeface="DejaVu Sans"/>
              </a:rPr>
              <a:t>8</a:t>
            </a:r>
            <a:r>
              <a:rPr sz="1275" b="0" dirty="0">
                <a:solidFill>
                  <a:srgbClr val="53646B"/>
                </a:solidFill>
                <a:latin typeface="DejaVu Sans"/>
                <a:ea typeface="DejaVu Sans"/>
                <a:cs typeface="DejaVu Sans"/>
              </a:rPr>
              <a:t> / 18</a:t>
            </a:r>
          </a:p>
        </p:txBody>
      </p:sp>
      <p:pic>
        <p:nvPicPr>
          <p:cNvPr id="4" name="Picture 3">
            <a:extLst>
              <a:ext uri="{FF2B5EF4-FFF2-40B4-BE49-F238E27FC236}">
                <a16:creationId xmlns:a16="http://schemas.microsoft.com/office/drawing/2014/main" id="{0F91DA6A-9AFA-FB88-8B5D-8E87DC24D500}"/>
              </a:ext>
            </a:extLst>
          </p:cNvPr>
          <p:cNvPicPr>
            <a:picLocks noChangeAspect="1"/>
          </p:cNvPicPr>
          <p:nvPr/>
        </p:nvPicPr>
        <p:blipFill>
          <a:blip r:embed="rId2"/>
          <a:stretch/>
        </p:blipFill>
        <p:spPr>
          <a:xfrm>
            <a:off x="5414962" y="3255863"/>
            <a:ext cx="6007100" cy="2777477"/>
          </a:xfrm>
          <a:prstGeom prst="rect">
            <a:avLst/>
          </a:prstGeom>
        </p:spPr>
      </p:pic>
      <p:sp>
        <p:nvSpPr>
          <p:cNvPr id="12" name="text-9-4">
            <a:extLst>
              <a:ext uri="{FF2B5EF4-FFF2-40B4-BE49-F238E27FC236}">
                <a16:creationId xmlns:a16="http://schemas.microsoft.com/office/drawing/2014/main" id="{9241A00D-9502-315B-D5F5-2DCFB65F62AF}"/>
              </a:ext>
            </a:extLst>
          </p:cNvPr>
          <p:cNvSpPr>
            <a:spLocks noGrp="1"/>
          </p:cNvSpPr>
          <p:nvPr/>
        </p:nvSpPr>
        <p:spPr>
          <a:xfrm>
            <a:off x="6441685" y="643310"/>
            <a:ext cx="1976827" cy="1978865"/>
          </a:xfrm>
          <a:prstGeom prst="rect">
            <a:avLst/>
          </a:prstGeom>
          <a:noFill/>
          <a:ln w="0">
            <a:noFill/>
          </a:ln>
        </p:spPr>
        <p:txBody>
          <a:bodyPr wrap="square" lIns="0" tIns="0" rIns="0" bIns="0" anchor="t">
            <a:noAutofit/>
          </a:bodyPr>
          <a:lstStyle/>
          <a:p>
            <a:pPr algn="l">
              <a:spcAft>
                <a:spcPts val="1200"/>
              </a:spcAft>
              <a:defRPr sz="1875" b="0">
                <a:solidFill>
                  <a:srgbClr val="162E37"/>
                </a:solidFill>
                <a:latin typeface="DejaVu Sans"/>
                <a:ea typeface="DejaVu Sans"/>
                <a:cs typeface="DejaVu Sans"/>
              </a:defRPr>
            </a:pPr>
            <a:r>
              <a:rPr lang="es-MX" sz="2400" b="1" noProof="0" dirty="0">
                <a:solidFill>
                  <a:srgbClr val="162E37"/>
                </a:solidFill>
                <a:latin typeface="Arial" panose="020B0604020202020204" pitchFamily="34" charset="0"/>
                <a:ea typeface="DejaVu Sans"/>
                <a:cs typeface="Arial" panose="020B0604020202020204" pitchFamily="34" charset="0"/>
              </a:rPr>
              <a:t>Gasto orientado a pacientes</a:t>
            </a:r>
          </a:p>
          <a:p>
            <a:pPr algn="l">
              <a:defRPr sz="1875" b="0">
                <a:solidFill>
                  <a:srgbClr val="162E37"/>
                </a:solidFill>
                <a:latin typeface="DejaVu Sans"/>
                <a:ea typeface="DejaVu Sans"/>
                <a:cs typeface="DejaVu Sans"/>
              </a:defRPr>
            </a:pPr>
            <a:r>
              <a:rPr lang="es-MX" dirty="0">
                <a:solidFill>
                  <a:srgbClr val="162E37"/>
                </a:solidFill>
                <a:latin typeface="Arial" panose="020B0604020202020204" pitchFamily="34" charset="0"/>
                <a:ea typeface="DejaVu Sans"/>
                <a:cs typeface="Arial" panose="020B0604020202020204" pitchFamily="34" charset="0"/>
              </a:rPr>
              <a:t>De 2015-2017 a 2020-2022</a:t>
            </a:r>
            <a:endParaRPr lang="es-MX" noProof="0" dirty="0">
              <a:solidFill>
                <a:srgbClr val="162E37"/>
              </a:solidFill>
              <a:latin typeface="Arial" panose="020B0604020202020204" pitchFamily="34" charset="0"/>
              <a:ea typeface="DejaVu Sans"/>
              <a:cs typeface="Arial" panose="020B0604020202020204" pitchFamily="34" charset="0"/>
            </a:endParaRPr>
          </a:p>
        </p:txBody>
      </p:sp>
      <p:sp>
        <p:nvSpPr>
          <p:cNvPr id="16" name="TextBox 15">
            <a:extLst>
              <a:ext uri="{FF2B5EF4-FFF2-40B4-BE49-F238E27FC236}">
                <a16:creationId xmlns:a16="http://schemas.microsoft.com/office/drawing/2014/main" id="{2D1854BC-4F49-86C2-9786-6BA70E0546D2}"/>
              </a:ext>
            </a:extLst>
          </p:cNvPr>
          <p:cNvSpPr txBox="1"/>
          <p:nvPr/>
        </p:nvSpPr>
        <p:spPr>
          <a:xfrm>
            <a:off x="8616750" y="1157491"/>
            <a:ext cx="2965650" cy="830997"/>
          </a:xfrm>
          <a:prstGeom prst="rect">
            <a:avLst/>
          </a:prstGeom>
          <a:noFill/>
        </p:spPr>
        <p:txBody>
          <a:bodyPr wrap="square" rtlCol="0">
            <a:spAutoFit/>
          </a:bodyPr>
          <a:lstStyle/>
          <a:p>
            <a:r>
              <a:rPr lang="es-MX" sz="4800" b="1" dirty="0">
                <a:solidFill>
                  <a:srgbClr val="C00000"/>
                </a:solidFill>
                <a:latin typeface="DejaVu Sans"/>
                <a:ea typeface="DejaVu Sans"/>
                <a:cs typeface="DejaVu Sans"/>
              </a:rPr>
              <a:t>−</a:t>
            </a:r>
            <a:r>
              <a:rPr lang="es-MX" sz="4800" b="1" dirty="0">
                <a:solidFill>
                  <a:srgbClr val="C00000"/>
                </a:solidFill>
                <a:latin typeface="Arial" panose="020B0604020202020204" pitchFamily="34" charset="0"/>
                <a:cs typeface="Arial" panose="020B0604020202020204" pitchFamily="34" charset="0"/>
              </a:rPr>
              <a:t>24.5%</a:t>
            </a:r>
          </a:p>
        </p:txBody>
      </p:sp>
    </p:spTree>
    <p:extLst>
      <p:ext uri="{BB962C8B-B14F-4D97-AF65-F5344CB8AC3E}">
        <p14:creationId xmlns:p14="http://schemas.microsoft.com/office/powerpoint/2010/main" val="3565014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E31FD1-5F5A-F172-0FA8-7F1BD17F1C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2975034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A1431A1-B5A1-48E4-F434-7CD08739BA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3" y="0"/>
            <a:ext cx="12178234" cy="6858000"/>
          </a:xfrm>
          <a:prstGeom prst="rect">
            <a:avLst/>
          </a:prstGeom>
        </p:spPr>
      </p:pic>
      <p:sp>
        <p:nvSpPr>
          <p:cNvPr id="10" name="Rectangle 9">
            <a:extLst>
              <a:ext uri="{FF2B5EF4-FFF2-40B4-BE49-F238E27FC236}">
                <a16:creationId xmlns:a16="http://schemas.microsoft.com/office/drawing/2014/main" id="{645CAE83-A21F-C535-A392-EEE6E9399224}"/>
              </a:ext>
            </a:extLst>
          </p:cNvPr>
          <p:cNvSpPr/>
          <p:nvPr/>
        </p:nvSpPr>
        <p:spPr>
          <a:xfrm>
            <a:off x="1847850" y="4838700"/>
            <a:ext cx="5467350" cy="3238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2" name="Picture 11">
            <a:extLst>
              <a:ext uri="{FF2B5EF4-FFF2-40B4-BE49-F238E27FC236}">
                <a16:creationId xmlns:a16="http://schemas.microsoft.com/office/drawing/2014/main" id="{B720BB25-2AD1-3304-7B64-2F25536903E0}"/>
              </a:ext>
            </a:extLst>
          </p:cNvPr>
          <p:cNvPicPr>
            <a:picLocks noChangeAspect="1"/>
          </p:cNvPicPr>
          <p:nvPr/>
        </p:nvPicPr>
        <p:blipFill>
          <a:blip r:embed="rId3"/>
          <a:stretch>
            <a:fillRect/>
          </a:stretch>
        </p:blipFill>
        <p:spPr>
          <a:xfrm>
            <a:off x="647392" y="4558403"/>
            <a:ext cx="4057806" cy="559697"/>
          </a:xfrm>
          <a:prstGeom prst="rect">
            <a:avLst/>
          </a:prstGeom>
        </p:spPr>
      </p:pic>
      <p:sp>
        <p:nvSpPr>
          <p:cNvPr id="13" name="Rectangle 12">
            <a:extLst>
              <a:ext uri="{FF2B5EF4-FFF2-40B4-BE49-F238E27FC236}">
                <a16:creationId xmlns:a16="http://schemas.microsoft.com/office/drawing/2014/main" id="{DCE06AF0-DEF7-C8A5-61F9-10DDD94CCB1F}"/>
              </a:ext>
            </a:extLst>
          </p:cNvPr>
          <p:cNvSpPr/>
          <p:nvPr/>
        </p:nvSpPr>
        <p:spPr>
          <a:xfrm>
            <a:off x="612775" y="4432300"/>
            <a:ext cx="279400" cy="238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angle 13">
            <a:extLst>
              <a:ext uri="{FF2B5EF4-FFF2-40B4-BE49-F238E27FC236}">
                <a16:creationId xmlns:a16="http://schemas.microsoft.com/office/drawing/2014/main" id="{1CB724E4-D8DE-5E1F-44A3-CFFB6949828D}"/>
              </a:ext>
            </a:extLst>
          </p:cNvPr>
          <p:cNvSpPr/>
          <p:nvPr/>
        </p:nvSpPr>
        <p:spPr>
          <a:xfrm>
            <a:off x="444500" y="1841500"/>
            <a:ext cx="4394200" cy="6985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Rectangle 19">
            <a:extLst>
              <a:ext uri="{FF2B5EF4-FFF2-40B4-BE49-F238E27FC236}">
                <a16:creationId xmlns:a16="http://schemas.microsoft.com/office/drawing/2014/main" id="{910E213E-4AC3-5A6E-2C4F-8DB6224CAD78}"/>
              </a:ext>
            </a:extLst>
          </p:cNvPr>
          <p:cNvSpPr/>
          <p:nvPr/>
        </p:nvSpPr>
        <p:spPr>
          <a:xfrm>
            <a:off x="200025" y="2124075"/>
            <a:ext cx="8267700" cy="31337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9" name="Picture 18">
            <a:extLst>
              <a:ext uri="{FF2B5EF4-FFF2-40B4-BE49-F238E27FC236}">
                <a16:creationId xmlns:a16="http://schemas.microsoft.com/office/drawing/2014/main" id="{1A0FC5E1-886F-CFC9-A39E-9A5A1EBB6CA4}"/>
              </a:ext>
            </a:extLst>
          </p:cNvPr>
          <p:cNvPicPr>
            <a:picLocks noChangeAspect="1"/>
          </p:cNvPicPr>
          <p:nvPr/>
        </p:nvPicPr>
        <p:blipFill>
          <a:blip r:embed="rId4"/>
          <a:stretch>
            <a:fillRect/>
          </a:stretch>
        </p:blipFill>
        <p:spPr>
          <a:xfrm>
            <a:off x="93133" y="1912833"/>
            <a:ext cx="8107892" cy="3003759"/>
          </a:xfrm>
          <a:prstGeom prst="rect">
            <a:avLst/>
          </a:prstGeom>
        </p:spPr>
      </p:pic>
      <p:sp>
        <p:nvSpPr>
          <p:cNvPr id="21" name="Rectangle 20">
            <a:extLst>
              <a:ext uri="{FF2B5EF4-FFF2-40B4-BE49-F238E27FC236}">
                <a16:creationId xmlns:a16="http://schemas.microsoft.com/office/drawing/2014/main" id="{37C6A9A1-F856-E67E-37D8-8B6A78F19C6E}"/>
              </a:ext>
            </a:extLst>
          </p:cNvPr>
          <p:cNvSpPr/>
          <p:nvPr/>
        </p:nvSpPr>
        <p:spPr>
          <a:xfrm>
            <a:off x="93133" y="2257425"/>
            <a:ext cx="621242" cy="20994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73583C1B-BBA9-042B-E62A-41FD8393460D}"/>
                  </a:ext>
                </a:extLst>
              </p:cNvPr>
              <p:cNvSpPr txBox="1"/>
              <p:nvPr/>
            </p:nvSpPr>
            <p:spPr>
              <a:xfrm>
                <a:off x="7902042" y="2257425"/>
                <a:ext cx="5063059" cy="1301382"/>
              </a:xfrm>
              <a:prstGeom prst="rect">
                <a:avLst/>
              </a:prstGeom>
              <a:noFill/>
            </p:spPr>
            <p:txBody>
              <a:bodyPr wrap="square">
                <a:spAutoFit/>
              </a:bodyPr>
              <a:lstStyle/>
              <a:p>
                <a:pPr/>
                <a14:m>
                  <m:oMathPara xmlns:m="http://schemas.openxmlformats.org/officeDocument/2006/math">
                    <m:oMath>
                      <m:eqArr>
                        <m:eqArrPr>
                          <m:ctrlPr>
                            <a:rPr lang="es-MX" i="1" smtClean="0">
                              <a:latin typeface="Cambria Math" panose="02040503050406030204" pitchFamily="18" charset="0"/>
                            </a:rPr>
                          </m:ctrlPr>
                        </m:eqArrPr>
                        <m:e>
                          <m:eqArr>
                            <m:eqArrPr>
                              <m:ctrlPr>
                                <a:rPr lang="es-MX" i="1">
                                  <a:latin typeface="Cambria Math" panose="02040503050406030204" pitchFamily="18" charset="0"/>
                                </a:rPr>
                              </m:ctrlPr>
                            </m:eqArrPr>
                            <m:e>
                              <m:sSub>
                                <m:sSubPr>
                                  <m:ctrlPr>
                                    <a:rPr lang="es-MX">
                                      <a:latin typeface="Cambria Math" panose="02040503050406030204" pitchFamily="18" charset="0"/>
                                    </a:rPr>
                                  </m:ctrlPr>
                                </m:sSubPr>
                                <m:e>
                                  <m:r>
                                    <m:rPr>
                                      <m:sty m:val="p"/>
                                    </m:rPr>
                                    <a:rPr lang="es-MX">
                                      <a:latin typeface="Cambria Math" panose="02040503050406030204" pitchFamily="18" charset="0"/>
                                    </a:rPr>
                                    <m:t>y</m:t>
                                  </m:r>
                                </m:e>
                                <m:sub>
                                  <m:r>
                                    <m:rPr>
                                      <m:sty m:val="p"/>
                                    </m:rPr>
                                    <a:rPr lang="es-MX" i="0">
                                      <a:latin typeface="Cambria Math" panose="02040503050406030204" pitchFamily="18" charset="0"/>
                                    </a:rPr>
                                    <m:t>imsqt</m:t>
                                  </m:r>
                                </m:sub>
                              </m:sSub>
                              <m:r>
                                <a:rPr lang="es-MX" i="0">
                                  <a:latin typeface="Cambria Math" panose="02040503050406030204" pitchFamily="18" charset="0"/>
                                </a:rPr>
                                <m:t> = </m:t>
                              </m:r>
                              <m:sSub>
                                <m:sSubPr>
                                  <m:ctrlPr>
                                    <a:rPr lang="es-MX" i="0">
                                      <a:latin typeface="Cambria Math" panose="02040503050406030204" pitchFamily="18" charset="0"/>
                                    </a:rPr>
                                  </m:ctrlPr>
                                </m:sSubPr>
                                <m:e>
                                  <m:r>
                                    <m:rPr>
                                      <m:sty m:val="p"/>
                                    </m:rPr>
                                    <a:rPr lang="es-MX" i="0">
                                      <a:latin typeface="Cambria Math" panose="02040503050406030204" pitchFamily="18" charset="0"/>
                                    </a:rPr>
                                    <m:t>δSP</m:t>
                                  </m:r>
                                </m:e>
                                <m:sub>
                                  <m:r>
                                    <m:rPr>
                                      <m:sty m:val="p"/>
                                    </m:rPr>
                                    <a:rPr lang="es-MX" i="0">
                                      <a:latin typeface="Cambria Math" panose="02040503050406030204" pitchFamily="18" charset="0"/>
                                    </a:rPr>
                                    <m:t>ms</m:t>
                                  </m:r>
                                </m:sub>
                              </m:sSub>
                              <m:r>
                                <a:rPr lang="es-MX" i="0">
                                  <a:latin typeface="Cambria Math" panose="02040503050406030204" pitchFamily="18" charset="0"/>
                                </a:rPr>
                                <m:t> · </m:t>
                              </m:r>
                              <m:sSub>
                                <m:sSubPr>
                                  <m:ctrlPr>
                                    <a:rPr lang="es-MX" i="0">
                                      <a:latin typeface="Cambria Math" panose="02040503050406030204" pitchFamily="18" charset="0"/>
                                    </a:rPr>
                                  </m:ctrlPr>
                                </m:sSubPr>
                                <m:e>
                                  <m:r>
                                    <a:rPr lang="es-MX" i="0">
                                      <a:latin typeface="Cambria Math" panose="02040503050406030204" pitchFamily="18" charset="0"/>
                                    </a:rPr>
                                    <m:t>1</m:t>
                                  </m:r>
                                </m:e>
                                <m:sub>
                                  <m:r>
                                    <a:rPr lang="es-MX" i="0">
                                      <a:latin typeface="Cambria Math" panose="02040503050406030204" pitchFamily="18" charset="0"/>
                                    </a:rPr>
                                    <m:t>[</m:t>
                                  </m:r>
                                  <m:r>
                                    <m:rPr>
                                      <m:sty m:val="p"/>
                                    </m:rPr>
                                    <a:rPr lang="es-MX" i="0">
                                      <a:latin typeface="Cambria Math" panose="02040503050406030204" pitchFamily="18" charset="0"/>
                                    </a:rPr>
                                    <m:t>t</m:t>
                                  </m:r>
                                  <m:r>
                                    <a:rPr lang="es-MX" i="0">
                                      <a:latin typeface="Cambria Math" panose="02040503050406030204" pitchFamily="18" charset="0"/>
                                    </a:rPr>
                                    <m:t>=2019]</m:t>
                                  </m:r>
                                </m:sub>
                              </m:sSub>
                              <m:r>
                                <a:rPr lang="es-MX" i="0">
                                  <a:latin typeface="Cambria Math" panose="02040503050406030204" pitchFamily="18" charset="0"/>
                                </a:rPr>
                                <m:t> + </m:t>
                              </m:r>
                            </m:e>
                            <m:e>
                              <m:sSub>
                                <m:sSubPr>
                                  <m:ctrlPr>
                                    <a:rPr lang="es-MX" i="0">
                                      <a:latin typeface="Cambria Math" panose="02040503050406030204" pitchFamily="18" charset="0"/>
                                    </a:rPr>
                                  </m:ctrlPr>
                                </m:sSubPr>
                                <m:e>
                                  <m:r>
                                    <m:rPr>
                                      <m:sty m:val="p"/>
                                    </m:rPr>
                                    <a:rPr lang="es-MX" i="0">
                                      <a:latin typeface="Cambria Math" panose="02040503050406030204" pitchFamily="18" charset="0"/>
                                    </a:rPr>
                                    <m:t>φSP</m:t>
                                  </m:r>
                                </m:e>
                                <m:sub>
                                  <m:r>
                                    <m:rPr>
                                      <m:sty m:val="p"/>
                                    </m:rPr>
                                    <a:rPr lang="es-MX" i="0">
                                      <a:latin typeface="Cambria Math" panose="02040503050406030204" pitchFamily="18" charset="0"/>
                                    </a:rPr>
                                    <m:t>ms</m:t>
                                  </m:r>
                                </m:sub>
                              </m:sSub>
                              <m:r>
                                <a:rPr lang="es-MX" i="0">
                                  <a:latin typeface="Cambria Math" panose="02040503050406030204" pitchFamily="18" charset="0"/>
                                </a:rPr>
                                <m:t> · </m:t>
                              </m:r>
                              <m:sSub>
                                <m:sSubPr>
                                  <m:ctrlPr>
                                    <a:rPr lang="es-MX" i="0">
                                      <a:latin typeface="Cambria Math" panose="02040503050406030204" pitchFamily="18" charset="0"/>
                                    </a:rPr>
                                  </m:ctrlPr>
                                </m:sSubPr>
                                <m:e>
                                  <m:r>
                                    <a:rPr lang="es-MX" i="0">
                                      <a:latin typeface="Cambria Math" panose="02040503050406030204" pitchFamily="18" charset="0"/>
                                    </a:rPr>
                                    <m:t>1</m:t>
                                  </m:r>
                                </m:e>
                                <m:sub>
                                  <m:r>
                                    <a:rPr lang="es-MX" i="0">
                                      <a:latin typeface="Cambria Math" panose="02040503050406030204" pitchFamily="18" charset="0"/>
                                    </a:rPr>
                                    <m:t>[</m:t>
                                  </m:r>
                                  <m:r>
                                    <m:rPr>
                                      <m:sty m:val="p"/>
                                    </m:rPr>
                                    <a:rPr lang="es-MX" i="0">
                                      <a:latin typeface="Cambria Math" panose="02040503050406030204" pitchFamily="18" charset="0"/>
                                    </a:rPr>
                                    <m:t>t</m:t>
                                  </m:r>
                                  <m:r>
                                    <a:rPr lang="es-MX" i="0">
                                      <a:latin typeface="Cambria Math" panose="02040503050406030204" pitchFamily="18" charset="0"/>
                                    </a:rPr>
                                    <m:t>=2020]</m:t>
                                  </m:r>
                                </m:sub>
                              </m:sSub>
                              <m:r>
                                <a:rPr lang="es-MX" i="0">
                                  <a:latin typeface="Cambria Math" panose="02040503050406030204" pitchFamily="18" charset="0"/>
                                </a:rPr>
                                <m:t> +</m:t>
                              </m:r>
                            </m:e>
                          </m:eqArr>
                        </m:e>
                        <m:e>
                          <m:sSub>
                            <m:sSubPr>
                              <m:ctrlPr>
                                <a:rPr lang="es-MX" b="1" i="0">
                                  <a:solidFill>
                                    <a:srgbClr val="00B0F0"/>
                                  </a:solidFill>
                                  <a:latin typeface="Cambria Math" panose="02040503050406030204" pitchFamily="18" charset="0"/>
                                </a:rPr>
                              </m:ctrlPr>
                            </m:sSubPr>
                            <m:e>
                              <m:r>
                                <a:rPr lang="es-MX" b="1" i="0">
                                  <a:solidFill>
                                    <a:srgbClr val="00B0F0"/>
                                  </a:solidFill>
                                  <a:latin typeface="Cambria Math" panose="02040503050406030204" pitchFamily="18" charset="0"/>
                                </a:rPr>
                                <m:t>𝛃</m:t>
                              </m:r>
                              <m:r>
                                <a:rPr lang="es-MX" b="1" i="0">
                                  <a:solidFill>
                                    <a:srgbClr val="00B0F0"/>
                                  </a:solidFill>
                                  <a:latin typeface="Cambria Math" panose="02040503050406030204" pitchFamily="18" charset="0"/>
                                </a:rPr>
                                <m:t>𝐒𝐏</m:t>
                              </m:r>
                            </m:e>
                            <m:sub>
                              <m:r>
                                <a:rPr lang="es-MX" b="1" i="0">
                                  <a:solidFill>
                                    <a:srgbClr val="00B0F0"/>
                                  </a:solidFill>
                                  <a:latin typeface="Cambria Math" panose="02040503050406030204" pitchFamily="18" charset="0"/>
                                </a:rPr>
                                <m:t>𝐦𝐬</m:t>
                              </m:r>
                            </m:sub>
                          </m:sSub>
                          <m:r>
                            <a:rPr lang="es-MX" b="1" i="0">
                              <a:solidFill>
                                <a:srgbClr val="00B0F0"/>
                              </a:solidFill>
                              <a:latin typeface="Cambria Math" panose="02040503050406030204" pitchFamily="18" charset="0"/>
                            </a:rPr>
                            <m:t> · </m:t>
                          </m:r>
                          <m:sSub>
                            <m:sSubPr>
                              <m:ctrlPr>
                                <a:rPr lang="es-MX" b="1" i="0">
                                  <a:solidFill>
                                    <a:srgbClr val="00B0F0"/>
                                  </a:solidFill>
                                  <a:latin typeface="Cambria Math" panose="02040503050406030204" pitchFamily="18" charset="0"/>
                                </a:rPr>
                              </m:ctrlPr>
                            </m:sSubPr>
                            <m:e>
                              <m:r>
                                <a:rPr lang="es-MX" b="1" i="0">
                                  <a:solidFill>
                                    <a:srgbClr val="00B0F0"/>
                                  </a:solidFill>
                                  <a:latin typeface="Cambria Math" panose="02040503050406030204" pitchFamily="18" charset="0"/>
                                </a:rPr>
                                <m:t>𝟏</m:t>
                              </m:r>
                            </m:e>
                            <m:sub>
                              <m:r>
                                <a:rPr lang="es-MX" b="1" i="0">
                                  <a:solidFill>
                                    <a:srgbClr val="00B0F0"/>
                                  </a:solidFill>
                                  <a:latin typeface="Cambria Math" panose="02040503050406030204" pitchFamily="18" charset="0"/>
                                </a:rPr>
                                <m:t>[</m:t>
                              </m:r>
                              <m:r>
                                <a:rPr lang="es-MX" b="1" i="0">
                                  <a:solidFill>
                                    <a:srgbClr val="00B0F0"/>
                                  </a:solidFill>
                                  <a:latin typeface="Cambria Math" panose="02040503050406030204" pitchFamily="18" charset="0"/>
                                </a:rPr>
                                <m:t>𝐭</m:t>
                              </m:r>
                              <m:r>
                                <a:rPr lang="es-MX" b="1" i="0">
                                  <a:solidFill>
                                    <a:srgbClr val="00B0F0"/>
                                  </a:solidFill>
                                  <a:latin typeface="Cambria Math" panose="02040503050406030204" pitchFamily="18" charset="0"/>
                                </a:rPr>
                                <m:t>≥</m:t>
                              </m:r>
                              <m:r>
                                <a:rPr lang="es-MX" b="1" i="0">
                                  <a:solidFill>
                                    <a:srgbClr val="00B0F0"/>
                                  </a:solidFill>
                                  <a:latin typeface="Cambria Math" panose="02040503050406030204" pitchFamily="18" charset="0"/>
                                </a:rPr>
                                <m:t>𝟐𝟎𝟐𝟏</m:t>
                              </m:r>
                              <m:r>
                                <a:rPr lang="es-MX" b="1" i="0">
                                  <a:solidFill>
                                    <a:srgbClr val="00B0F0"/>
                                  </a:solidFill>
                                  <a:latin typeface="Cambria Math" panose="02040503050406030204" pitchFamily="18" charset="0"/>
                                </a:rPr>
                                <m:t>]</m:t>
                              </m:r>
                            </m:sub>
                          </m:sSub>
                          <m:r>
                            <a:rPr lang="es-MX" i="0">
                              <a:latin typeface="Cambria Math" panose="02040503050406030204" pitchFamily="18" charset="0"/>
                            </a:rPr>
                            <m:t> +</m:t>
                          </m:r>
                        </m:e>
                        <m:e>
                          <m:r>
                            <a:rPr lang="es-MX" i="0">
                              <a:latin typeface="Cambria Math" panose="02040503050406030204" pitchFamily="18" charset="0"/>
                            </a:rPr>
                            <m:t> </m:t>
                          </m:r>
                          <m:sSub>
                            <m:sSubPr>
                              <m:ctrlPr>
                                <a:rPr lang="es-MX" i="0">
                                  <a:latin typeface="Cambria Math" panose="02040503050406030204" pitchFamily="18" charset="0"/>
                                </a:rPr>
                              </m:ctrlPr>
                            </m:sSubPr>
                            <m:e>
                              <m:r>
                                <m:rPr>
                                  <m:sty m:val="p"/>
                                </m:rPr>
                                <a:rPr lang="es-MX" i="0">
                                  <a:latin typeface="Cambria Math" panose="02040503050406030204" pitchFamily="18" charset="0"/>
                                </a:rPr>
                                <m:t>α</m:t>
                              </m:r>
                            </m:e>
                            <m:sub>
                              <m:r>
                                <m:rPr>
                                  <m:sty m:val="p"/>
                                </m:rPr>
                                <a:rPr lang="es-MX" i="0">
                                  <a:latin typeface="Cambria Math" panose="02040503050406030204" pitchFamily="18" charset="0"/>
                                </a:rPr>
                                <m:t>m</m:t>
                              </m:r>
                            </m:sub>
                          </m:sSub>
                          <m:r>
                            <a:rPr lang="es-MX" i="0">
                              <a:latin typeface="Cambria Math" panose="02040503050406030204" pitchFamily="18" charset="0"/>
                            </a:rPr>
                            <m:t> + </m:t>
                          </m:r>
                          <m:sSub>
                            <m:sSubPr>
                              <m:ctrlPr>
                                <a:rPr lang="es-MX" i="0">
                                  <a:latin typeface="Cambria Math" panose="02040503050406030204" pitchFamily="18" charset="0"/>
                                </a:rPr>
                              </m:ctrlPr>
                            </m:sSubPr>
                            <m:e>
                              <m:r>
                                <m:rPr>
                                  <m:sty m:val="p"/>
                                </m:rPr>
                                <a:rPr lang="es-MX" i="0">
                                  <a:latin typeface="Cambria Math" panose="02040503050406030204" pitchFamily="18" charset="0"/>
                                </a:rPr>
                                <m:t>π</m:t>
                              </m:r>
                            </m:e>
                            <m:sub>
                              <m:r>
                                <m:rPr>
                                  <m:sty m:val="p"/>
                                </m:rPr>
                                <a:rPr lang="es-MX" i="0">
                                  <a:latin typeface="Cambria Math" panose="02040503050406030204" pitchFamily="18" charset="0"/>
                                </a:rPr>
                                <m:t>sqt</m:t>
                              </m:r>
                            </m:sub>
                          </m:sSub>
                          <m:r>
                            <a:rPr lang="es-MX" i="0">
                              <a:latin typeface="Cambria Math" panose="02040503050406030204" pitchFamily="18" charset="0"/>
                            </a:rPr>
                            <m:t> + </m:t>
                          </m:r>
                          <m:sSub>
                            <m:sSubPr>
                              <m:ctrlPr>
                                <a:rPr lang="es-MX" i="0">
                                  <a:latin typeface="Cambria Math" panose="02040503050406030204" pitchFamily="18" charset="0"/>
                                </a:rPr>
                              </m:ctrlPr>
                            </m:sSubPr>
                            <m:e>
                              <m:r>
                                <m:rPr>
                                  <m:sty m:val="p"/>
                                </m:rPr>
                                <a:rPr lang="es-MX" i="0">
                                  <a:latin typeface="Cambria Math" panose="02040503050406030204" pitchFamily="18" charset="0"/>
                                </a:rPr>
                                <m:t>ε</m:t>
                              </m:r>
                            </m:e>
                            <m:sub>
                              <m:r>
                                <m:rPr>
                                  <m:sty m:val="p"/>
                                </m:rPr>
                                <a:rPr lang="es-MX" i="0">
                                  <a:latin typeface="Cambria Math" panose="02040503050406030204" pitchFamily="18" charset="0"/>
                                </a:rPr>
                                <m:t>imsqt</m:t>
                              </m:r>
                            </m:sub>
                          </m:sSub>
                        </m:e>
                      </m:eqArr>
                    </m:oMath>
                  </m:oMathPara>
                </a14:m>
                <a:endParaRPr lang="es-MX" dirty="0"/>
              </a:p>
            </p:txBody>
          </p:sp>
        </mc:Choice>
        <mc:Fallback>
          <p:sp>
            <p:nvSpPr>
              <p:cNvPr id="23" name="TextBox 22">
                <a:extLst>
                  <a:ext uri="{FF2B5EF4-FFF2-40B4-BE49-F238E27FC236}">
                    <a16:creationId xmlns:a16="http://schemas.microsoft.com/office/drawing/2014/main" id="{73583C1B-BBA9-042B-E62A-41FD8393460D}"/>
                  </a:ext>
                </a:extLst>
              </p:cNvPr>
              <p:cNvSpPr txBox="1">
                <a:spLocks noRot="1" noChangeAspect="1" noMove="1" noResize="1" noEditPoints="1" noAdjustHandles="1" noChangeArrowheads="1" noChangeShapeType="1" noTextEdit="1"/>
              </p:cNvSpPr>
              <p:nvPr/>
            </p:nvSpPr>
            <p:spPr>
              <a:xfrm>
                <a:off x="7902042" y="2257425"/>
                <a:ext cx="5063059" cy="1301382"/>
              </a:xfrm>
              <a:prstGeom prst="rect">
                <a:avLst/>
              </a:prstGeom>
              <a:blipFill>
                <a:blip r:embed="rId5"/>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090779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4EECD02-F682-6CC5-CCC0-4296743B38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311"/>
            <a:ext cx="12192000" cy="6819377"/>
          </a:xfrm>
          <a:prstGeom prst="rect">
            <a:avLst/>
          </a:prstGeom>
        </p:spPr>
      </p:pic>
    </p:spTree>
    <p:extLst>
      <p:ext uri="{BB962C8B-B14F-4D97-AF65-F5344CB8AC3E}">
        <p14:creationId xmlns:p14="http://schemas.microsoft.com/office/powerpoint/2010/main" val="2542395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34DF0-DB56-E890-57EE-0E66A735C31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F6A7FAAE-C610-9884-88FC-CD7D4F0F3ACA}"/>
              </a:ext>
            </a:extLst>
          </p:cNvPr>
          <p:cNvSpPr/>
          <p:nvPr/>
        </p:nvSpPr>
        <p:spPr>
          <a:xfrm>
            <a:off x="-26585" y="-1"/>
            <a:ext cx="5133170" cy="6858000"/>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rgbClr val="254719"/>
              </a:solidFill>
            </a:endParaRPr>
          </a:p>
        </p:txBody>
      </p:sp>
      <p:sp>
        <p:nvSpPr>
          <p:cNvPr id="3" name="TextBox 2">
            <a:extLst>
              <a:ext uri="{FF2B5EF4-FFF2-40B4-BE49-F238E27FC236}">
                <a16:creationId xmlns:a16="http://schemas.microsoft.com/office/drawing/2014/main" id="{895E6F90-18F6-1725-7C49-6AE7509B00FB}"/>
              </a:ext>
            </a:extLst>
          </p:cNvPr>
          <p:cNvSpPr txBox="1"/>
          <p:nvPr/>
        </p:nvSpPr>
        <p:spPr>
          <a:xfrm>
            <a:off x="127604" y="2705724"/>
            <a:ext cx="5133170" cy="1446550"/>
          </a:xfrm>
          <a:prstGeom prst="rect">
            <a:avLst/>
          </a:prstGeom>
          <a:noFill/>
        </p:spPr>
        <p:txBody>
          <a:bodyPr wrap="square" rtlCol="0">
            <a:spAutoFit/>
          </a:bodyPr>
          <a:lstStyle/>
          <a:p>
            <a:r>
              <a:rPr lang="es-MX" sz="4400" dirty="0">
                <a:solidFill>
                  <a:schemeClr val="bg1"/>
                </a:solidFill>
                <a:latin typeface="Arial Black" panose="020B0A04020102020204" pitchFamily="34" charset="0"/>
              </a:rPr>
              <a:t>3. Organización </a:t>
            </a:r>
          </a:p>
          <a:p>
            <a:r>
              <a:rPr lang="es-MX" sz="4400" dirty="0">
                <a:solidFill>
                  <a:schemeClr val="bg1"/>
                </a:solidFill>
                <a:latin typeface="Arial Black" panose="020B0A04020102020204" pitchFamily="34" charset="0"/>
              </a:rPr>
              <a:t>y uso</a:t>
            </a:r>
          </a:p>
        </p:txBody>
      </p:sp>
      <p:sp>
        <p:nvSpPr>
          <p:cNvPr id="10" name="text-3-2">
            <a:extLst>
              <a:ext uri="{FF2B5EF4-FFF2-40B4-BE49-F238E27FC236}">
                <a16:creationId xmlns:a16="http://schemas.microsoft.com/office/drawing/2014/main" id="{F56C6EE6-6A08-C989-AC2E-C380555BDDAF}"/>
              </a:ext>
            </a:extLst>
          </p:cNvPr>
          <p:cNvSpPr>
            <a:spLocks noGrp="1"/>
          </p:cNvSpPr>
          <p:nvPr/>
        </p:nvSpPr>
        <p:spPr>
          <a:xfrm>
            <a:off x="10953750" y="6362700"/>
            <a:ext cx="628650" cy="285750"/>
          </a:xfrm>
          <a:prstGeom prst="rect">
            <a:avLst/>
          </a:prstGeom>
          <a:no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lang="en-US" sz="1275" b="0" dirty="0">
                <a:solidFill>
                  <a:srgbClr val="53646B"/>
                </a:solidFill>
                <a:latin typeface="DejaVu Sans"/>
                <a:ea typeface="DejaVu Sans"/>
                <a:cs typeface="DejaVu Sans"/>
              </a:rPr>
              <a:t>8</a:t>
            </a:r>
            <a:r>
              <a:rPr sz="1275" b="0" dirty="0">
                <a:solidFill>
                  <a:srgbClr val="53646B"/>
                </a:solidFill>
                <a:latin typeface="DejaVu Sans"/>
                <a:ea typeface="DejaVu Sans"/>
                <a:cs typeface="DejaVu Sans"/>
              </a:rPr>
              <a:t> / 18</a:t>
            </a:r>
          </a:p>
        </p:txBody>
      </p:sp>
      <p:pic>
        <p:nvPicPr>
          <p:cNvPr id="11" name="Picture 10">
            <a:extLst>
              <a:ext uri="{FF2B5EF4-FFF2-40B4-BE49-F238E27FC236}">
                <a16:creationId xmlns:a16="http://schemas.microsoft.com/office/drawing/2014/main" id="{667E58E0-07DC-2FFE-8079-26096B55A057}"/>
              </a:ext>
            </a:extLst>
          </p:cNvPr>
          <p:cNvPicPr>
            <a:picLocks noChangeAspect="1"/>
          </p:cNvPicPr>
          <p:nvPr/>
        </p:nvPicPr>
        <p:blipFill>
          <a:blip r:embed="rId2">
            <a:extLst>
              <a:ext uri="{28A0092B-C50C-407E-A947-70E740481C1C}">
                <a14:useLocalDpi xmlns:a14="http://schemas.microsoft.com/office/drawing/2010/main" val="0"/>
              </a:ext>
            </a:extLst>
          </a:blip>
          <a:srcRect l="43150" t="38261" r="4141" b="17093"/>
          <a:stretch>
            <a:fillRect/>
          </a:stretch>
        </p:blipFill>
        <p:spPr>
          <a:xfrm>
            <a:off x="5414963" y="2705724"/>
            <a:ext cx="6426401" cy="2985124"/>
          </a:xfrm>
          <a:prstGeom prst="rect">
            <a:avLst/>
          </a:prstGeom>
        </p:spPr>
      </p:pic>
      <p:sp>
        <p:nvSpPr>
          <p:cNvPr id="17" name="text-9-4">
            <a:extLst>
              <a:ext uri="{FF2B5EF4-FFF2-40B4-BE49-F238E27FC236}">
                <a16:creationId xmlns:a16="http://schemas.microsoft.com/office/drawing/2014/main" id="{97F0E87B-E044-C965-B833-863307F85975}"/>
              </a:ext>
            </a:extLst>
          </p:cNvPr>
          <p:cNvSpPr>
            <a:spLocks noGrp="1"/>
          </p:cNvSpPr>
          <p:nvPr/>
        </p:nvSpPr>
        <p:spPr>
          <a:xfrm>
            <a:off x="6451210" y="494539"/>
            <a:ext cx="1976827" cy="1978865"/>
          </a:xfrm>
          <a:prstGeom prst="rect">
            <a:avLst/>
          </a:prstGeom>
          <a:noFill/>
          <a:ln w="0">
            <a:noFill/>
          </a:ln>
        </p:spPr>
        <p:txBody>
          <a:bodyPr wrap="square" lIns="0" tIns="0" rIns="0" bIns="0" anchor="t">
            <a:noAutofit/>
          </a:bodyPr>
          <a:lstStyle/>
          <a:p>
            <a:pPr algn="l">
              <a:spcAft>
                <a:spcPts val="1200"/>
              </a:spcAft>
              <a:defRPr sz="1875" b="0">
                <a:solidFill>
                  <a:srgbClr val="162E37"/>
                </a:solidFill>
                <a:latin typeface="DejaVu Sans"/>
                <a:ea typeface="DejaVu Sans"/>
                <a:cs typeface="DejaVu Sans"/>
              </a:defRPr>
            </a:pPr>
            <a:r>
              <a:rPr lang="es-MX" sz="2400" b="1" noProof="0" dirty="0">
                <a:solidFill>
                  <a:srgbClr val="162E37"/>
                </a:solidFill>
                <a:latin typeface="Arial" panose="020B0604020202020204" pitchFamily="34" charset="0"/>
                <a:ea typeface="DejaVu Sans"/>
                <a:cs typeface="Arial" panose="020B0604020202020204" pitchFamily="34" charset="0"/>
              </a:rPr>
              <a:t>Nacimientos atendidos en SSa</a:t>
            </a:r>
          </a:p>
          <a:p>
            <a:pPr algn="l">
              <a:defRPr sz="1875" b="0">
                <a:solidFill>
                  <a:srgbClr val="162E37"/>
                </a:solidFill>
                <a:latin typeface="DejaVu Sans"/>
                <a:ea typeface="DejaVu Sans"/>
                <a:cs typeface="DejaVu Sans"/>
              </a:defRPr>
            </a:pPr>
            <a:r>
              <a:rPr lang="es-MX" dirty="0">
                <a:solidFill>
                  <a:srgbClr val="162E37"/>
                </a:solidFill>
                <a:latin typeface="Arial" panose="020B0604020202020204" pitchFamily="34" charset="0"/>
                <a:ea typeface="DejaVu Sans"/>
                <a:cs typeface="Arial" panose="020B0604020202020204" pitchFamily="34" charset="0"/>
              </a:rPr>
              <a:t>De 2015 a 2023</a:t>
            </a:r>
            <a:endParaRPr lang="es-MX" noProof="0" dirty="0">
              <a:solidFill>
                <a:srgbClr val="162E37"/>
              </a:solidFill>
              <a:latin typeface="Arial" panose="020B0604020202020204" pitchFamily="34" charset="0"/>
              <a:ea typeface="DejaVu Sans"/>
              <a:cs typeface="Arial" panose="020B0604020202020204" pitchFamily="34" charset="0"/>
            </a:endParaRPr>
          </a:p>
        </p:txBody>
      </p:sp>
      <p:sp>
        <p:nvSpPr>
          <p:cNvPr id="19" name="TextBox 18">
            <a:extLst>
              <a:ext uri="{FF2B5EF4-FFF2-40B4-BE49-F238E27FC236}">
                <a16:creationId xmlns:a16="http://schemas.microsoft.com/office/drawing/2014/main" id="{C8847569-6B60-E855-833E-637A7B650B9F}"/>
              </a:ext>
            </a:extLst>
          </p:cNvPr>
          <p:cNvSpPr txBox="1"/>
          <p:nvPr/>
        </p:nvSpPr>
        <p:spPr>
          <a:xfrm>
            <a:off x="8959650" y="751653"/>
            <a:ext cx="2965650" cy="830997"/>
          </a:xfrm>
          <a:prstGeom prst="rect">
            <a:avLst/>
          </a:prstGeom>
          <a:noFill/>
        </p:spPr>
        <p:txBody>
          <a:bodyPr wrap="square" rtlCol="0">
            <a:spAutoFit/>
          </a:bodyPr>
          <a:lstStyle/>
          <a:p>
            <a:r>
              <a:rPr lang="es-MX" sz="4800" b="1" dirty="0">
                <a:solidFill>
                  <a:srgbClr val="C00000"/>
                </a:solidFill>
                <a:latin typeface="DejaVu Sans"/>
                <a:ea typeface="DejaVu Sans"/>
                <a:cs typeface="DejaVu Sans"/>
              </a:rPr>
              <a:t>−</a:t>
            </a:r>
            <a:r>
              <a:rPr lang="es-MX" sz="4800" b="1" dirty="0">
                <a:solidFill>
                  <a:srgbClr val="C00000"/>
                </a:solidFill>
                <a:latin typeface="Arial" panose="020B0604020202020204" pitchFamily="34" charset="0"/>
                <a:ea typeface="DejaVu Sans"/>
                <a:cs typeface="Arial" panose="020B0604020202020204" pitchFamily="34" charset="0"/>
              </a:rPr>
              <a:t>40</a:t>
            </a:r>
            <a:r>
              <a:rPr lang="es-MX" sz="4800" b="1" dirty="0">
                <a:solidFill>
                  <a:srgbClr val="C00000"/>
                </a:solidFill>
                <a:latin typeface="Arial" panose="020B0604020202020204" pitchFamily="34" charset="0"/>
                <a:cs typeface="Arial" panose="020B0604020202020204" pitchFamily="34" charset="0"/>
              </a:rPr>
              <a:t>.5%</a:t>
            </a:r>
          </a:p>
        </p:txBody>
      </p:sp>
      <p:sp>
        <p:nvSpPr>
          <p:cNvPr id="21" name="text-3-2">
            <a:extLst>
              <a:ext uri="{FF2B5EF4-FFF2-40B4-BE49-F238E27FC236}">
                <a16:creationId xmlns:a16="http://schemas.microsoft.com/office/drawing/2014/main" id="{8D16F5A4-A0E6-6830-075C-AEDF9F666C05}"/>
              </a:ext>
            </a:extLst>
          </p:cNvPr>
          <p:cNvSpPr>
            <a:spLocks noGrp="1"/>
          </p:cNvSpPr>
          <p:nvPr/>
        </p:nvSpPr>
        <p:spPr>
          <a:xfrm>
            <a:off x="10953750" y="6362700"/>
            <a:ext cx="628650" cy="285750"/>
          </a:xfrm>
          <a:prstGeom prst="rect">
            <a:avLst/>
          </a:prstGeom>
          <a:solidFill>
            <a:schemeClr val="bg1"/>
          </a:solid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lang="en-US" sz="1275" dirty="0">
                <a:solidFill>
                  <a:srgbClr val="53646B"/>
                </a:solidFill>
                <a:latin typeface="DejaVu Sans"/>
                <a:ea typeface="DejaVu Sans"/>
                <a:cs typeface="DejaVu Sans"/>
              </a:rPr>
              <a:t>12</a:t>
            </a:r>
            <a:r>
              <a:rPr sz="1275" b="0" dirty="0">
                <a:solidFill>
                  <a:srgbClr val="53646B"/>
                </a:solidFill>
                <a:latin typeface="DejaVu Sans"/>
                <a:ea typeface="DejaVu Sans"/>
                <a:cs typeface="DejaVu Sans"/>
              </a:rPr>
              <a:t> / 18</a:t>
            </a:r>
          </a:p>
        </p:txBody>
      </p:sp>
    </p:spTree>
    <p:extLst>
      <p:ext uri="{BB962C8B-B14F-4D97-AF65-F5344CB8AC3E}">
        <p14:creationId xmlns:p14="http://schemas.microsoft.com/office/powerpoint/2010/main" val="2953750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1A39EBB5-4800-3575-32AD-0EA31BD319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940196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F1FC3F-9426-E365-73E5-BAB23630B0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5" name="text-3-2">
            <a:extLst>
              <a:ext uri="{FF2B5EF4-FFF2-40B4-BE49-F238E27FC236}">
                <a16:creationId xmlns:a16="http://schemas.microsoft.com/office/drawing/2014/main" id="{0BA0D299-C7FA-D2CC-7576-6D62EF84B9B9}"/>
              </a:ext>
            </a:extLst>
          </p:cNvPr>
          <p:cNvSpPr>
            <a:spLocks noGrp="1"/>
          </p:cNvSpPr>
          <p:nvPr/>
        </p:nvSpPr>
        <p:spPr>
          <a:xfrm>
            <a:off x="10953750" y="6362700"/>
            <a:ext cx="628650" cy="285750"/>
          </a:xfrm>
          <a:prstGeom prst="rect">
            <a:avLst/>
          </a:prstGeom>
          <a:solidFill>
            <a:schemeClr val="bg1"/>
          </a:solid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lang="en-US" sz="1275" dirty="0">
                <a:solidFill>
                  <a:srgbClr val="53646B"/>
                </a:solidFill>
                <a:latin typeface="DejaVu Sans"/>
                <a:ea typeface="DejaVu Sans"/>
                <a:cs typeface="DejaVu Sans"/>
              </a:rPr>
              <a:t>14</a:t>
            </a:r>
            <a:r>
              <a:rPr sz="1275" b="0" dirty="0">
                <a:solidFill>
                  <a:srgbClr val="53646B"/>
                </a:solidFill>
                <a:latin typeface="DejaVu Sans"/>
                <a:ea typeface="DejaVu Sans"/>
                <a:cs typeface="DejaVu Sans"/>
              </a:rPr>
              <a:t> / 18</a:t>
            </a:r>
          </a:p>
        </p:txBody>
      </p:sp>
      <p:sp>
        <p:nvSpPr>
          <p:cNvPr id="6" name="Rectangle 5">
            <a:extLst>
              <a:ext uri="{FF2B5EF4-FFF2-40B4-BE49-F238E27FC236}">
                <a16:creationId xmlns:a16="http://schemas.microsoft.com/office/drawing/2014/main" id="{69BAC41D-80B6-093F-DC3C-9DD3D41006B1}"/>
              </a:ext>
            </a:extLst>
          </p:cNvPr>
          <p:cNvSpPr/>
          <p:nvPr/>
        </p:nvSpPr>
        <p:spPr>
          <a:xfrm>
            <a:off x="11399044" y="6591300"/>
            <a:ext cx="507206" cy="13573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451288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8D90-3682-BBA4-A06F-98587C9DE1D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56C3EC6-E503-E4D5-0D51-DB5B66B7977F}"/>
              </a:ext>
            </a:extLst>
          </p:cNvPr>
          <p:cNvSpPr/>
          <p:nvPr/>
        </p:nvSpPr>
        <p:spPr>
          <a:xfrm>
            <a:off x="-26585" y="-1"/>
            <a:ext cx="5133170" cy="6858000"/>
          </a:xfrm>
          <a:prstGeom prst="rect">
            <a:avLst/>
          </a:prstGeom>
          <a:solidFill>
            <a:srgbClr val="49657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rgbClr val="254719"/>
              </a:solidFill>
            </a:endParaRPr>
          </a:p>
        </p:txBody>
      </p:sp>
      <p:sp>
        <p:nvSpPr>
          <p:cNvPr id="3" name="TextBox 2">
            <a:extLst>
              <a:ext uri="{FF2B5EF4-FFF2-40B4-BE49-F238E27FC236}">
                <a16:creationId xmlns:a16="http://schemas.microsoft.com/office/drawing/2014/main" id="{D5A57560-BF13-8A24-6FD2-675AA9EC2957}"/>
              </a:ext>
            </a:extLst>
          </p:cNvPr>
          <p:cNvSpPr txBox="1"/>
          <p:nvPr/>
        </p:nvSpPr>
        <p:spPr>
          <a:xfrm>
            <a:off x="140304" y="2367170"/>
            <a:ext cx="5133170" cy="2123658"/>
          </a:xfrm>
          <a:prstGeom prst="rect">
            <a:avLst/>
          </a:prstGeom>
          <a:noFill/>
        </p:spPr>
        <p:txBody>
          <a:bodyPr wrap="square" rtlCol="0">
            <a:spAutoFit/>
          </a:bodyPr>
          <a:lstStyle/>
          <a:p>
            <a:r>
              <a:rPr lang="es-MX" sz="4400" dirty="0">
                <a:solidFill>
                  <a:schemeClr val="bg1"/>
                </a:solidFill>
                <a:latin typeface="Arial Black" panose="020B0A04020102020204" pitchFamily="34" charset="0"/>
              </a:rPr>
              <a:t>¿Qué nos Llevamos de Esto?</a:t>
            </a:r>
          </a:p>
        </p:txBody>
      </p:sp>
      <p:pic>
        <p:nvPicPr>
          <p:cNvPr id="6" name="Picture 5">
            <a:extLst>
              <a:ext uri="{FF2B5EF4-FFF2-40B4-BE49-F238E27FC236}">
                <a16:creationId xmlns:a16="http://schemas.microsoft.com/office/drawing/2014/main" id="{61697D3E-2069-4C5E-5E47-045028759120}"/>
              </a:ext>
            </a:extLst>
          </p:cNvPr>
          <p:cNvPicPr>
            <a:picLocks noChangeAspect="1"/>
          </p:cNvPicPr>
          <p:nvPr/>
        </p:nvPicPr>
        <p:blipFill>
          <a:blip r:embed="rId2">
            <a:extLst>
              <a:ext uri="{28A0092B-C50C-407E-A947-70E740481C1C}">
                <a14:useLocalDpi xmlns:a14="http://schemas.microsoft.com/office/drawing/2010/main" val="0"/>
              </a:ext>
            </a:extLst>
          </a:blip>
          <a:srcRect b="4074"/>
          <a:stretch>
            <a:fillRect/>
          </a:stretch>
        </p:blipFill>
        <p:spPr>
          <a:xfrm>
            <a:off x="5222674" y="139700"/>
            <a:ext cx="6858000" cy="6578600"/>
          </a:xfrm>
          <a:prstGeom prst="rect">
            <a:avLst/>
          </a:prstGeom>
        </p:spPr>
      </p:pic>
      <p:sp>
        <p:nvSpPr>
          <p:cNvPr id="9" name="text-3-2">
            <a:extLst>
              <a:ext uri="{FF2B5EF4-FFF2-40B4-BE49-F238E27FC236}">
                <a16:creationId xmlns:a16="http://schemas.microsoft.com/office/drawing/2014/main" id="{B55C4C32-4BC4-8498-8CD2-26D42896710B}"/>
              </a:ext>
            </a:extLst>
          </p:cNvPr>
          <p:cNvSpPr>
            <a:spLocks noGrp="1"/>
          </p:cNvSpPr>
          <p:nvPr/>
        </p:nvSpPr>
        <p:spPr>
          <a:xfrm>
            <a:off x="10953750" y="6362700"/>
            <a:ext cx="628650" cy="285750"/>
          </a:xfrm>
          <a:prstGeom prst="rect">
            <a:avLst/>
          </a:prstGeom>
          <a:solidFill>
            <a:schemeClr val="bg1"/>
          </a:solid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lang="en-US" sz="1275" dirty="0">
                <a:solidFill>
                  <a:srgbClr val="53646B"/>
                </a:solidFill>
                <a:latin typeface="DejaVu Sans"/>
                <a:ea typeface="DejaVu Sans"/>
                <a:cs typeface="DejaVu Sans"/>
              </a:rPr>
              <a:t>15</a:t>
            </a:r>
            <a:r>
              <a:rPr sz="1275" b="0" dirty="0">
                <a:solidFill>
                  <a:srgbClr val="53646B"/>
                </a:solidFill>
                <a:latin typeface="DejaVu Sans"/>
                <a:ea typeface="DejaVu Sans"/>
                <a:cs typeface="DejaVu Sans"/>
              </a:rPr>
              <a:t> / 18</a:t>
            </a:r>
          </a:p>
        </p:txBody>
      </p:sp>
    </p:spTree>
    <p:extLst>
      <p:ext uri="{BB962C8B-B14F-4D97-AF65-F5344CB8AC3E}">
        <p14:creationId xmlns:p14="http://schemas.microsoft.com/office/powerpoint/2010/main" val="1202091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F66A4-6E1F-5617-1309-B9F40CBDE0F8}"/>
              </a:ext>
            </a:extLst>
          </p:cNvPr>
          <p:cNvPicPr>
            <a:picLocks noChangeAspect="1"/>
          </p:cNvPicPr>
          <p:nvPr/>
        </p:nvPicPr>
        <p:blipFill>
          <a:blip r:embed="rId2">
            <a:extLst>
              <a:ext uri="{28A0092B-C50C-407E-A947-70E740481C1C}">
                <a14:useLocalDpi xmlns:a14="http://schemas.microsoft.com/office/drawing/2010/main" val="0"/>
              </a:ext>
            </a:extLst>
          </a:blip>
          <a:srcRect b="5926"/>
          <a:stretch>
            <a:fillRect/>
          </a:stretch>
        </p:blipFill>
        <p:spPr>
          <a:xfrm>
            <a:off x="3239" y="0"/>
            <a:ext cx="12185522" cy="6451600"/>
          </a:xfrm>
          <a:prstGeom prst="rect">
            <a:avLst/>
          </a:prstGeom>
        </p:spPr>
      </p:pic>
      <p:sp>
        <p:nvSpPr>
          <p:cNvPr id="5" name="text-3-2">
            <a:extLst>
              <a:ext uri="{FF2B5EF4-FFF2-40B4-BE49-F238E27FC236}">
                <a16:creationId xmlns:a16="http://schemas.microsoft.com/office/drawing/2014/main" id="{FA6EC322-8C62-C0F4-8F94-B0D0D28B7913}"/>
              </a:ext>
            </a:extLst>
          </p:cNvPr>
          <p:cNvSpPr>
            <a:spLocks noGrp="1"/>
          </p:cNvSpPr>
          <p:nvPr/>
        </p:nvSpPr>
        <p:spPr>
          <a:xfrm>
            <a:off x="10953750" y="6362700"/>
            <a:ext cx="628650" cy="285750"/>
          </a:xfrm>
          <a:prstGeom prst="rect">
            <a:avLst/>
          </a:prstGeom>
          <a:solidFill>
            <a:schemeClr val="bg1"/>
          </a:solid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lang="en-US" sz="1275" dirty="0">
                <a:solidFill>
                  <a:srgbClr val="53646B"/>
                </a:solidFill>
                <a:latin typeface="DejaVu Sans"/>
                <a:ea typeface="DejaVu Sans"/>
                <a:cs typeface="DejaVu Sans"/>
              </a:rPr>
              <a:t>16</a:t>
            </a:r>
            <a:r>
              <a:rPr sz="1275" b="0" dirty="0">
                <a:solidFill>
                  <a:srgbClr val="53646B"/>
                </a:solidFill>
                <a:latin typeface="DejaVu Sans"/>
                <a:ea typeface="DejaVu Sans"/>
                <a:cs typeface="DejaVu Sans"/>
              </a:rPr>
              <a:t> / 18</a:t>
            </a:r>
          </a:p>
        </p:txBody>
      </p:sp>
    </p:spTree>
    <p:extLst>
      <p:ext uri="{BB962C8B-B14F-4D97-AF65-F5344CB8AC3E}">
        <p14:creationId xmlns:p14="http://schemas.microsoft.com/office/powerpoint/2010/main" val="3777171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D3CC6-DD23-DF7C-D8F8-205C93969AEB}"/>
            </a:ext>
          </a:extLst>
        </p:cNvPr>
        <p:cNvGrpSpPr/>
        <p:nvPr/>
      </p:nvGrpSpPr>
      <p:grpSpPr>
        <a:xfrm>
          <a:off x="0" y="0"/>
          <a:ext cx="0" cy="0"/>
          <a:chOff x="0" y="0"/>
          <a:chExt cx="0" cy="0"/>
        </a:xfrm>
      </p:grpSpPr>
      <p:sp>
        <p:nvSpPr>
          <p:cNvPr id="7" name="text-1-0">
            <a:extLst>
              <a:ext uri="{FF2B5EF4-FFF2-40B4-BE49-F238E27FC236}">
                <a16:creationId xmlns:a16="http://schemas.microsoft.com/office/drawing/2014/main" id="{6A86287D-AA6E-8930-1C3B-7012145945C5}"/>
              </a:ext>
            </a:extLst>
          </p:cNvPr>
          <p:cNvSpPr>
            <a:spLocks noGrp="1"/>
          </p:cNvSpPr>
          <p:nvPr/>
        </p:nvSpPr>
        <p:spPr>
          <a:xfrm>
            <a:off x="609600" y="952500"/>
            <a:ext cx="10953750" cy="2266950"/>
          </a:xfrm>
          <a:prstGeom prst="rect">
            <a:avLst/>
          </a:prstGeom>
          <a:noFill/>
          <a:ln w="0">
            <a:noFill/>
          </a:ln>
        </p:spPr>
        <p:txBody>
          <a:bodyPr wrap="square" lIns="0" tIns="0" rIns="0" bIns="0" anchor="t">
            <a:noAutofit/>
          </a:bodyPr>
          <a:lstStyle/>
          <a:p>
            <a:pPr>
              <a:defRPr sz="4425" b="1">
                <a:solidFill>
                  <a:srgbClr val="005B50"/>
                </a:solidFill>
                <a:latin typeface="DejaVu Sans"/>
                <a:ea typeface="DejaVu Sans"/>
                <a:cs typeface="DejaVu Sans"/>
              </a:defRPr>
            </a:pPr>
            <a:r>
              <a:rPr lang="en-US" sz="4800" dirty="0">
                <a:solidFill>
                  <a:srgbClr val="53646B"/>
                </a:solidFill>
                <a:latin typeface="DejaVu Sans"/>
                <a:ea typeface="DejaVu Sans"/>
                <a:cs typeface="DejaVu Sans"/>
              </a:rPr>
              <a:t>Tres </a:t>
            </a:r>
            <a:r>
              <a:rPr lang="es-MX" sz="4800" dirty="0">
                <a:solidFill>
                  <a:srgbClr val="53646B"/>
                </a:solidFill>
                <a:latin typeface="DejaVu Sans"/>
                <a:ea typeface="DejaVu Sans"/>
                <a:cs typeface="DejaVu Sans"/>
              </a:rPr>
              <a:t>Ensayos</a:t>
            </a:r>
            <a:r>
              <a:rPr lang="en-US" sz="4800" dirty="0">
                <a:solidFill>
                  <a:srgbClr val="53646B"/>
                </a:solidFill>
                <a:latin typeface="DejaVu Sans"/>
                <a:ea typeface="DejaVu Sans"/>
                <a:cs typeface="DejaVu Sans"/>
              </a:rPr>
              <a:t> </a:t>
            </a:r>
            <a:r>
              <a:rPr lang="es-MX" sz="4800" dirty="0">
                <a:solidFill>
                  <a:srgbClr val="53646B"/>
                </a:solidFill>
                <a:latin typeface="DejaVu Sans"/>
                <a:ea typeface="DejaVu Sans"/>
                <a:cs typeface="DejaVu Sans"/>
              </a:rPr>
              <a:t>Sobre</a:t>
            </a:r>
            <a:r>
              <a:rPr lang="en-US" sz="4800" dirty="0">
                <a:solidFill>
                  <a:srgbClr val="53646B"/>
                </a:solidFill>
                <a:latin typeface="DejaVu Sans"/>
                <a:ea typeface="DejaVu Sans"/>
                <a:cs typeface="DejaVu Sans"/>
              </a:rPr>
              <a:t> la </a:t>
            </a:r>
            <a:r>
              <a:rPr lang="es-MX" sz="4800" dirty="0">
                <a:solidFill>
                  <a:srgbClr val="53646B"/>
                </a:solidFill>
                <a:latin typeface="DejaVu Sans"/>
                <a:ea typeface="DejaVu Sans"/>
                <a:cs typeface="DejaVu Sans"/>
              </a:rPr>
              <a:t>Economía de la Salud</a:t>
            </a:r>
            <a:endParaRPr lang="es-MX" sz="4425" b="1" noProof="0" dirty="0">
              <a:solidFill>
                <a:schemeClr val="tx2">
                  <a:lumMod val="90000"/>
                  <a:lumOff val="10000"/>
                </a:schemeClr>
              </a:solidFill>
              <a:latin typeface="DejaVu Sans"/>
              <a:ea typeface="DejaVu Sans"/>
              <a:cs typeface="DejaVu Sans"/>
            </a:endParaRPr>
          </a:p>
        </p:txBody>
      </p:sp>
      <p:sp>
        <p:nvSpPr>
          <p:cNvPr id="2" name="text-1-1">
            <a:extLst>
              <a:ext uri="{FF2B5EF4-FFF2-40B4-BE49-F238E27FC236}">
                <a16:creationId xmlns:a16="http://schemas.microsoft.com/office/drawing/2014/main" id="{315C162F-CC72-BDB6-A535-29CFD80E1073}"/>
              </a:ext>
            </a:extLst>
          </p:cNvPr>
          <p:cNvSpPr>
            <a:spLocks noGrp="1"/>
          </p:cNvSpPr>
          <p:nvPr/>
        </p:nvSpPr>
        <p:spPr>
          <a:xfrm>
            <a:off x="609600" y="6391275"/>
            <a:ext cx="10287000" cy="295275"/>
          </a:xfrm>
          <a:prstGeom prst="rect">
            <a:avLst/>
          </a:prstGeom>
          <a:noFill/>
          <a:ln w="0">
            <a:noFill/>
          </a:ln>
        </p:spPr>
        <p:txBody>
          <a:bodyPr wrap="square" lIns="0" tIns="0" rIns="0" bIns="0" anchor="t">
            <a:noAutofit/>
          </a:bodyPr>
          <a:lstStyle/>
          <a:p>
            <a:pPr algn="l">
              <a:defRPr sz="1050" b="0">
                <a:solidFill>
                  <a:srgbClr val="53646B"/>
                </a:solidFill>
                <a:latin typeface="DejaVu Sans"/>
                <a:ea typeface="DejaVu Sans"/>
                <a:cs typeface="DejaVu Sans"/>
              </a:defRPr>
            </a:pPr>
            <a:r>
              <a:rPr sz="1050" b="0">
                <a:solidFill>
                  <a:srgbClr val="53646B"/>
                </a:solidFill>
                <a:latin typeface="DejaVu Sans"/>
                <a:ea typeface="DejaVu Sans"/>
                <a:cs typeface="DejaVu Sans"/>
              </a:rPr>
              <a:t>El Colegio de México. Doctorado en Economía</a:t>
            </a:r>
          </a:p>
        </p:txBody>
      </p:sp>
      <p:sp>
        <p:nvSpPr>
          <p:cNvPr id="3" name="text-1-2">
            <a:extLst>
              <a:ext uri="{FF2B5EF4-FFF2-40B4-BE49-F238E27FC236}">
                <a16:creationId xmlns:a16="http://schemas.microsoft.com/office/drawing/2014/main" id="{98D9EB97-7474-E82B-8ECF-2A73EE215B89}"/>
              </a:ext>
            </a:extLst>
          </p:cNvPr>
          <p:cNvSpPr>
            <a:spLocks noGrp="1"/>
          </p:cNvSpPr>
          <p:nvPr/>
        </p:nvSpPr>
        <p:spPr>
          <a:xfrm>
            <a:off x="10953750" y="6362700"/>
            <a:ext cx="628650" cy="285750"/>
          </a:xfrm>
          <a:prstGeom prst="rect">
            <a:avLst/>
          </a:prstGeom>
          <a:no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sz="1275" b="0" dirty="0">
                <a:solidFill>
                  <a:srgbClr val="53646B"/>
                </a:solidFill>
                <a:latin typeface="DejaVu Sans"/>
                <a:ea typeface="DejaVu Sans"/>
                <a:cs typeface="DejaVu Sans"/>
              </a:rPr>
              <a:t>1</a:t>
            </a:r>
            <a:r>
              <a:rPr lang="es-MX" sz="1275" dirty="0">
                <a:solidFill>
                  <a:srgbClr val="53646B"/>
                </a:solidFill>
                <a:latin typeface="DejaVu Sans"/>
                <a:ea typeface="DejaVu Sans"/>
                <a:cs typeface="DejaVu Sans"/>
              </a:rPr>
              <a:t>7</a:t>
            </a:r>
            <a:r>
              <a:rPr sz="1275" b="0" dirty="0">
                <a:solidFill>
                  <a:srgbClr val="53646B"/>
                </a:solidFill>
                <a:latin typeface="DejaVu Sans"/>
                <a:ea typeface="DejaVu Sans"/>
                <a:cs typeface="DejaVu Sans"/>
              </a:rPr>
              <a:t> / 18</a:t>
            </a:r>
          </a:p>
        </p:txBody>
      </p:sp>
      <p:sp>
        <p:nvSpPr>
          <p:cNvPr id="4" name="text-1-3">
            <a:extLst>
              <a:ext uri="{FF2B5EF4-FFF2-40B4-BE49-F238E27FC236}">
                <a16:creationId xmlns:a16="http://schemas.microsoft.com/office/drawing/2014/main" id="{683E6A8B-DBE8-7CE6-1A7F-A8881AF71D25}"/>
              </a:ext>
            </a:extLst>
          </p:cNvPr>
          <p:cNvSpPr>
            <a:spLocks noGrp="1"/>
          </p:cNvSpPr>
          <p:nvPr/>
        </p:nvSpPr>
        <p:spPr>
          <a:xfrm>
            <a:off x="609600" y="2667000"/>
            <a:ext cx="10858500" cy="1073150"/>
          </a:xfrm>
          <a:prstGeom prst="rect">
            <a:avLst/>
          </a:prstGeom>
          <a:noFill/>
          <a:ln w="0">
            <a:noFill/>
          </a:ln>
        </p:spPr>
        <p:txBody>
          <a:bodyPr wrap="square" lIns="0" tIns="0" rIns="0" bIns="0" anchor="t">
            <a:noAutofit/>
          </a:bodyPr>
          <a:lstStyle/>
          <a:p>
            <a:pPr algn="l">
              <a:defRPr sz="2175" b="0">
                <a:solidFill>
                  <a:srgbClr val="53646B"/>
                </a:solidFill>
                <a:latin typeface="DejaVu Sans"/>
                <a:ea typeface="DejaVu Sans"/>
                <a:cs typeface="DejaVu Sans"/>
              </a:defRPr>
            </a:pPr>
            <a:r>
              <a:rPr lang="es-MX" sz="2175" dirty="0">
                <a:solidFill>
                  <a:srgbClr val="53646B"/>
                </a:solidFill>
                <a:latin typeface="DejaVu Sans"/>
                <a:ea typeface="DejaVu Sans"/>
                <a:cs typeface="DejaVu Sans"/>
              </a:rPr>
              <a:t>¿Cómo la cobertura y capacidad moldean el acceso, la elección del proveedor y la salud materno-infantil en México</a:t>
            </a:r>
            <a:endParaRPr sz="2175" b="0" dirty="0">
              <a:solidFill>
                <a:srgbClr val="53646B"/>
              </a:solidFill>
              <a:latin typeface="DejaVu Sans"/>
              <a:ea typeface="DejaVu Sans"/>
              <a:cs typeface="DejaVu Sans"/>
            </a:endParaRPr>
          </a:p>
        </p:txBody>
      </p:sp>
      <p:sp>
        <p:nvSpPr>
          <p:cNvPr id="5" name="text-1-4">
            <a:extLst>
              <a:ext uri="{FF2B5EF4-FFF2-40B4-BE49-F238E27FC236}">
                <a16:creationId xmlns:a16="http://schemas.microsoft.com/office/drawing/2014/main" id="{77FA2BE0-20F3-B875-6B32-131C40262CCF}"/>
              </a:ext>
            </a:extLst>
          </p:cNvPr>
          <p:cNvSpPr>
            <a:spLocks noGrp="1"/>
          </p:cNvSpPr>
          <p:nvPr/>
        </p:nvSpPr>
        <p:spPr>
          <a:xfrm>
            <a:off x="609600" y="4943475"/>
            <a:ext cx="10858500" cy="514350"/>
          </a:xfrm>
          <a:prstGeom prst="rect">
            <a:avLst/>
          </a:prstGeom>
          <a:noFill/>
          <a:ln w="0">
            <a:noFill/>
          </a:ln>
        </p:spPr>
        <p:txBody>
          <a:bodyPr wrap="square" lIns="0" tIns="0" rIns="0" bIns="0" anchor="t">
            <a:noAutofit/>
          </a:bodyPr>
          <a:lstStyle/>
          <a:p>
            <a:pPr algn="l">
              <a:defRPr sz="2400" b="1">
                <a:solidFill>
                  <a:srgbClr val="162E37"/>
                </a:solidFill>
                <a:latin typeface="DejaVu Sans"/>
                <a:ea typeface="DejaVu Sans"/>
                <a:cs typeface="DejaVu Sans"/>
              </a:defRPr>
            </a:pPr>
            <a:r>
              <a:rPr sz="2400" b="1" dirty="0">
                <a:solidFill>
                  <a:srgbClr val="162E37"/>
                </a:solidFill>
                <a:latin typeface="DejaVu Sans"/>
                <a:ea typeface="DejaVu Sans"/>
                <a:cs typeface="DejaVu Sans"/>
              </a:rPr>
              <a:t>Carlos G. Ruiz García de la Cadena</a:t>
            </a:r>
          </a:p>
        </p:txBody>
      </p:sp>
      <p:sp>
        <p:nvSpPr>
          <p:cNvPr id="6" name="text-1-5">
            <a:extLst>
              <a:ext uri="{FF2B5EF4-FFF2-40B4-BE49-F238E27FC236}">
                <a16:creationId xmlns:a16="http://schemas.microsoft.com/office/drawing/2014/main" id="{F5C40847-A614-7675-EE9B-FDF88DA167CF}"/>
              </a:ext>
            </a:extLst>
          </p:cNvPr>
          <p:cNvSpPr>
            <a:spLocks noGrp="1"/>
          </p:cNvSpPr>
          <p:nvPr/>
        </p:nvSpPr>
        <p:spPr>
          <a:xfrm>
            <a:off x="609600" y="5505450"/>
            <a:ext cx="10858500" cy="428625"/>
          </a:xfrm>
          <a:prstGeom prst="rect">
            <a:avLst/>
          </a:prstGeom>
          <a:noFill/>
          <a:ln w="0">
            <a:noFill/>
          </a:ln>
        </p:spPr>
        <p:txBody>
          <a:bodyPr wrap="square" lIns="0" tIns="0" rIns="0" bIns="0" anchor="t">
            <a:noAutofit/>
          </a:bodyPr>
          <a:lstStyle/>
          <a:p>
            <a:pPr algn="l">
              <a:defRPr sz="1950" b="0">
                <a:solidFill>
                  <a:srgbClr val="53646B"/>
                </a:solidFill>
                <a:latin typeface="DejaVu Sans"/>
                <a:ea typeface="DejaVu Sans"/>
                <a:cs typeface="DejaVu Sans"/>
              </a:defRPr>
            </a:pPr>
            <a:r>
              <a:rPr sz="1950" b="0" dirty="0">
                <a:solidFill>
                  <a:srgbClr val="53646B"/>
                </a:solidFill>
                <a:latin typeface="DejaVu Sans"/>
                <a:ea typeface="DejaVu Sans"/>
                <a:cs typeface="DejaVu Sans"/>
              </a:rPr>
              <a:t>Defensa de </a:t>
            </a:r>
            <a:r>
              <a:rPr lang="es-MX" sz="1950" b="0" noProof="0" dirty="0">
                <a:solidFill>
                  <a:srgbClr val="53646B"/>
                </a:solidFill>
                <a:latin typeface="DejaVu Sans"/>
                <a:ea typeface="DejaVu Sans"/>
                <a:cs typeface="DejaVu Sans"/>
              </a:rPr>
              <a:t>tesis</a:t>
            </a:r>
            <a:r>
              <a:rPr sz="1950" b="0" dirty="0">
                <a:solidFill>
                  <a:srgbClr val="53646B"/>
                </a:solidFill>
                <a:latin typeface="DejaVu Sans"/>
                <a:ea typeface="DejaVu Sans"/>
                <a:cs typeface="DejaVu Sans"/>
              </a:rPr>
              <a:t> doctoral</a:t>
            </a:r>
          </a:p>
        </p:txBody>
      </p:sp>
      <p:sp>
        <p:nvSpPr>
          <p:cNvPr id="9" name="text-1-4">
            <a:extLst>
              <a:ext uri="{FF2B5EF4-FFF2-40B4-BE49-F238E27FC236}">
                <a16:creationId xmlns:a16="http://schemas.microsoft.com/office/drawing/2014/main" id="{62EA4CB9-46FC-A08D-FAD4-4FBF6CC9F4BB}"/>
              </a:ext>
            </a:extLst>
          </p:cNvPr>
          <p:cNvSpPr>
            <a:spLocks noGrp="1"/>
          </p:cNvSpPr>
          <p:nvPr/>
        </p:nvSpPr>
        <p:spPr>
          <a:xfrm>
            <a:off x="609600" y="3779838"/>
            <a:ext cx="10858500" cy="514350"/>
          </a:xfrm>
          <a:prstGeom prst="rect">
            <a:avLst/>
          </a:prstGeom>
          <a:noFill/>
          <a:ln w="0">
            <a:noFill/>
          </a:ln>
        </p:spPr>
        <p:txBody>
          <a:bodyPr wrap="square" lIns="0" tIns="0" rIns="0" bIns="0" anchor="t">
            <a:noAutofit/>
          </a:bodyPr>
          <a:lstStyle/>
          <a:p>
            <a:pPr algn="ctr">
              <a:defRPr sz="2400" b="1">
                <a:solidFill>
                  <a:srgbClr val="162E37"/>
                </a:solidFill>
                <a:latin typeface="DejaVu Sans"/>
                <a:ea typeface="DejaVu Sans"/>
                <a:cs typeface="DejaVu Sans"/>
              </a:defRPr>
            </a:pPr>
            <a:r>
              <a:rPr lang="es-MX" sz="3600" b="1" dirty="0">
                <a:solidFill>
                  <a:srgbClr val="162E37"/>
                </a:solidFill>
                <a:latin typeface="DejaVu Sans"/>
                <a:ea typeface="DejaVu Sans"/>
                <a:cs typeface="DejaVu Sans"/>
              </a:rPr>
              <a:t>¡Gracias!</a:t>
            </a:r>
            <a:endParaRPr sz="3600" b="1" dirty="0">
              <a:solidFill>
                <a:srgbClr val="162E37"/>
              </a:solidFill>
              <a:latin typeface="DejaVu Sans"/>
              <a:ea typeface="DejaVu Sans"/>
              <a:cs typeface="DejaVu Sans"/>
            </a:endParaRPr>
          </a:p>
        </p:txBody>
      </p:sp>
    </p:spTree>
    <p:extLst>
      <p:ext uri="{BB962C8B-B14F-4D97-AF65-F5344CB8AC3E}">
        <p14:creationId xmlns:p14="http://schemas.microsoft.com/office/powerpoint/2010/main" val="4042938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1D3BA-C419-68F4-DAA0-4B3C001CA571}"/>
            </a:ext>
          </a:extLst>
        </p:cNvPr>
        <p:cNvGrpSpPr/>
        <p:nvPr/>
      </p:nvGrpSpPr>
      <p:grpSpPr>
        <a:xfrm>
          <a:off x="0" y="0"/>
          <a:ext cx="0" cy="0"/>
          <a:chOff x="0" y="0"/>
          <a:chExt cx="0" cy="0"/>
        </a:xfrm>
      </p:grpSpPr>
      <p:sp>
        <p:nvSpPr>
          <p:cNvPr id="3" name="text-1-2">
            <a:extLst>
              <a:ext uri="{FF2B5EF4-FFF2-40B4-BE49-F238E27FC236}">
                <a16:creationId xmlns:a16="http://schemas.microsoft.com/office/drawing/2014/main" id="{A58D2E86-8375-3621-7C70-A1142D284892}"/>
              </a:ext>
            </a:extLst>
          </p:cNvPr>
          <p:cNvSpPr>
            <a:spLocks noGrp="1"/>
          </p:cNvSpPr>
          <p:nvPr/>
        </p:nvSpPr>
        <p:spPr>
          <a:xfrm>
            <a:off x="10953750" y="6362700"/>
            <a:ext cx="628650" cy="285750"/>
          </a:xfrm>
          <a:prstGeom prst="rect">
            <a:avLst/>
          </a:prstGeom>
          <a:noFill/>
          <a:ln w="0">
            <a:noFill/>
          </a:ln>
        </p:spPr>
        <p:txBody>
          <a:bodyPr wrap="square" lIns="0" tIns="0" rIns="0" bIns="0" anchor="t">
            <a:noAutofit/>
          </a:bodyPr>
          <a:lstStyle/>
          <a:p>
            <a:pPr algn="r">
              <a:defRPr sz="1275" b="0">
                <a:solidFill>
                  <a:srgbClr val="53646B"/>
                </a:solidFill>
                <a:latin typeface="DejaVu Sans"/>
                <a:ea typeface="DejaVu Sans"/>
                <a:cs typeface="DejaVu Sans"/>
              </a:defRPr>
            </a:pPr>
            <a:r>
              <a:rPr sz="1275" b="0" dirty="0">
                <a:solidFill>
                  <a:srgbClr val="53646B"/>
                </a:solidFill>
                <a:latin typeface="DejaVu Sans"/>
                <a:ea typeface="DejaVu Sans"/>
                <a:cs typeface="DejaVu Sans"/>
              </a:rPr>
              <a:t>1</a:t>
            </a:r>
            <a:r>
              <a:rPr lang="es-MX" sz="1275" b="0" dirty="0">
                <a:solidFill>
                  <a:srgbClr val="53646B"/>
                </a:solidFill>
                <a:latin typeface="DejaVu Sans"/>
                <a:ea typeface="DejaVu Sans"/>
                <a:cs typeface="DejaVu Sans"/>
              </a:rPr>
              <a:t>8</a:t>
            </a:r>
            <a:r>
              <a:rPr sz="1275" b="0" dirty="0">
                <a:solidFill>
                  <a:srgbClr val="53646B"/>
                </a:solidFill>
                <a:latin typeface="DejaVu Sans"/>
                <a:ea typeface="DejaVu Sans"/>
                <a:cs typeface="DejaVu Sans"/>
              </a:rPr>
              <a:t> / 18</a:t>
            </a:r>
          </a:p>
        </p:txBody>
      </p:sp>
    </p:spTree>
    <p:extLst>
      <p:ext uri="{BB962C8B-B14F-4D97-AF65-F5344CB8AC3E}">
        <p14:creationId xmlns:p14="http://schemas.microsoft.com/office/powerpoint/2010/main" val="24172446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842</TotalTime>
  <Words>2202</Words>
  <Application>Microsoft Office PowerPoint</Application>
  <DocSecurity>0</DocSecurity>
  <PresentationFormat>Widescreen</PresentationFormat>
  <Paragraphs>174</Paragraphs>
  <Slides>18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Arial Black</vt:lpstr>
      <vt:lpstr>Calibri</vt:lpstr>
      <vt:lpstr>Cambria Math</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Carlos Gustavo Ruiz García de la Cadena</cp:lastModifiedBy>
  <cp:revision>2</cp:revision>
  <dcterms:created xsi:type="dcterms:W3CDTF">2026-09-19T18:05:59Z</dcterms:created>
  <dcterms:modified xsi:type="dcterms:W3CDTF">2026-09-23T18:31:28Z</dcterms:modified>
</cp:coreProperties>
</file>